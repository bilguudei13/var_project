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2" d="100"/>
          <a:sy n="122" d="100"/>
        </p:scale>
        <p:origin x="78" y="1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201168"/>
            <a:ext cx="8503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 i="0">
                <a:solidFill>
                  <a:srgbClr val="888888"/>
                </a:solidFill>
                <a:latin typeface="Aptos"/>
              </a:rPr>
              <a:t>MARKET RISK MODELLING  ·  FRANKFURT SCHOOL OF FINANCE &amp; MANAGEMENT  ·  SUMMER TERM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1" i="0">
                <a:solidFill>
                  <a:srgbClr val="2D2D2D"/>
                </a:solidFill>
                <a:latin typeface="Aptos"/>
              </a:rPr>
              <a:t>VaR Calculation
&amp;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52928"/>
            <a:ext cx="82296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888888"/>
                </a:solidFill>
                <a:latin typeface="Aptos"/>
              </a:rPr>
              <a:t>Delta-Normal  ·  Historical Simulation  ·  Monte Carlo  ·  GARCH  ·  EVT  ·  GARCH+EVT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3355848"/>
            <a:ext cx="25603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8229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Aptos"/>
              </a:rPr>
              <a:t>Dr. Sebastian Irle  ·  Group Project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8321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D2D2D"/>
                </a:solidFill>
                <a:latin typeface="Aptos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645152"/>
            <a:ext cx="82296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38160" y="47365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Aptos"/>
              </a:rPr>
              <a:t>2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96696"/>
            <a:ext cx="329184" cy="29260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96696"/>
            <a:ext cx="3291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98755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D3D3D"/>
                </a:solidFill>
                <a:latin typeface="Aptos"/>
              </a:rPr>
              <a:t>Portfolio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329184" cy="29260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17320"/>
            <a:ext cx="3291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408176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D3D3D"/>
                </a:solidFill>
                <a:latin typeface="Aptos"/>
              </a:rPr>
              <a:t>Methodology Overview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37944"/>
            <a:ext cx="329184" cy="29260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837944"/>
            <a:ext cx="3291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1828800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D3D3D"/>
                </a:solidFill>
                <a:latin typeface="Aptos"/>
              </a:rPr>
              <a:t>Delta-Normal VaR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58568"/>
            <a:ext cx="329184" cy="29260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258568"/>
            <a:ext cx="3291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249424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D3D3D"/>
                </a:solidFill>
                <a:latin typeface="Aptos"/>
              </a:rPr>
              <a:t>Historical Simulation VaR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79192"/>
            <a:ext cx="329184" cy="29260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679192"/>
            <a:ext cx="3291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2670048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D3D3D"/>
                </a:solidFill>
                <a:latin typeface="Aptos"/>
              </a:rPr>
              <a:t>Monte Carlo VaR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99816"/>
            <a:ext cx="329184" cy="29260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099816"/>
            <a:ext cx="3291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09067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D3D3D"/>
                </a:solidFill>
                <a:latin typeface="Aptos"/>
              </a:rPr>
              <a:t>GARCH-based VaR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996696"/>
            <a:ext cx="329184" cy="29260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996696"/>
            <a:ext cx="3291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8" y="987552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D3D3D"/>
                </a:solidFill>
                <a:latin typeface="Aptos"/>
              </a:rPr>
              <a:t>EVT / GARCH+EVT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1417320"/>
            <a:ext cx="329184" cy="29260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9160" y="1417320"/>
            <a:ext cx="3291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93208" y="1408176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D3D3D"/>
                </a:solidFill>
                <a:latin typeface="Aptos"/>
              </a:rPr>
              <a:t>Assumption Validation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1837944"/>
            <a:ext cx="329184" cy="29260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60" y="1837944"/>
            <a:ext cx="3291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93208" y="1828800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D3D3D"/>
                </a:solidFill>
                <a:latin typeface="Aptos"/>
              </a:rPr>
              <a:t>Backtesting &amp; Validation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2258568"/>
            <a:ext cx="329184" cy="29260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09160" y="2258568"/>
            <a:ext cx="3291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3208" y="2249424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D3D3D"/>
                </a:solidFill>
                <a:latin typeface="Aptos"/>
              </a:rPr>
              <a:t>Comparative Results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09160" y="2679192"/>
            <a:ext cx="329184" cy="29260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09160" y="2679192"/>
            <a:ext cx="329184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3208" y="2670048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3D3D3D"/>
                </a:solidFill>
                <a:latin typeface="Aptos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8321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D2D2D"/>
                </a:solidFill>
                <a:latin typeface="Aptos"/>
              </a:rPr>
              <a:t>Portfolio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645152"/>
            <a:ext cx="82296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38160" y="47365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Aptos"/>
              </a:rPr>
              <a:t>3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7992" y="868680"/>
            <a:ext cx="10972" cy="36393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Aptos"/>
              </a:rPr>
              <a:t>Positions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3886200" cy="2743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" y="1271016"/>
            <a:ext cx="6217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Ticker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271016"/>
            <a:ext cx="148132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1271016"/>
            <a:ext cx="8503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1271016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ptos"/>
              </a:rPr>
              <a:t>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08760"/>
            <a:ext cx="388620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" y="1572768"/>
            <a:ext cx="621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D3D3D"/>
                </a:solidFill>
                <a:latin typeface="Aptos"/>
              </a:rPr>
              <a:t>SPY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1572768"/>
            <a:ext cx="1481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D3D3D"/>
                </a:solidFill>
                <a:latin typeface="Aptos"/>
              </a:rPr>
              <a:t>S&amp;P 500 ETF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1572768"/>
            <a:ext cx="8503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D3D3D"/>
                </a:solidFill>
                <a:latin typeface="Aptos"/>
              </a:rPr>
              <a:t>Equity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5304" y="1572768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D3D3D"/>
                </a:solidFill>
                <a:latin typeface="Aptos"/>
              </a:rPr>
              <a:t>Linear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56232"/>
            <a:ext cx="3886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2064" y="1920240"/>
            <a:ext cx="621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D3D3D"/>
                </a:solidFill>
                <a:latin typeface="Aptos"/>
              </a:rPr>
              <a:t>IEF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1920240"/>
            <a:ext cx="1481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D3D3D"/>
                </a:solidFill>
                <a:latin typeface="Aptos"/>
              </a:rPr>
              <a:t>7–10Y US Treasury ETF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8336" y="1920240"/>
            <a:ext cx="8503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D3D3D"/>
                </a:solidFill>
                <a:latin typeface="Aptos"/>
              </a:rPr>
              <a:t>Fixed Inc.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5304" y="1920240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D3D3D"/>
                </a:solidFill>
                <a:latin typeface="Aptos"/>
              </a:rPr>
              <a:t>Linear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203704"/>
            <a:ext cx="388620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2064" y="2267712"/>
            <a:ext cx="621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D3D3D"/>
                </a:solidFill>
                <a:latin typeface="Aptos"/>
              </a:rPr>
              <a:t>GLD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2267712"/>
            <a:ext cx="1481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D3D3D"/>
                </a:solidFill>
                <a:latin typeface="Aptos"/>
              </a:rPr>
              <a:t>Gold ETF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88336" y="2267712"/>
            <a:ext cx="8503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D3D3D"/>
                </a:solidFill>
                <a:latin typeface="Aptos"/>
              </a:rPr>
              <a:t>Commodity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5304" y="2267712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D3D3D"/>
                </a:solidFill>
                <a:latin typeface="Aptos"/>
              </a:rPr>
              <a:t>Linear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551176"/>
            <a:ext cx="3886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" y="2615184"/>
            <a:ext cx="621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D3D3D"/>
                </a:solidFill>
                <a:latin typeface="Aptos"/>
              </a:rPr>
              <a:t>EURUSD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2615184"/>
            <a:ext cx="1481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D3D3D"/>
                </a:solidFill>
                <a:latin typeface="Aptos"/>
              </a:rPr>
              <a:t>EUR/USD Spot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88336" y="2615184"/>
            <a:ext cx="8503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D3D3D"/>
                </a:solidFill>
                <a:latin typeface="Aptos"/>
              </a:rPr>
              <a:t>FX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75304" y="2615184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3D3D3D"/>
                </a:solidFill>
                <a:latin typeface="Aptos"/>
              </a:rPr>
              <a:t>Linear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898648"/>
            <a:ext cx="3886200" cy="32918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2064" y="2962656"/>
            <a:ext cx="621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Aptos"/>
              </a:rPr>
              <a:t>IRS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2962656"/>
            <a:ext cx="1481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Aptos"/>
              </a:rPr>
              <a:t>Interest Rate Swap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88336" y="2962656"/>
            <a:ext cx="8503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Aptos"/>
              </a:rPr>
              <a:t>Rates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75304" y="2962656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Aptos"/>
              </a:rPr>
              <a:t>Non-linear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246120"/>
            <a:ext cx="3886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2064" y="3310127"/>
            <a:ext cx="6217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Aptos"/>
              </a:rPr>
              <a:t>Straddle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" y="3310127"/>
            <a:ext cx="148132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Aptos"/>
              </a:rPr>
              <a:t>ATM Straddle on SPY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88336" y="3310127"/>
            <a:ext cx="8503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Aptos"/>
              </a:rPr>
              <a:t>Eq. Vol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75304" y="3310127"/>
            <a:ext cx="914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D2D2D"/>
                </a:solidFill>
                <a:latin typeface="Aptos"/>
              </a:rPr>
              <a:t>Non-linear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9144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Aptos"/>
              </a:rPr>
              <a:t>Sample &amp;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63440" y="1234440"/>
            <a:ext cx="54864" cy="31089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91456" y="1234440"/>
            <a:ext cx="1417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Period: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36208" y="1234440"/>
            <a:ext cx="25786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3D3D3D"/>
                </a:solidFill>
                <a:latin typeface="Aptos"/>
              </a:rPr>
              <a:t>January 2006 – December 2024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1673352"/>
            <a:ext cx="54864" cy="31089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91456" y="1673352"/>
            <a:ext cx="1417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Horizon: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1673352"/>
            <a:ext cx="25786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3D3D3D"/>
                </a:solidFill>
                <a:latin typeface="Aptos"/>
              </a:rPr>
              <a:t>1-day, 99% confidence level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0" y="2112264"/>
            <a:ext cx="54864" cy="31089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791456" y="2112264"/>
            <a:ext cx="1417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Risk Factors: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8" y="2112264"/>
            <a:ext cx="25786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3D3D3D"/>
                </a:solidFill>
                <a:latin typeface="Aptos"/>
              </a:rPr>
              <a:t>Asset prices, DGS10 (FRED), VIX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63440" y="2551176"/>
            <a:ext cx="54864" cy="31089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91456" y="2551176"/>
            <a:ext cx="1417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Pricing: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36208" y="2551176"/>
            <a:ext cx="25786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3D3D3D"/>
                </a:solidFill>
                <a:latin typeface="Aptos"/>
              </a:rPr>
              <a:t>Full repricing — IRS (DV01), Straddle (B-S)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663440" y="2990088"/>
            <a:ext cx="54864" cy="31089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791456" y="2990088"/>
            <a:ext cx="1417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Data: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36208" y="2990088"/>
            <a:ext cx="25786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3D3D3D"/>
                </a:solidFill>
                <a:latin typeface="Aptos"/>
              </a:rPr>
              <a:t>Yahoo Finance + FRED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63440" y="3429000"/>
            <a:ext cx="54864" cy="310896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91456" y="3429000"/>
            <a:ext cx="1417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Est. Window: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36208" y="3429000"/>
            <a:ext cx="257860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3D3D3D"/>
                </a:solidFill>
                <a:latin typeface="Aptos"/>
              </a:rPr>
              <a:t>250-day rolling, re-estimated daily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40" y="3977639"/>
            <a:ext cx="4114800" cy="56692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754880" y="4023360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1">
                <a:solidFill>
                  <a:srgbClr val="888888"/>
                </a:solidFill>
                <a:latin typeface="Aptos"/>
              </a:rPr>
              <a:t>The portfolio mixes linear and non-linear instruments to stress-test each VaR method — especially Delta-Normal's delta approximation.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8321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D2D2D"/>
                </a:solidFill>
                <a:latin typeface="Aptos"/>
              </a:rPr>
              <a:t>Methodology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645152"/>
            <a:ext cx="82296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38160" y="47365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Aptos"/>
              </a:rPr>
              <a:t>4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316736" cy="228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316736" cy="7315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53312"/>
            <a:ext cx="11338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Aptos"/>
              </a:rPr>
              <a:t>Delta-
Normal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29967"/>
            <a:ext cx="1133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Aptos"/>
              </a:rPr>
              <a:t>Analytical
Normality assumed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83664" y="914400"/>
            <a:ext cx="1316736" cy="228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83664" y="914400"/>
            <a:ext cx="1316736" cy="7315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104" y="105156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1353312"/>
            <a:ext cx="11338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Aptos"/>
              </a:rPr>
              <a:t>Historical
Sim.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104" y="2029967"/>
            <a:ext cx="1133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Aptos"/>
              </a:rPr>
              <a:t>Non-parametric
Empirical PnL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914400"/>
            <a:ext cx="1316736" cy="228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10128" y="914400"/>
            <a:ext cx="1316736" cy="7315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01568" y="105156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1353312"/>
            <a:ext cx="11338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Aptos"/>
              </a:rPr>
              <a:t>Monte
Carlo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029967"/>
            <a:ext cx="1133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Aptos"/>
              </a:rPr>
              <a:t>Simulation
Normal + t-copula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36592" y="914400"/>
            <a:ext cx="1316736" cy="228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36592" y="914400"/>
            <a:ext cx="1316736" cy="7315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8031" y="105156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1" y="1353312"/>
            <a:ext cx="11338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Aptos"/>
              </a:rPr>
              <a:t>GARCH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1" y="2029967"/>
            <a:ext cx="1133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Aptos"/>
              </a:rPr>
              <a:t>Vol clustering
Student-t innov.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914400"/>
            <a:ext cx="1316736" cy="228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63056" y="914400"/>
            <a:ext cx="1316736" cy="7315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54496" y="105156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1353312"/>
            <a:ext cx="11338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Aptos"/>
              </a:rPr>
              <a:t>EVT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2029967"/>
            <a:ext cx="1133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Aptos"/>
              </a:rPr>
              <a:t>Tail modelling
GPD / POT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914400"/>
            <a:ext cx="1316736" cy="2286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89520" y="914400"/>
            <a:ext cx="1316736" cy="7315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0" y="1051560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D2D2D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1353312"/>
            <a:ext cx="1133856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2D2D2D"/>
                </a:solidFill>
                <a:latin typeface="Aptos"/>
              </a:rPr>
              <a:t>GARCH
+EVT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2029967"/>
            <a:ext cx="1133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  <a:latin typeface="Aptos"/>
              </a:rPr>
              <a:t>Combined
Dynamic tail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1">
                <a:solidFill>
                  <a:srgbClr val="888888"/>
                </a:solidFill>
                <a:latin typeface="Aptos"/>
              </a:rPr>
              <a:t>All six methods are applied to the same portfolio (2006–2024). Assumption validation and Kupiec / Christoffersen backtesting applied to each.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40480"/>
            <a:ext cx="8229600" cy="65836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3840480"/>
            <a:ext cx="8229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i="1">
                <a:solidFill>
                  <a:srgbClr val="999999"/>
                </a:solidFill>
                <a:latin typeface="Aptos"/>
              </a:rPr>
              <a:t>[ Figure: VaR time-series overview — all six methods — to be added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8321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D2D2D"/>
                </a:solidFill>
                <a:latin typeface="Aptos"/>
              </a:rPr>
              <a:t>Delta-Normal VaR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424927" y="182880"/>
            <a:ext cx="150876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24927" y="18288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METHOD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45152"/>
            <a:ext cx="82296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47365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Aptos"/>
              </a:rPr>
              <a:t>5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7992" y="868680"/>
            <a:ext cx="10972" cy="36393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Theory &amp; Assumptions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38862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3886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Risk factor returns assumed jointly normal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Covariance matrix Σ estimated on 250-day rolling window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Non-linear positions linearised via delta — gamma ignored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Straddle: delta ≈ 0 at ATM → VaR ≈ 0; underestimates badly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44952"/>
            <a:ext cx="3886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888888"/>
                </a:solidFill>
                <a:latin typeface="Aptos"/>
              </a:rPr>
              <a:t>Key Formula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00984"/>
            <a:ext cx="3886200" cy="804672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552" y="3364992"/>
            <a:ext cx="3381494" cy="4297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4160520"/>
            <a:ext cx="3886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Aptos"/>
              </a:rPr>
              <a:t>Ref: Irle Lecture Notes, Eq. (3.1)–(3.8), pp. 12–18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914400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07008"/>
            <a:ext cx="416052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440" y="1261872"/>
            <a:ext cx="4160520" cy="327355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1261872"/>
            <a:ext cx="4160520" cy="3273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i="1">
                <a:solidFill>
                  <a:srgbClr val="999999"/>
                </a:solidFill>
                <a:latin typeface="Aptos"/>
              </a:rPr>
              <a:t>[ Figure: Delta-Normal VaR with P&amp;L exceptions overlay (2006–2024)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8321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D2D2D"/>
                </a:solidFill>
                <a:latin typeface="Aptos"/>
              </a:rPr>
              <a:t>Historical Simulation VaR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424927" y="182880"/>
            <a:ext cx="150876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24927" y="18288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METHOD 02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45152"/>
            <a:ext cx="82296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47365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Aptos"/>
              </a:rPr>
              <a:t>6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7992" y="868680"/>
            <a:ext cx="10972" cy="36393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Theory &amp; Assumptions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38862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3886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Non-parametric: no distributional assumption required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Full repricing every scenario: IRS via DV01, Straddle via Black-Scholes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Captures fat tails and asymmetry naturally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Ghost effect: extreme events persist exactly T = 250 days in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44952"/>
            <a:ext cx="3886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888888"/>
                </a:solidFill>
                <a:latin typeface="Aptos"/>
              </a:rPr>
              <a:t>Key Formula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00984"/>
            <a:ext cx="3886200" cy="804672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120" y="3364992"/>
            <a:ext cx="2872358" cy="51549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4160520"/>
            <a:ext cx="3886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Aptos"/>
              </a:rPr>
              <a:t>Ref: Irle Lecture Notes, Eq. (4.1)–(4.5), pp. 22–26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914400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07008"/>
            <a:ext cx="416052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440" y="1261872"/>
            <a:ext cx="4160520" cy="327355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1261872"/>
            <a:ext cx="4160520" cy="3273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i="1">
                <a:solidFill>
                  <a:srgbClr val="999999"/>
                </a:solidFill>
                <a:latin typeface="Aptos"/>
              </a:rPr>
              <a:t>[ Figure: HistSim VaR with exceptions overlay — to be added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8321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D2D2D"/>
                </a:solidFill>
                <a:latin typeface="Aptos"/>
              </a:rPr>
              <a:t>Monte Carlo VaR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424927" y="182880"/>
            <a:ext cx="150876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24927" y="18288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METHOD 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45152"/>
            <a:ext cx="82296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47365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Aptos"/>
              </a:rPr>
              <a:t>7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7992" y="868680"/>
            <a:ext cx="10972" cy="36393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Theory &amp; Assumptions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38862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3886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Simulate N = 10,000 risk-factor return scenarios per day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Normal variant: Cholesky decomposition of Σ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t-copula: marginal Student-t + Gaussian/t dependence structure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Full repricing applied to each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44952"/>
            <a:ext cx="3886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888888"/>
                </a:solidFill>
                <a:latin typeface="Aptos"/>
              </a:rPr>
              <a:t>Key Formula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00984"/>
            <a:ext cx="3886200" cy="804672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73" y="3364992"/>
            <a:ext cx="3328253" cy="4480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4160520"/>
            <a:ext cx="3886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Aptos"/>
              </a:rPr>
              <a:t>Ref: Irle Lecture Notes, Eq. (5.1)–(5.9), pp. 30–37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914400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07008"/>
            <a:ext cx="416052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440" y="1261872"/>
            <a:ext cx="4160520" cy="327355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1261872"/>
            <a:ext cx="4160520" cy="3273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i="1">
                <a:solidFill>
                  <a:srgbClr val="999999"/>
                </a:solidFill>
                <a:latin typeface="Aptos"/>
              </a:rPr>
              <a:t>[ Figure: MC VaR (normal &amp; t-copula) with exceptions — to be added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8321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D2D2D"/>
                </a:solidFill>
                <a:latin typeface="Aptos"/>
              </a:rPr>
              <a:t>GARCH-based VaR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424927" y="182880"/>
            <a:ext cx="150876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24927" y="18288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METHOD 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45152"/>
            <a:ext cx="82296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47365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Aptos"/>
              </a:rPr>
              <a:t>8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7992" y="868680"/>
            <a:ext cx="10972" cy="36393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Theory &amp; Assumptions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38862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3886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Captures volatility clustering confirmed by Engle ARCH test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Student-t innovations with estimated degrees of freedom ν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Estimated via rugarch (R) with ugarchroll, 250-day window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VaR adapts dynamically to current volatility regime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44952"/>
            <a:ext cx="3886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888888"/>
                </a:solidFill>
                <a:latin typeface="Aptos"/>
              </a:rPr>
              <a:t>Key Formula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00984"/>
            <a:ext cx="3886200" cy="804672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99" y="3364992"/>
            <a:ext cx="3237801" cy="4297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4160520"/>
            <a:ext cx="3886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Aptos"/>
              </a:rPr>
              <a:t>Ref: Irle Lecture Notes, Eq. (6.1)–(6.11), pp. 40–48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914400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07008"/>
            <a:ext cx="416052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440" y="1261872"/>
            <a:ext cx="4160520" cy="327355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1261872"/>
            <a:ext cx="4160520" cy="3273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i="1">
                <a:solidFill>
                  <a:srgbClr val="999999"/>
                </a:solidFill>
                <a:latin typeface="Aptos"/>
              </a:rPr>
              <a:t>[ Figure: GARCH VaR with conditional σ_t time-series — to be added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8321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D2D2D"/>
                </a:solidFill>
                <a:latin typeface="Aptos"/>
              </a:rPr>
              <a:t>EVT / GARCH+EVT VaR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424927" y="182880"/>
            <a:ext cx="1508760" cy="256032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24927" y="182880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METHOD 05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645152"/>
            <a:ext cx="82296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138160" y="47365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Aptos"/>
              </a:rPr>
              <a:t>9 /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07992" y="868680"/>
            <a:ext cx="10972" cy="36393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914400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Theory &amp; Assumptions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07008"/>
            <a:ext cx="38862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38862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Peaks-over-Threshold (POT): exceedances above threshold u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Threshold u selected via mean-excess plot &amp; Hill estimator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GARCH+EVT: fit GPD to GARCH standardised residuals</a:t>
            </a:r>
          </a:p>
          <a:p>
            <a:pPr>
              <a:spcAft>
                <a:spcPts val="7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R packages: rugarch + POT / ismev; most theoretically rigorous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44952"/>
            <a:ext cx="3886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888888"/>
                </a:solidFill>
                <a:latin typeface="Aptos"/>
              </a:rPr>
              <a:t>Key Formula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00984"/>
            <a:ext cx="3886200" cy="804672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95" y="3364992"/>
            <a:ext cx="3105008" cy="71151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7200" y="4160520"/>
            <a:ext cx="3886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1">
                <a:solidFill>
                  <a:srgbClr val="888888"/>
                </a:solidFill>
                <a:latin typeface="Aptos"/>
              </a:rPr>
              <a:t>Ref: Irle Lecture Notes, Eq. (7.1)–(7.8), pp. 52–60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914400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Results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207008"/>
            <a:ext cx="416052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663440" y="1261872"/>
            <a:ext cx="4160520" cy="327355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63440" y="1261872"/>
            <a:ext cx="4160520" cy="3273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i="1">
                <a:solidFill>
                  <a:srgbClr val="999999"/>
                </a:solidFill>
                <a:latin typeface="Aptos"/>
              </a:rPr>
              <a:t>[ Figure: EVT &amp; GARCH+EVT VaR with GPD tail fit — to be added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8321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D2D2D"/>
                </a:solidFill>
                <a:latin typeface="Aptos"/>
              </a:rPr>
              <a:t>Assumption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645152"/>
            <a:ext cx="82296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38160" y="47365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Aptos"/>
              </a:rPr>
              <a:t>10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  <a:latin typeface="Aptos"/>
              </a:rPr>
              <a:t>All H₀ rejected across assets — confirming fat tails and volatility clustering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70432"/>
            <a:ext cx="2670048" cy="15544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2670048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i="1">
                <a:solidFill>
                  <a:srgbClr val="999999"/>
                </a:solidFill>
                <a:latin typeface="Aptos"/>
              </a:rPr>
              <a:t>[ QQ plots — SPY, IEF, GLD, EURUSD ]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70432"/>
            <a:ext cx="2670048" cy="15544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1170432"/>
            <a:ext cx="2670048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i="1">
                <a:solidFill>
                  <a:srgbClr val="999999"/>
                </a:solidFill>
                <a:latin typeface="Aptos"/>
              </a:rPr>
              <a:t>[ ACF of squared returns — all assets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170432"/>
            <a:ext cx="2670048" cy="155448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1170432"/>
            <a:ext cx="2670048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i="1">
                <a:solidFill>
                  <a:srgbClr val="999999"/>
                </a:solidFill>
                <a:latin typeface="Aptos"/>
              </a:rPr>
              <a:t>[ Engle ARCH test p-values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Diagnostic Test Summary (p-values)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36392"/>
            <a:ext cx="8229600" cy="292608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2064" y="3182112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ptos"/>
              </a:rP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3182112"/>
            <a:ext cx="13441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SPY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1" y="3182112"/>
            <a:ext cx="13441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182112"/>
            <a:ext cx="13441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GLD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7" y="3182112"/>
            <a:ext cx="13441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Aptos"/>
              </a:rPr>
              <a:t>EURUSD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429000"/>
            <a:ext cx="8229600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" y="3483864"/>
            <a:ext cx="2423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  <a:latin typeface="Aptos"/>
              </a:rPr>
              <a:t>Jarque-Bera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80944" y="3483864"/>
            <a:ext cx="1344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D3D3D"/>
                </a:solidFill>
                <a:latin typeface="Aptos"/>
              </a:rPr>
              <a:t>&lt; 0.001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0831" y="3483864"/>
            <a:ext cx="1344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D3D3D"/>
                </a:solidFill>
                <a:latin typeface="Aptos"/>
              </a:rPr>
              <a:t>&lt; 0.001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483864"/>
            <a:ext cx="1344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D3D3D"/>
                </a:solidFill>
                <a:latin typeface="Aptos"/>
              </a:rPr>
              <a:t>&lt; 0.001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7" y="3483864"/>
            <a:ext cx="1344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D3D3D"/>
                </a:solidFill>
                <a:latin typeface="Aptos"/>
              </a:rPr>
              <a:t>&lt; 0.001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58184"/>
            <a:ext cx="822960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2064" y="3813048"/>
            <a:ext cx="2423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  <a:latin typeface="Aptos"/>
              </a:rPr>
              <a:t>Ljung-Box (r)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80944" y="3813048"/>
            <a:ext cx="1344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D3D3D"/>
                </a:solidFill>
                <a:latin typeface="Aptos"/>
              </a:rPr>
              <a:t>&lt; 0.001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1" y="3813048"/>
            <a:ext cx="1344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D3D3D"/>
                </a:solidFill>
                <a:latin typeface="Aptos"/>
              </a:rPr>
              <a:t>&lt; 0.001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813048"/>
            <a:ext cx="1344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D3D3D"/>
                </a:solidFill>
                <a:latin typeface="Aptos"/>
              </a:rPr>
              <a:t>&lt; 0.001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0607" y="3813048"/>
            <a:ext cx="1344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D3D3D"/>
                </a:solidFill>
                <a:latin typeface="Aptos"/>
              </a:rPr>
              <a:t>&lt; 0.001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087368"/>
            <a:ext cx="8229600" cy="3108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2064" y="4142231"/>
            <a:ext cx="2423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  <a:latin typeface="Aptos"/>
              </a:rPr>
              <a:t>Engle 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80944" y="4142231"/>
            <a:ext cx="1344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D3D3D"/>
                </a:solidFill>
                <a:latin typeface="Aptos"/>
              </a:rPr>
              <a:t>&lt; 0.001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1" y="4142231"/>
            <a:ext cx="1344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D3D3D"/>
                </a:solidFill>
                <a:latin typeface="Aptos"/>
              </a:rPr>
              <a:t>&lt; 0.001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4142231"/>
            <a:ext cx="1344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D3D3D"/>
                </a:solidFill>
                <a:latin typeface="Aptos"/>
              </a:rPr>
              <a:t>&lt; 0.001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50607" y="4142231"/>
            <a:ext cx="134416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 i="0">
                <a:solidFill>
                  <a:srgbClr val="3D3D3D"/>
                </a:solidFill>
                <a:latin typeface="Aptos"/>
              </a:rPr>
              <a:t>&lt; 0.001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8321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D2D2D"/>
                </a:solidFill>
                <a:latin typeface="Aptos"/>
              </a:rPr>
              <a:t>Backtesting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645152"/>
            <a:ext cx="82296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38160" y="47365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Aptos"/>
              </a:rPr>
              <a:t>11 / 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07992" y="868680"/>
            <a:ext cx="10972" cy="363931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Statistical Tests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38862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38862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Kupiec POF Test — exception frequency matches α = 1%?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Christoffersen CC Test — additionally tests independence of exceptions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Dynamic Quantile (DQ) Test — regresses hit variable on lagged predictors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Traffic-light system: green / yellow / red zones (Basel III)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Expected Shortfall validation via Fissler–Ziegel joint elicitability</a:t>
            </a:r>
          </a:p>
          <a:p>
            <a:pPr>
              <a:spcAft>
                <a:spcPts val="800"/>
              </a:spcAft>
            </a:pPr>
            <a:r>
              <a:rPr sz="1150">
                <a:solidFill>
                  <a:srgbClr val="3D3D3D"/>
                </a:solidFill>
                <a:latin typeface="Aptos"/>
              </a:rPr>
              <a:t>–  Delta-Normal reference: ~100 exceptions vs. ~44 expected (fat tails confirmed)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914400"/>
            <a:ext cx="4160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Exception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207008"/>
            <a:ext cx="416052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63440" y="1261872"/>
            <a:ext cx="4160520" cy="144475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261872"/>
            <a:ext cx="4160520" cy="1444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i="1">
                <a:solidFill>
                  <a:srgbClr val="999999"/>
                </a:solidFill>
                <a:latin typeface="Aptos"/>
              </a:rPr>
              <a:t>[ Table: Exception counts &amp; Kupiec / CC test results per method — to be added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816352"/>
            <a:ext cx="4160520" cy="17190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0" y="2816352"/>
            <a:ext cx="4160520" cy="1719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i="1">
                <a:solidFill>
                  <a:srgbClr val="999999"/>
                </a:solidFill>
                <a:latin typeface="Aptos"/>
              </a:rPr>
              <a:t>[ Figure: Exception overlay chart — all methods (2006–2024) — to be added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8321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D2D2D"/>
                </a:solidFill>
                <a:latin typeface="Aptos"/>
              </a:rPr>
              <a:t>Comparative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645152"/>
            <a:ext cx="82296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38160" y="47365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Aptos"/>
              </a:rPr>
              <a:t>12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2D2D2D"/>
                </a:solidFill>
                <a:latin typeface="Aptos"/>
              </a:rPr>
              <a:t>VaR Time-Series — All Six Methods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82296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8229600" cy="18288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8229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i="1">
                <a:solidFill>
                  <a:srgbClr val="999999"/>
                </a:solidFill>
                <a:latin typeface="Aptos"/>
              </a:rPr>
              <a:t>[ Figure: VaR overlay — Delta-Normal, HistSim, MC, GARCH, EVT, GARCH+EVT (2006–2024) — to be added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39776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  <a:latin typeface="Aptos"/>
              </a:rPr>
              <a:t>2008–2009 Financial Crisis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200400"/>
            <a:ext cx="3977639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2D2D2D"/>
                </a:solidFill>
                <a:latin typeface="Aptos"/>
              </a:rPr>
              <a:t>2020 COVID Crash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56432"/>
            <a:ext cx="3977639" cy="107899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456432"/>
            <a:ext cx="3977639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i="1">
                <a:solidFill>
                  <a:srgbClr val="999999"/>
                </a:solidFill>
                <a:latin typeface="Aptos"/>
              </a:rPr>
              <a:t>[ Figure: GFC zoom-in — to be added 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3456432"/>
            <a:ext cx="3977639" cy="107899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3456432"/>
            <a:ext cx="3977639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i="1">
                <a:solidFill>
                  <a:srgbClr val="999999"/>
                </a:solidFill>
                <a:latin typeface="Aptos"/>
              </a:rPr>
              <a:t>[ Figure: COVID crash zoom-in — to be added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8321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2D2D2D"/>
                </a:solidFill>
                <a:latin typeface="Aptos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4645152"/>
            <a:ext cx="8229600" cy="109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138160" y="4736592"/>
            <a:ext cx="640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  <a:latin typeface="Aptos"/>
              </a:rPr>
              <a:t>13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82296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700"/>
              </a:spcAft>
            </a:pPr>
            <a:r>
              <a:rPr sz="1250">
                <a:solidFill>
                  <a:srgbClr val="3D3D3D"/>
                </a:solidFill>
                <a:latin typeface="Aptos"/>
              </a:rPr>
              <a:t>–  Delta-Normal underestimates tail risk: ~100 exceptions vs. ~44 expected — fat tails and skewness confirmed in portfolio PnL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3D3D3D"/>
                </a:solidFill>
                <a:latin typeface="Aptos"/>
              </a:rPr>
              <a:t>–  Historical Simulation captures fat tails naturally but suffers from the ‘ghost effect’ and slow adaptation to new volatility regimes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3D3D3D"/>
                </a:solidFill>
                <a:latin typeface="Aptos"/>
              </a:rPr>
              <a:t>–  Monte Carlo with t-copula provides flexible tail dependency; normal variant still underestimates during crisis periods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3D3D3D"/>
                </a:solidFill>
                <a:latin typeface="Aptos"/>
              </a:rPr>
              <a:t>–  GARCH(1,1) with Student-t innovations correctly adapts to volatility clustering — strong improvement over static covariance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3D3D3D"/>
                </a:solidFill>
                <a:latin typeface="Aptos"/>
              </a:rPr>
              <a:t>–  EVT / GARCH+EVT delivers the most rigorous tail modelling; best Kupiec &amp; Christoffersen test outcomes expected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3D3D3D"/>
                </a:solidFill>
                <a:latin typeface="Aptos"/>
              </a:rPr>
              <a:t>–  Non-linear instruments (IRS, Straddle) expose the failure of the delta approximation — full repricing essential for accurate VaR</a:t>
            </a:r>
          </a:p>
          <a:p>
            <a:pPr>
              <a:spcAft>
                <a:spcPts val="700"/>
              </a:spcAft>
            </a:pPr>
            <a:r>
              <a:rPr sz="1250">
                <a:solidFill>
                  <a:srgbClr val="3D3D3D"/>
                </a:solidFill>
                <a:latin typeface="Aptos"/>
              </a:rPr>
              <a:t>–  Method choice materially affects VaR estimates during stress periods (2008–09 GFC, 2020 COVID crash)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888888"/>
                </a:solidFill>
                <a:latin typeface="Aptos"/>
              </a:rPr>
              <a:t>Market Risk Modelling  ·  Frankfurt School of Finance &amp; Management  ·  Dr. Sebastian Irle  · 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1174</Words>
  <Application>Microsoft Office PowerPoint</Application>
  <PresentationFormat>On-screen Show (16:9)</PresentationFormat>
  <Paragraphs>212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Keanu Bernard Stanislaw Kilka</cp:lastModifiedBy>
  <cp:revision>1</cp:revision>
  <dcterms:created xsi:type="dcterms:W3CDTF">2013-01-27T09:14:16Z</dcterms:created>
  <dcterms:modified xsi:type="dcterms:W3CDTF">2026-05-05T16:28:07Z</dcterms:modified>
  <cp:category/>
</cp:coreProperties>
</file>