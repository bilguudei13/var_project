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omments/modernComment_2AA_2F59D6B2.xml" ContentType="application/vnd.ms-powerpoint.comments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8" r:id="rId4"/>
  </p:sldMasterIdLst>
  <p:notesMasterIdLst>
    <p:notesMasterId r:id="rId59"/>
  </p:notesMasterIdLst>
  <p:sldIdLst>
    <p:sldId id="444" r:id="rId5"/>
    <p:sldId id="647" r:id="rId6"/>
    <p:sldId id="699" r:id="rId7"/>
    <p:sldId id="698" r:id="rId8"/>
    <p:sldId id="700" r:id="rId9"/>
    <p:sldId id="701" r:id="rId10"/>
    <p:sldId id="704" r:id="rId11"/>
    <p:sldId id="705" r:id="rId12"/>
    <p:sldId id="706" r:id="rId13"/>
    <p:sldId id="707" r:id="rId14"/>
    <p:sldId id="702" r:id="rId15"/>
    <p:sldId id="703" r:id="rId16"/>
    <p:sldId id="651" r:id="rId17"/>
    <p:sldId id="690" r:id="rId18"/>
    <p:sldId id="648" r:id="rId19"/>
    <p:sldId id="649" r:id="rId20"/>
    <p:sldId id="652" r:id="rId21"/>
    <p:sldId id="676" r:id="rId22"/>
    <p:sldId id="654" r:id="rId23"/>
    <p:sldId id="655" r:id="rId24"/>
    <p:sldId id="686" r:id="rId25"/>
    <p:sldId id="697" r:id="rId26"/>
    <p:sldId id="684" r:id="rId27"/>
    <p:sldId id="688" r:id="rId28"/>
    <p:sldId id="659" r:id="rId29"/>
    <p:sldId id="689" r:id="rId30"/>
    <p:sldId id="685" r:id="rId31"/>
    <p:sldId id="663" r:id="rId32"/>
    <p:sldId id="662" r:id="rId33"/>
    <p:sldId id="664" r:id="rId34"/>
    <p:sldId id="638" r:id="rId35"/>
    <p:sldId id="639" r:id="rId36"/>
    <p:sldId id="665" r:id="rId37"/>
    <p:sldId id="674" r:id="rId38"/>
    <p:sldId id="691" r:id="rId39"/>
    <p:sldId id="694" r:id="rId40"/>
    <p:sldId id="692" r:id="rId41"/>
    <p:sldId id="695" r:id="rId42"/>
    <p:sldId id="693" r:id="rId43"/>
    <p:sldId id="696" r:id="rId44"/>
    <p:sldId id="675" r:id="rId45"/>
    <p:sldId id="645" r:id="rId46"/>
    <p:sldId id="646" r:id="rId47"/>
    <p:sldId id="650" r:id="rId48"/>
    <p:sldId id="642" r:id="rId49"/>
    <p:sldId id="644" r:id="rId50"/>
    <p:sldId id="678" r:id="rId51"/>
    <p:sldId id="682" r:id="rId52"/>
    <p:sldId id="680" r:id="rId53"/>
    <p:sldId id="447" r:id="rId54"/>
    <p:sldId id="627" r:id="rId55"/>
    <p:sldId id="628" r:id="rId56"/>
    <p:sldId id="666" r:id="rId57"/>
    <p:sldId id="667" r:id="rId58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0DD447FF-5D40-472F-BB3E-C43244A44DA2}">
          <p14:sldIdLst>
            <p14:sldId id="444"/>
            <p14:sldId id="647"/>
            <p14:sldId id="699"/>
            <p14:sldId id="698"/>
            <p14:sldId id="700"/>
            <p14:sldId id="701"/>
            <p14:sldId id="704"/>
            <p14:sldId id="705"/>
            <p14:sldId id="706"/>
            <p14:sldId id="707"/>
            <p14:sldId id="702"/>
            <p14:sldId id="703"/>
          </p14:sldIdLst>
        </p14:section>
        <p14:section name="backup" id="{96C0F86F-4C53-4CCA-A1C3-FD9DF6718E5E}">
          <p14:sldIdLst>
            <p14:sldId id="651"/>
            <p14:sldId id="690"/>
            <p14:sldId id="648"/>
            <p14:sldId id="649"/>
            <p14:sldId id="652"/>
            <p14:sldId id="676"/>
            <p14:sldId id="654"/>
            <p14:sldId id="655"/>
            <p14:sldId id="686"/>
            <p14:sldId id="697"/>
            <p14:sldId id="684"/>
            <p14:sldId id="688"/>
            <p14:sldId id="659"/>
            <p14:sldId id="689"/>
            <p14:sldId id="685"/>
            <p14:sldId id="663"/>
            <p14:sldId id="662"/>
            <p14:sldId id="664"/>
            <p14:sldId id="638"/>
            <p14:sldId id="639"/>
            <p14:sldId id="665"/>
            <p14:sldId id="674"/>
            <p14:sldId id="691"/>
            <p14:sldId id="694"/>
            <p14:sldId id="692"/>
            <p14:sldId id="695"/>
            <p14:sldId id="693"/>
            <p14:sldId id="696"/>
            <p14:sldId id="675"/>
            <p14:sldId id="645"/>
            <p14:sldId id="646"/>
            <p14:sldId id="650"/>
            <p14:sldId id="642"/>
            <p14:sldId id="644"/>
            <p14:sldId id="678"/>
            <p14:sldId id="682"/>
            <p14:sldId id="680"/>
            <p14:sldId id="447"/>
            <p14:sldId id="627"/>
            <p14:sldId id="628"/>
            <p14:sldId id="666"/>
            <p14:sldId id="6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5239" userDrawn="1">
          <p15:clr>
            <a:srgbClr val="A4A3A4"/>
          </p15:clr>
        </p15:guide>
        <p15:guide id="4" orient="horz" pos="2346" userDrawn="1">
          <p15:clr>
            <a:srgbClr val="A4A3A4"/>
          </p15:clr>
        </p15:guide>
        <p15:guide id="5" pos="56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28F9BB-22DB-9E98-C0F3-6C0B23B3E57A}" name="Keanu Bernard Stanislaw Kilka" initials="KK" userId="S::keanu_bernard_stanislaw.kilka@fs-students.de::5a9fda39-dc07-4871-a567-4db7909e8580" providerId="AD"/>
  <p188:author id="{499762DC-2816-0848-311C-B5E51DFD6FAC}" name="Liviu Verejan" initials="LV" userId="S::liviu.verejan@fs-students.de::1816d592-d7ed-4da1-85a4-d6398c9a586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8" clrIdx="0"/>
  <p:cmAuthor id="2" name="Reusswig, Soryna" initials="RS" lastIdx="5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46A"/>
    <a:srgbClr val="3C5C89"/>
    <a:srgbClr val="1E2760"/>
    <a:srgbClr val="323F50"/>
    <a:srgbClr val="445E8E"/>
    <a:srgbClr val="595959"/>
    <a:srgbClr val="172B50"/>
    <a:srgbClr val="3A5C89"/>
    <a:srgbClr val="44536A"/>
    <a:srgbClr val="98A2C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Helle Formatvorlage 3 - Akz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86" d="100"/>
          <a:sy n="86" d="100"/>
        </p:scale>
        <p:origin x="93" y="45"/>
      </p:cViewPr>
      <p:guideLst>
        <p:guide orient="horz" pos="1620"/>
        <p:guide pos="2880"/>
        <p:guide pos="5239"/>
        <p:guide orient="horz" pos="2346"/>
        <p:guide pos="56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commentAuthors" Target="commentAuthors.xml"/><Relationship Id="rId65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omments/modernComment_2AA_2F59D6B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CE05A22-2AB7-4C9F-9631-E0E4C3A2C856}" authorId="{1028F9BB-22DB-9E98-C0F3-6C0B23B3E57A}" created="2026-02-18T13:30:02.591">
    <pc:sldMkLst xmlns:pc="http://schemas.microsoft.com/office/powerpoint/2013/main/command">
      <pc:docMk/>
      <pc:sldMk cId="4141331247" sldId="682"/>
    </pc:sldMkLst>
    <p188:txBody>
      <a:bodyPr/>
      <a:lstStyle/>
      <a:p>
        <a:r>
          <a:rPr lang="en-GB"/>
          <a:t>Ggf. weiter nach oben ziehen? Wedge weiter aufbrechen?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1F0A2-FAB3-0C4C-BF9E-0600F8AC893B}" type="datetimeFigureOut">
              <a:rPr lang="de-DE" smtClean="0"/>
              <a:t>05.05.2026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3D9E9-F812-7843-8027-CE90304E8A3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4320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morning, everyone.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Group 10 and today we present the 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paper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“Corporate Discount Rates” by Gormsen and Huber.</a:t>
            </a:r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paper addresses a key question at the intersection of corporate finance and macroeconomics:</a:t>
            </a:r>
            <a:endParaRPr lang="de-DE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closely are corporate investment decisions linked to financial market conditions?</a:t>
            </a:r>
            <a:endParaRPr lang="de-DE" sz="1200" b="1" i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question turns out to be far more important and more controversial than it may initially seem.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1676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dive in.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begin with the motivation and explain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topic is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highly relevant today.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we position the paper in the literature, before discussing the data, the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empirical strategy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the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 results.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start with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</a:t>
            </a:r>
            <a:r>
              <a:rPr lang="en-US" sz="1200" u="non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question matters in the current economic environment.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616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5A306-9A76-8553-9464-7CE8B89D1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240FBD6-8F69-5645-F0BE-DBDE72065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F645D41-28FE-D19D-5E0C-5E1ABD6E5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Motivation.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should any of us care about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corporate discount rates?</a:t>
            </a:r>
            <a:endParaRPr lang="de-DE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E8710F9-CB48-2AF1-6048-76798984A4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3185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44B95-E56E-7EA8-BD76-2AD73B3BD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60697-1D35-A152-D619-BE1DBB2B1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1E36F-C2EF-CF1A-EF27-7F37D3B6A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85D07-B8EC-C0DD-3F36-09169C36F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189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0F262-1326-3167-DAAB-5A1E50D85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600496-3146-E07A-A7E6-9F091A23F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4431A2-F4FC-FA51-F296-F907071BB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969E3-2442-A0E8-8E21-3D4F6EF17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1538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2A173-4C88-461A-7E25-B649A61CA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AE8B354-FC49-B78E-59C6-37AC26963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2A5837B-EC81-6255-2D16-7871DDC0B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Motivation.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should any of us care about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corporate discount rates?</a:t>
            </a:r>
            <a:endParaRPr lang="de-DE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5B01DC-7749-D0AE-57A3-C4002EE827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1644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F33E7-D8A5-F8F3-99A0-CD05EC530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30743-BB85-F49B-683E-D3D54065D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006F4-A910-4960-3001-6DC727298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3F425-9F0D-5645-2010-A80BBAC72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3699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354D1-6F67-8E3F-BAB2-A8B5933F3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91B51D-5AC6-5856-F32E-5BA09C6EBB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06AD60-73E0-D50F-3347-97C16EDEA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B3963-A005-66FA-C7FD-5CD2412843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5811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BECA3-BF5C-D6D1-2ABA-B0ABA1E41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4D9FB-9D58-847A-47C7-0E63A1169E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CF9F8E-35D8-DDBF-A183-E68E60B6E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47C35-1531-409F-F3E8-243BF3251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2227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5C42A-D497-0F74-89FF-DA136966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38DD21-9D7C-8770-755F-161AB81CA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1BD24-0F92-7075-E900-51D12147C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6169C-9919-ACD4-7FA0-CDC8C67D7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1773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4F376-C287-3593-62AA-3E3842E93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720EB3B-DB73-037B-CDDE-A16DA136D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DFC9607-3D06-000B-B2D6-57873DCE9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Motivation.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should any of us care about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corporate discount rates?</a:t>
            </a:r>
            <a:endParaRPr lang="de-DE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453BC9-DA2A-591D-3E70-9F4CF885B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57084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4EE31-0055-0AC8-F47A-065ADF7CF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AB33E28-635C-360A-F2EA-47DA5F8C3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EB9F884-8829-7234-8DAC-4176CD962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Motivation.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should any of us care about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corporate discount rates?</a:t>
            </a:r>
            <a:endParaRPr lang="de-DE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421D30-74CB-6A4F-D156-A29800A8A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72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Motivation.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should any of us care about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corporate discount rates?</a:t>
            </a:r>
            <a:endParaRPr lang="de-DE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7844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5102A-257F-5414-5111-0FA97CB59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B59CC-0922-9B40-4B1F-64B47FBB0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955B6-6D0C-7CB1-D83A-1585682C5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 the last two decades,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global economy has experienced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historically low interest rates</a:t>
            </a:r>
            <a:r>
              <a:rPr lang="en-US" sz="1200" u="non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 asset valuations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From a policy perspective, this environment was expected to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stimulate corporate investment and economic growth.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aggregate investment has remained surprisingly low. Evidence is showing that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investment is 10x less responsive than theory predicts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matters for several important reasons: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fewer investment in corporate projects lead to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overall less economic growth</a:t>
            </a:r>
            <a:endParaRPr lang="de-DE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it slows innovation and technological progress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contributing to a decline in the labor share</a:t>
            </a:r>
            <a:endParaRPr lang="de-DE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this raises serious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concerns about the effectiveness of central bank monetary policy</a:t>
            </a:r>
            <a:endParaRPr lang="de-DE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Monetary policy relies on firms responding to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lower interest rates by increasing investment.</a:t>
            </a:r>
            <a:b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that response is weak, the transmission mechanism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 not operate as intended.</a:t>
            </a:r>
            <a:endParaRPr lang="de-DE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that case,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lowering interest rates may have far smaller real effects than policymakers assume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7AAC9-9C5B-483D-7C45-2251D06FF4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56489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A69F3-18CD-AA86-978B-513150A78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E9550-1284-BD3E-3D6C-65CBD7585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223BD-0596-37BF-906F-F7F89FFC9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So, what’s going wrong? </a:t>
            </a:r>
          </a:p>
          <a:p>
            <a:endParaRPr lang="en-US" sz="1200" kern="1200"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The standard assumption is that </a:t>
            </a:r>
            <a:r>
              <a:rPr lang="en-US" sz="1200" b="1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when the cost of capital falls</a:t>
            </a:r>
            <a:r>
              <a:rPr lang="en-US" sz="1200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, firms lower the bar for which projects they approve. </a:t>
            </a:r>
            <a:r>
              <a:rPr lang="en-US" sz="1200" b="1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More projects become profitable</a:t>
            </a:r>
            <a:r>
              <a:rPr lang="en-US" sz="1200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. </a:t>
            </a:r>
            <a:r>
              <a:rPr lang="en-US" sz="1200" b="1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Investment rises</a:t>
            </a:r>
            <a:r>
              <a:rPr lang="en-US" sz="1200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.</a:t>
            </a:r>
          </a:p>
          <a:p>
            <a:endParaRPr lang="de-DE" sz="1200" kern="1200"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The authors suspected something different. The internal hurdle rates, the rates </a:t>
            </a:r>
            <a:r>
              <a:rPr lang="en-US" sz="1200" b="1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managers use to decide which projects get funded are sticky.</a:t>
            </a:r>
            <a:r>
              <a:rPr lang="en-US" sz="1200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 They don’t move one to one with the cost of capital. </a:t>
            </a:r>
          </a:p>
          <a:p>
            <a:endParaRPr lang="en-US" sz="1200" kern="1200"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Evidence had already hinted at this: firms set hurdle rates </a:t>
            </a:r>
            <a:r>
              <a:rPr lang="en-US" sz="1200" u="sng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well above</a:t>
            </a:r>
            <a:r>
              <a:rPr lang="en-US" sz="1200" u="none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their weighted average cost of capital and </a:t>
            </a:r>
            <a:r>
              <a:rPr lang="en-US" sz="1200" u="sng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rarely update them</a:t>
            </a:r>
            <a:r>
              <a:rPr lang="en-US" sz="1200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kern="1200"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This leads to the paper’s central question: </a:t>
            </a:r>
            <a:r>
              <a:rPr lang="en-US" sz="1200" b="1" kern="120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why don’t firms’ internal discount rates move one-to-one with financial markets?</a:t>
            </a:r>
            <a:endParaRPr lang="de-DE" sz="1200" b="1" kern="1200"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E47B0-5B76-F43F-7145-E9429B99F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91885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9BA72-1101-17B5-C676-100AD3231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B3021-53E8-6A2F-2823-F689114CC3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A022B-8797-911B-32DB-4AD91F297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this point, the puzzle becomes even more interesting.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Financial markets clearly signal that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capital has become cheaper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Interest rates have fallen and asset prices are elevated. Yet corporate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investment has not responded accordingly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suggests that the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disconnect may not originate in financial markets but inside the firm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paper argues that two concepts are central to understanding this disconnect: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Sticky discount rates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the </a:t>
            </a:r>
            <a:r>
              <a:rPr lang="en-US" sz="1200" b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 rate wedge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We will define these precisely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later.</a:t>
            </a:r>
            <a:endParaRPr lang="de-DE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now, it is enough to understand the broader concern: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firms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not</a:t>
            </a:r>
            <a:r>
              <a:rPr lang="en-US" sz="1200" u="non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adjust their internal discount rates in line with financial market conditions, then even substantial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changes in the cost of capital may have limited real effects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that case, the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link between financial markets and corporate investment may be weaker and slower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 we assume.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BB387-B74C-4657-0C37-57CAB8F01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15420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let’s talk about where this paper sits within the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broader academic landscape.</a:t>
            </a:r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28259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9D757-9B51-276F-9D76-7C8FCF758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5E6E08-344D-5601-8D0D-11B78B26A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D081E-5787-1B4E-4492-92C89568B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paper brings together three areas of research.</a:t>
            </a:r>
          </a:p>
          <a:p>
            <a:endParaRPr lang="en-US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is the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classic cost-of-capital-and-investment</a:t>
            </a:r>
            <a:r>
              <a:rPr lang="en-US" sz="1200" u="non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literature, going back to the 1960s and the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foundational view</a:t>
            </a:r>
            <a:r>
              <a:rPr lang="en-US" sz="1200" u="non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changes in the cost of capital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 drive investment.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second area is survey-based research on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hurdle rates.</a:t>
            </a:r>
            <a:r>
              <a:rPr lang="en-US" sz="1200" u="non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Graham and Harvey’s survey found that CFOs routinely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 hurdle rates above their WACC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Krüger and co-authors documented that many firms use a single, uniform discount rate across all divisions, even when those divisions have very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risk profiles.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third area is the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“missing investment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”. In 2017 it was found that investment has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declined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relative to Tobin’s Q and profits.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argued that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intangible assets</a:t>
            </a:r>
            <a:r>
              <a:rPr lang="en-US" sz="1200" u="non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partially explain the gap.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none of these papers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 measure</a:t>
            </a:r>
            <a:r>
              <a:rPr lang="en-US" sz="1200" u="non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firms were actually using as their internal discount rates.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That’s the gap Gormsen and Huber fill.</a:t>
            </a:r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7E79D-1738-F2C0-E4B5-EA07CD320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76978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13774-A183-8D16-D03B-C4AF25AFB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A875A3-1BEF-C31D-0A12-E7D9E5028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E9A19-5D62-D9E8-E86B-C5E18BFF6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makes this work groundbreaking is its data.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the first time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authors extract corporate discount rates and perceived costs of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capital directly from what executives say in earnings conference calls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covering roughly 2,500 large firms across 20 countries from 2002 to 2021.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 this new dataset, the authors show several things that were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suspected but never measured at scale.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changes in the cost of capital are only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slowly passed through</a:t>
            </a:r>
            <a:r>
              <a:rPr lang="en-US" sz="1200" u="non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internal discount rates. Second, the gap between the two, the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called wedge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has increased over time. Finally, they show that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rising wedges</a:t>
            </a:r>
            <a:r>
              <a:rPr lang="en-US" sz="1200" u="non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help explain the missing investment puzzle. </a:t>
            </a:r>
          </a:p>
          <a:p>
            <a:endParaRPr 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Overall,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large-scale study</a:t>
            </a:r>
            <a:r>
              <a:rPr lang="en-US" sz="1200" u="non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how firms actually set their internal discount rates and the results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clearly from what standard textbooks assume.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BF1B8-132E-CB1F-A489-7F0AEF37D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5482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how </a:t>
            </a:r>
            <a:r>
              <a:rPr lang="en-GB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built their dataset</a:t>
            </a:r>
            <a:r>
              <a:rPr lang="en-GB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78429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A1087-79D8-2745-00F1-A33BBCA7A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B6B08-A28D-75CA-23B7-CA24A89D6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0F461-9451-0817-BE62-567CD2AD1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authors went with the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Thomson One database (now known as LSEG T1)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pulled every earnings conference call transcript from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2002 to 2021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around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2,500 large firms across 20 countries. </a:t>
            </a:r>
          </a:p>
          <a:p>
            <a:endParaRPr lang="en-US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searched for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keywords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related to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 rates, hurdle rates, and cost of capital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combined with percentage terms.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makes this effort extraordinary is that they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didn’t just run an algorithm</a:t>
            </a:r>
            <a:r>
              <a:rPr lang="en-US" sz="1200" u="non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read 74,000 distinct paragraphs over two and a half years.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did they do that?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context matters enormously. 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 CEO mentions “a fifteen percent target,” you need to know: is that an IRR hurdle or a divisional return target?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 a concrete example.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Intuit’s CFO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stated in 2014 that their weighted average cost of capital was about 9 to 9.5%, but their IRR hurdle was 15%.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gap between what the market says capital costs and what the firm demands as a return is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 what this paper measures.</a:t>
            </a:r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946E5-0030-CF29-282C-8BBC0624E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1229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CB316-060F-6B0A-1F34-67D35A1E3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468F47-72D7-BA56-C8E2-84877F53D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8E3814-C79A-8EB5-54C3-941725D4C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 rate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the minimum internal rate of return a firm requires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approving a project.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it is the bar a project must clear. The financial cost of capital is the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market’s view,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calculated using tools like the CAPM and government bond yields.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the perceived cost of capital is the firm’s own estimate of its WACC,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it believes it costs to raise money. </a:t>
            </a:r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wedge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simply the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 between the discount rate and the perceived cost of capital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Intuit: the difference gives you a wedge of over 5 percentage points. That’s a substantial buffer that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screens out many projects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market would consider perfectly worthwhile.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5526D-70AB-2AAE-E5E1-742C4B1AC0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37453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5F876-6BD6-3B65-5FB9-FE69ADAD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E2FD69-B017-E809-6B7F-09CF57AADE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7AED8-19ED-4952-17B8-A3A485A1A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Looking at the summary statistics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average discount rate in the sample is about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15.7 percent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while the average perceived cost of capital is about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8.4 percent.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time-series chart you can see that while the perceived cost of capital and cost of debt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trended downward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—reflecting the broader fall in interest rates—the discount rate stayed high, hovering around 15 to 20 percent,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signalizing a clear trend.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lines should be converging, but they’re not.</a:t>
            </a:r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48A9C-9432-94A0-C99A-2DA4FF596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4360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E13B8-D19D-D0E1-0E0A-E478044FE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36A3DF-2AF3-A261-748B-D6482F5B1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E3595-D14F-6765-1667-9A05DA829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Looking more closely at the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Empirical Methodology and Identification 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authors use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within-firm variation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controlling for firm fixed effects, so they’re tracking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the same firm changes its rates over time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not comparing different companies.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construct a predicted perceived cost of capital using a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Lasso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procedure with seven predictors, which helps address measurement error.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examine transmission over horizons from one year to twelve-plus years.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they adjust for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overhead costs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since some of the wedge might reflect legitimate overhead markups rather than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genuine stickiness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CA1A3-0797-75FA-83EF-D20B7C740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72288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what did all this accurate data collection reveal?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go through the key findings.</a:t>
            </a:r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34404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1C0C5-D346-8D6F-2845-F87CE187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79BA1A-247E-B38D-1BDE-D0386908A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B49F7-459F-0A03-D070-E6EB1654D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finding is crucial because it tells us what the problem is not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Firms are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ignorant of financial markets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When you regress the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perceived cost of capital</a:t>
            </a:r>
            <a:r>
              <a:rPr lang="en-US" sz="1200" u="non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financial cost of capital,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coefficients are fairly high.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Firms see that interest rates have fallen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know their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borrowing costs are lower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therefore lower their perceived cost of capital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not on a one-to-one basis.</a:t>
            </a:r>
            <a:r>
              <a:rPr lang="en-US" sz="1200" u="non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means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no information problem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that’s exactly what makes the next finding so striking.</a:t>
            </a:r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B707E-69E6-35B4-DC25-F2CBC0755E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22578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1CAA9-E30B-442A-9AE5-254C5BDE4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42E6A-247C-4C05-17B9-954A6B5F4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01044-317E-5613-EB7A-5D13E2A6C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though firms correctly perceive changes in the cost of capital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they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barely pass those changes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through to their internal discount rates. In the first one to two years, the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transmission rate is essentially zero.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three to four years, about 25 percent has passed through. After five to eight years, roughly 40 percent.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even after twelve-plus years, about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 percent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 the original change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 hasn’t been absorbed.</a:t>
            </a:r>
            <a:endParaRPr lang="de-DE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 radical departure from textbook assumptions, where transmission is supposed to be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immediate and complete. </a:t>
            </a:r>
          </a:p>
          <a:p>
            <a:endParaRPr lang="en-US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a central bank cuts rates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more than a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decade may pass before firms fully incorporate that change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 their investment decisions.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Think about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that implies for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real-world effectiveness of monetary policy ?!?</a:t>
            </a:r>
            <a:endParaRPr lang="de-DE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45110-205F-4AEA-D4F4-8B3927F91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61328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06D5E-F58D-D69E-D30C-6E7DE13B0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8AFD5-31B9-1DBB-5820-A40FA42C7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078BA-A478-301F-79EA-0B49B4F4E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wedge between discount rates and the cost of capital has been growing.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2002, it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increased by about 2.5 percentage points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United States.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1.0 percentage-point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increase in the wedge reduces next-year investment by roughly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0.8 percentage points.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 a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 wedge predicts lower future investment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the wedge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widens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investment falls further behind where models say it should be -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“missing investment” in a nutshell.</a:t>
            </a:r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2FA2E-415D-7128-D0FE-364BB8C5A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45311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F08A0-ADD8-4CEA-1368-A7F4A244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AEC94-D2AC-598A-F237-A5164C50C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3AF29-84D7-5444-1EDB-8B1A0E245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Here’s where it comes together.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chart shows two lines.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 line, standard Tobin’s Q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—predicts a cumulative investment shortfall of around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 to 30 percent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2002.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That’s the puzzle. The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blue line—“Adjusted Q,”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incorporates the wedge—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stays close to zero.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you account for inflated hurdle rates, the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shortfall largely disappears. 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Investment is not “missing.”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Firms are simply not investing because their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 hurdle rates make many projects unattractive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E6853-90E9-9A9D-2A8C-8979C69F66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87505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Last but not least, we focus on some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Extensions and Research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Ideas from now on and conclude our presentation, as well as the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further findings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the paper.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46700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6517C-685D-829B-63FA-41DEFF39B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897694-8547-3106-FB6D-1D77CA980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74251-DC03-C36F-1DFC-5741B825E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move from </a:t>
            </a:r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happens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</a:t>
            </a:r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happens on a more </a:t>
            </a:r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corporate psychological level </a:t>
            </a:r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big question remains: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would firms keep their hurdle rates high on purpose, even when capital becomes cheaper, like we saw in the past decades?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paper highlights three main forces: 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First: </a:t>
            </a:r>
            <a:r>
              <a:rPr lang="en-US" sz="1200" b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role of market power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Firms with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 market power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meaning they face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 competitive pressure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have increased their wedges the most since 2002. Why?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they </a:t>
            </a:r>
            <a:r>
              <a:rPr lang="en-US" sz="1200" i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afford to</a:t>
            </a:r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you’re in a highly competitive industry, you cannot be overly conservative. 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reject too many projects,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 competitors will take market share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But if you’re dominant, with strong markups and limited competition, you have more room to be selective.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Second: Discount rate rigidity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firms simply don’t update their hurdle rates often. Even if interest rates fall dramatically, they stick to, say, a 10% or 15% IRR threshold.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creates a wedge almost mechanically.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Managers often justify this by saying they want to be “disciplined” or prevent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empire building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other words: they prefer to signal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prudence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investors rather than aggressively expand just because money is cheap.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Third: Real Options and Irreversibility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investment is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irreversible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uncertainty rises, firms become cautious, especially in the short and medium run.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if markets lower required returns, managers may add a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“buffer”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accord to this uncertainty. 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risk pushes up discount rates independently of financial market conditions.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F8129-E10D-016B-881A-81EE63526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1506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E7589-5377-138A-0246-A08794DFB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8A0BA9-0218-E167-8C8F-6130F210E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911C2-6AF7-6843-2DA0-583EF80EE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let’s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zoom out to the macro picture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reflect on certain social debates arising in the paper.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“missing investment” puzzle is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largely solved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once you account for these wedges. The Adjusted Q framework shows that rising internal hurdle rates explain why investment has lagged behind valuations, as we saw in the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 Investment example in figure 6.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we adjust Q for the discount rate wedge, meaning we account for firms internally using higher hurdle rates than financial markets imply, the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puzzle largely disappears.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problem becomes somewhat non-existent, if one applies the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 perspective.</a:t>
            </a:r>
          </a:p>
          <a:p>
            <a:endParaRPr lang="de-DE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this has broader consequences …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Secondly,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firms systematically require returns above the financial cost of capital, they are generating corporate rents. So, what initially looks like a technical issue about discount rates actually connects to big societal debates, we already discussed in the Motivation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again, the macroeconomic implications will be: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Slower growth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Rising markups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Increasing concentration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distributional consequences, like a long run decline in labor share </a:t>
            </a:r>
          </a:p>
          <a:p>
            <a:pPr lvl="0"/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The question remains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Is our monetary policy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effective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stimulating the economy the way it is intended to be?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That’s what makes this paper so fascinating.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E46A0-6FEE-C1F6-0260-D724591FD7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27298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F7C4F-349B-01CE-1502-23D9EAAF3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B734F-A3E1-E4D4-DA61-A2F3ADECE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3912E-A8D5-BE6A-E866-6D86672F4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think about where this research could go next. Based on what we critically assessed.</a:t>
            </a:r>
          </a:p>
          <a:p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Methodologically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 language models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could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extraction of discount rate information from transcripts, massively expanding the dataset on a larger scale. </a:t>
            </a:r>
          </a:p>
          <a:p>
            <a:pPr lvl="0"/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 extension would be to apply this framework to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emerging markets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Do firms in developing economies also have sticky discount rates? Or is this mainly a feature of advanced markets like the observed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 or European market.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theoretical side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there’s room to model the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optimal wedge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to quantify how much investment is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actually lost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due to stickiness. </a:t>
            </a:r>
          </a:p>
          <a:p>
            <a:pPr lvl="0"/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Concluding Empirically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there are possible questions about … </a:t>
            </a:r>
          </a:p>
          <a:p>
            <a:pPr lvl="0"/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ESG considerations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interact with discount rates,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 firms with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governance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smaller wedges,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whether individual </a:t>
            </a: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CEO and CFO characteristics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predict how sticky a company’s discount rate turns out to be</a:t>
            </a:r>
            <a:endParaRPr lang="de-DE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18C6-147D-3FE0-1E47-28E1F3E12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60912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very much for your attention!</a:t>
            </a:r>
          </a:p>
          <a:p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----------------------------------------------</a:t>
            </a:r>
          </a:p>
          <a:p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conclude:</a:t>
            </a:r>
          </a:p>
          <a:p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paper </a:t>
            </a:r>
            <a:r>
              <a:rPr lang="en-US" sz="1200" b="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challenges a fundamental assumption 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macro and finance: that firms immediately adjust their hurdle rates to financial market conditions.</a:t>
            </a:r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Instead, discount rates are sticky, rather strategic, and shaped by market power and risk.</a:t>
            </a:r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Lastly, something you should definitely take away from this paper:</a:t>
            </a:r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Authors </a:t>
            </a:r>
            <a:r>
              <a:rPr lang="en-US" sz="1200" b="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entirely new research agenda around how firms internally translate financial market signals into real investment decisions.</a:t>
            </a:r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Therefore, It </a:t>
            </a:r>
            <a:r>
              <a:rPr lang="en-US" sz="1200" b="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challenges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prevailing economic mechanisms through its </a:t>
            </a:r>
            <a:r>
              <a:rPr lang="en-US" sz="1200" b="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investigative approach, which happens to be quite unique in this field.</a:t>
            </a:r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1" i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very much for your attention!</a:t>
            </a:r>
          </a:p>
          <a:p>
            <a:endParaRPr lang="en-US" sz="1200" b="1" i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----------------------------------------------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i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moving on to the questions …</a:t>
            </a:r>
          </a:p>
          <a:p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01432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309A8-F98D-285F-4D62-5E7929A81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8BFE9-D245-3125-21CC-495EB37F1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7B40D3-D894-45E6-5646-AF479E991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test what we’ve covered. 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(read along)</a:t>
            </a:r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B320A-0737-22B6-B2FA-1507ED781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3417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1995D-A21F-D3F8-B4CA-1D644098F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A30191-3DA0-B9BE-062C-9F0AEB49C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A62A84-CBFA-21D0-8F60-C645A38F9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Q1 (B): </a:t>
            </a:r>
            <a:r>
              <a:rPr lang="en-US"/>
              <a:t>The authors manually extract discount rates from earnings conference call transcripts.</a:t>
            </a:r>
          </a:p>
          <a:p>
            <a:endParaRPr lang="en-US" b="1"/>
          </a:p>
          <a:p>
            <a:r>
              <a:rPr lang="en-US" b="1"/>
              <a:t>Q2 (C): </a:t>
            </a:r>
            <a:r>
              <a:rPr lang="en-US"/>
              <a:t>Investment is about 10 times less responsive to financial conditions than standard theory predicts.</a:t>
            </a:r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r>
              <a:rPr lang="en-US" b="1"/>
              <a:t>Q3 (B): </a:t>
            </a:r>
            <a:r>
              <a:rPr lang="en-US"/>
              <a:t>The puzzle is that investment stayed low even though Tobin’s Q was high since the early 2000s.</a:t>
            </a:r>
          </a:p>
          <a:p>
            <a:pPr algn="ctr"/>
            <a:endParaRPr lang="de-DE" sz="12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CDAFD-7D71-89FA-4CC0-2CAB00298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77450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6AE7F-5F47-3DFA-8A88-20A011DE2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A5977-1567-71ED-7201-E2DDD033D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0544E-47B9-5787-08A6-9A8599EDA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more questions.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(read along)</a:t>
            </a:r>
            <a:endParaRPr lang="de-DE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814E8-87C2-FE0A-0859-115B248A6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22502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E8184-F996-200E-8AEA-8D66CAB6D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4791F-0A19-93E7-F2EB-E0EAB8AF03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05A3EA-A100-B29B-CFD9-AB086C028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Q4 (B): </a:t>
            </a:r>
            <a:r>
              <a:rPr lang="en-US"/>
              <a:t>The wedge is the difference between a firm’s discount rate and its perceived cost of capital.</a:t>
            </a:r>
          </a:p>
          <a:p>
            <a:endParaRPr lang="en-US" b="1"/>
          </a:p>
          <a:p>
            <a:r>
              <a:rPr lang="en-US" b="1"/>
              <a:t>Q5 (B): </a:t>
            </a:r>
            <a:r>
              <a:rPr lang="en-US"/>
              <a:t>The average US discount rate wedge increased by about 2.5 percentage points from 2002 to 2021.</a:t>
            </a:r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r>
              <a:rPr lang="en-US" b="1"/>
              <a:t>Q6 (B): </a:t>
            </a:r>
            <a:r>
              <a:rPr lang="en-US"/>
              <a:t>Manual reading was necessary because identifying discount rates requires understanding context, not just keywords.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9D492-16AD-91FF-1563-B3A71AA2A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79943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13CC-C712-F2AD-BC55-240B382A7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BCB18-85F3-EA9F-DA54-4940407A8C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4E59A1-4E94-54D8-A19D-B9C561E47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/>
              <a:t>Let’s quickly test your intuition just once more …</a:t>
            </a:r>
          </a:p>
          <a:p>
            <a:pPr algn="l"/>
            <a:endParaRPr lang="en-US" sz="1200" b="1"/>
          </a:p>
          <a:p>
            <a:pPr algn="l"/>
            <a:r>
              <a:rPr lang="en-US" sz="1200" b="1"/>
              <a:t>(read along)</a:t>
            </a:r>
            <a:endParaRPr lang="de-DE" sz="12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66294-603C-CC5A-94F1-2FDE7AA3E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28398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5B819-9784-F8D1-EEAC-11A8155F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C6987-0D7B-B2E9-6907-6685E479A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3F6365-EEEE-96E1-98A7-417FB149F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Q7 (A): </a:t>
            </a:r>
            <a:r>
              <a:rPr lang="en-US"/>
              <a:t>Firms with market power can keep discount rates high even when the cost of capital falls, creating larger wedges.</a:t>
            </a:r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r>
              <a:rPr lang="en-US" b="1"/>
              <a:t>Q8 (C): </a:t>
            </a:r>
            <a:r>
              <a:rPr lang="en-US"/>
              <a:t>The “missing investment” refers to the gap between high Tobin’s Q and low investment since the early 2000s.</a:t>
            </a:r>
          </a:p>
          <a:p>
            <a:endParaRPr lang="en-US" b="1"/>
          </a:p>
          <a:p>
            <a:r>
              <a:rPr lang="en-US" b="1"/>
              <a:t>Q9 (B): </a:t>
            </a:r>
            <a:r>
              <a:rPr lang="en-US"/>
              <a:t>Empire building is discussed as a managerial concern but not identified as a structural driver of the wedge.</a:t>
            </a:r>
          </a:p>
          <a:p>
            <a:pPr algn="l"/>
            <a:endParaRPr lang="de-DE" sz="12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BAB63-1D87-1D65-BADB-45BD565BB4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22023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4537C-2A2F-9C8B-A065-ECB49FC9B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EA5D5-D20F-F4B5-A691-476B197DF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9CABD-BF5A-486D-6CE2-697738F18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de-DE" sz="12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E14DA-7165-0877-0877-DE61FE8B46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4411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F45FA-DD4D-039C-29EB-B416860BF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5BF63-D543-573C-8E8D-C5FEFB746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52CB8-E46E-BC72-FDC0-CAC339117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42B55-7CF9-57FA-4D27-42B5C7D90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67336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8BE28-C9F8-41F2-FCA4-3709EF1EA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4C6E2B-5F69-6060-EE7C-B6B1175B4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85CCC4-68D4-7559-DC37-7AFCE0C94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5F3D4-F146-17E3-9A5C-E762034403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12011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EE3EF-8AA2-A52B-163D-065799E1A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E4F7FC-50C1-3371-340B-6D1ECF2E4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E5E69-DF70-AC00-9A3A-AA597E495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A8134-363F-2913-ED20-22425644D6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46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85230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0D39C-CA4D-80AA-E222-1B52018DA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2FCB7-FB0F-D9A8-63CA-2FD02F9BC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B27B3-FB84-E6DC-96EC-9DC8E6458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F4587-1C20-4AEE-1671-FAE3A0EE9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759390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8712B-0DF7-6EEB-F477-0B0E5D122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4DEFE6-A7C8-692B-5E7A-13FCA8662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4DD20-1372-E30F-E2C9-4F67C8AF7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1FBC5-CD2F-2A28-3651-79C62F2E7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058291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F4888-1872-6B36-972B-DEEF9A111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573526-F8CE-CB41-6177-944C655BC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8FAA7A-E2D1-3BC5-15F1-CF056CDD9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48FC0-9E74-D89D-FC4B-4D963940D9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992584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22843-C825-6C71-1F23-D084BD96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7D7FC-9181-19E8-FFA9-56AB8A3C8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CBF646-556C-CB4A-ED58-D2A25B303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A23AC-E98A-05E3-8705-4A673CD27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50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618934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2E63D-02F3-E725-2E20-BC3A12777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EB7712-F775-AF7F-DFD3-C218A96FC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2CEE4C-0350-28E8-91D8-6C7FB411D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FA12E-1313-FE9E-5AE2-C3E742CCE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51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865678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F80F2-6FC9-7347-95CC-4BE8DF36A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E621B-C3F2-03B7-557B-2BB493177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4896D-65CF-BB32-1BEE-DD42952A3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18D9A-E55D-CF84-B5D2-01737DAD9D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52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898208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24608-3B6B-84E1-034D-10683785B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CDDE94-33D0-115E-85A0-505072215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80624-CF51-99E6-F629-96B071D43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87845-8744-AEC1-245D-7074D5F859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53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16089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AED69-6A9A-4C58-8F96-55EE55351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0E2B6-67D5-CFD4-6231-CF7D13D66A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CC69A-EAAA-C60A-5AFF-314A45CDE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EEE00-7624-957F-BD4D-935DB8474B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F3D9E9-F812-7843-8027-CE90304E8A38}" type="slidenum">
              <a:rPr lang="de-DE" smtClean="0"/>
              <a:t>54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0259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C5D838EC-BF7F-F30A-C38F-3D21599B44D3}"/>
              </a:ext>
            </a:extLst>
          </p:cNvPr>
          <p:cNvSpPr txBox="1">
            <a:spLocks/>
          </p:cNvSpPr>
          <p:nvPr userDrawn="1"/>
        </p:nvSpPr>
        <p:spPr>
          <a:xfrm>
            <a:off x="699905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699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F26B7DF6-0474-4590-8D59-356B09306258}"/>
              </a:ext>
            </a:extLst>
          </p:cNvPr>
          <p:cNvSpPr txBox="1">
            <a:spLocks/>
          </p:cNvSpPr>
          <p:nvPr userDrawn="1"/>
        </p:nvSpPr>
        <p:spPr>
          <a:xfrm>
            <a:off x="699905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2640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C4C022BE-92B6-90AE-C6C2-FF13E6B9A143}"/>
              </a:ext>
            </a:extLst>
          </p:cNvPr>
          <p:cNvSpPr txBox="1">
            <a:spLocks/>
          </p:cNvSpPr>
          <p:nvPr userDrawn="1"/>
        </p:nvSpPr>
        <p:spPr>
          <a:xfrm>
            <a:off x="699905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922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C0BB511C-CE19-6219-7DBD-5BE8358B1116}"/>
              </a:ext>
            </a:extLst>
          </p:cNvPr>
          <p:cNvSpPr txBox="1">
            <a:spLocks/>
          </p:cNvSpPr>
          <p:nvPr userDrawn="1"/>
        </p:nvSpPr>
        <p:spPr>
          <a:xfrm>
            <a:off x="699905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90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22A02-DFB5-0D68-156F-01AB4BD54AB3}"/>
              </a:ext>
            </a:extLst>
          </p:cNvPr>
          <p:cNvSpPr txBox="1">
            <a:spLocks/>
          </p:cNvSpPr>
          <p:nvPr userDrawn="1"/>
        </p:nvSpPr>
        <p:spPr>
          <a:xfrm>
            <a:off x="699905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042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CDFAEEED-F954-C0A8-9D63-AF884B661414}"/>
              </a:ext>
            </a:extLst>
          </p:cNvPr>
          <p:cNvSpPr txBox="1">
            <a:spLocks/>
          </p:cNvSpPr>
          <p:nvPr userDrawn="1"/>
        </p:nvSpPr>
        <p:spPr>
          <a:xfrm>
            <a:off x="699905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485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2E2FCBFD-B721-6620-57B4-A92BC549BFCE}"/>
              </a:ext>
            </a:extLst>
          </p:cNvPr>
          <p:cNvSpPr txBox="1">
            <a:spLocks/>
          </p:cNvSpPr>
          <p:nvPr userDrawn="1"/>
        </p:nvSpPr>
        <p:spPr>
          <a:xfrm>
            <a:off x="699905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F10C6D8-421D-0730-5A8A-C05FE48D1EA7}"/>
              </a:ext>
            </a:extLst>
          </p:cNvPr>
          <p:cNvSpPr txBox="1">
            <a:spLocks/>
          </p:cNvSpPr>
          <p:nvPr userDrawn="1"/>
        </p:nvSpPr>
        <p:spPr>
          <a:xfrm>
            <a:off x="781050" y="1080621"/>
            <a:ext cx="7886700" cy="2774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2"/>
                </a:solidFill>
                <a:ea typeface="Calibri"/>
                <a:cs typeface="Calibri"/>
              </a:rPr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17994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1C54213D-56B6-071D-D99A-6A77EC0D6A4D}"/>
              </a:ext>
            </a:extLst>
          </p:cNvPr>
          <p:cNvSpPr txBox="1">
            <a:spLocks/>
          </p:cNvSpPr>
          <p:nvPr userDrawn="1"/>
        </p:nvSpPr>
        <p:spPr>
          <a:xfrm>
            <a:off x="699905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0194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4F7D25AB-C39D-4400-FA61-A9A2A26D3EE7}"/>
              </a:ext>
            </a:extLst>
          </p:cNvPr>
          <p:cNvSpPr txBox="1">
            <a:spLocks/>
          </p:cNvSpPr>
          <p:nvPr userDrawn="1"/>
        </p:nvSpPr>
        <p:spPr>
          <a:xfrm>
            <a:off x="699905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624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F17A34F8-9905-F8ED-A422-569843FFAF81}"/>
              </a:ext>
            </a:extLst>
          </p:cNvPr>
          <p:cNvSpPr txBox="1">
            <a:spLocks/>
          </p:cNvSpPr>
          <p:nvPr userDrawn="1"/>
        </p:nvSpPr>
        <p:spPr>
          <a:xfrm>
            <a:off x="699905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96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6D9C5C9F-54E8-9583-81B5-E0EBD0ED3C9A}"/>
              </a:ext>
            </a:extLst>
          </p:cNvPr>
          <p:cNvSpPr txBox="1">
            <a:spLocks/>
          </p:cNvSpPr>
          <p:nvPr userDrawn="1"/>
        </p:nvSpPr>
        <p:spPr>
          <a:xfrm>
            <a:off x="699905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45886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_Zwische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3F74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350" kern="1200"/>
          </a:p>
        </p:txBody>
      </p:sp>
      <p:pic>
        <p:nvPicPr>
          <p:cNvPr id="8" name="Bild 2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49394" y="4767712"/>
            <a:ext cx="194427" cy="223202"/>
          </a:xfrm>
          <a:prstGeom prst="rect">
            <a:avLst/>
          </a:prstGeom>
          <a:noFill/>
        </p:spPr>
      </p:pic>
      <p:cxnSp>
        <p:nvCxnSpPr>
          <p:cNvPr id="12" name="Gerade Verbindung 4"/>
          <p:cNvCxnSpPr/>
          <p:nvPr userDrawn="1"/>
        </p:nvCxnSpPr>
        <p:spPr>
          <a:xfrm>
            <a:off x="502906" y="3187768"/>
            <a:ext cx="5729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385576" y="3381521"/>
            <a:ext cx="5104472" cy="1386191"/>
          </a:xfrm>
        </p:spPr>
        <p:txBody>
          <a:bodyPr anchor="b">
            <a:noAutofit/>
          </a:bodyPr>
          <a:lstStyle>
            <a:lvl1pPr>
              <a:lnSpc>
                <a:spcPts val="4875"/>
              </a:lnSpc>
              <a:defRPr sz="525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noProof="0" err="1"/>
              <a:t>titelformat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 err="1"/>
              <a:t>bearbeiten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26033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Inhaltsverzeichn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85577" y="688588"/>
            <a:ext cx="8431331" cy="819719"/>
          </a:xfrm>
        </p:spPr>
        <p:txBody>
          <a:bodyPr anchor="b">
            <a:noAutofit/>
          </a:bodyPr>
          <a:lstStyle>
            <a:lvl1pPr>
              <a:lnSpc>
                <a:spcPts val="3000"/>
              </a:lnSpc>
              <a:defRPr sz="3300" b="1" cap="all" baseline="0">
                <a:latin typeface="+mn-lt"/>
              </a:defRPr>
            </a:lvl1pPr>
          </a:lstStyle>
          <a:p>
            <a:r>
              <a:rPr lang="en-GB" noProof="0"/>
              <a:t>CONTENT</a:t>
            </a:r>
            <a:br>
              <a:rPr lang="en-GB" noProof="0"/>
            </a:br>
            <a:endParaRPr lang="en-GB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385576" y="1688965"/>
            <a:ext cx="4131000" cy="2858691"/>
          </a:xfrm>
        </p:spPr>
        <p:txBody>
          <a:bodyPr>
            <a:normAutofit/>
          </a:bodyPr>
          <a:lstStyle>
            <a:lvl1pPr marL="257175" indent="-257175">
              <a:lnSpc>
                <a:spcPts val="1800"/>
              </a:lnSpc>
              <a:buFont typeface="Wingdings" charset="2"/>
              <a:buChar char="§"/>
              <a:defRPr sz="1500" baseline="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 err="1"/>
              <a:t>Mastertitel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  <a:p>
            <a:pPr lvl="0"/>
            <a:endParaRPr lang="en-GB" noProof="0"/>
          </a:p>
        </p:txBody>
      </p:sp>
      <p:cxnSp>
        <p:nvCxnSpPr>
          <p:cNvPr id="9" name="Gerade Verbindung 9"/>
          <p:cNvCxnSpPr/>
          <p:nvPr userDrawn="1"/>
        </p:nvCxnSpPr>
        <p:spPr>
          <a:xfrm>
            <a:off x="460094" y="468777"/>
            <a:ext cx="2864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4685907" y="1688966"/>
            <a:ext cx="4131000" cy="2858690"/>
          </a:xfrm>
        </p:spPr>
        <p:txBody>
          <a:bodyPr>
            <a:noAutofit/>
          </a:bodyPr>
          <a:lstStyle>
            <a:lvl1pPr marL="257175" indent="-257175">
              <a:lnSpc>
                <a:spcPts val="1800"/>
              </a:lnSpc>
              <a:buFont typeface="Wingdings" charset="2"/>
              <a:buChar char="§"/>
              <a:defRPr sz="1500" baseline="0">
                <a:latin typeface="+mj-lt"/>
              </a:defRPr>
            </a:lvl1pPr>
          </a:lstStyle>
          <a:p>
            <a:pPr lvl="0"/>
            <a:r>
              <a:rPr lang="en-GB" noProof="0" err="1"/>
              <a:t>Mastertitel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pic>
        <p:nvPicPr>
          <p:cNvPr id="16" name="Bild 2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49394" y="4767712"/>
            <a:ext cx="194269" cy="223202"/>
          </a:xfrm>
          <a:prstGeom prst="rect">
            <a:avLst/>
          </a:prstGeom>
        </p:spPr>
      </p:pic>
      <p:sp>
        <p:nvSpPr>
          <p:cNvPr id="7" name="Textplatzhalter 3"/>
          <p:cNvSpPr>
            <a:spLocks noGrp="1"/>
          </p:cNvSpPr>
          <p:nvPr>
            <p:ph type="body" sz="half" idx="14" hasCustomPrompt="1"/>
          </p:nvPr>
        </p:nvSpPr>
        <p:spPr>
          <a:xfrm>
            <a:off x="385576" y="164983"/>
            <a:ext cx="4131000" cy="213967"/>
          </a:xfrm>
        </p:spPr>
        <p:txBody>
          <a:bodyPr>
            <a:noAutofit/>
          </a:bodyPr>
          <a:lstStyle>
            <a:lvl1pPr marL="0" indent="0">
              <a:lnSpc>
                <a:spcPts val="1350"/>
              </a:lnSpc>
              <a:buNone/>
              <a:defRPr sz="900" b="1" cap="all" baseline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/>
              <a:t>Category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075F23C4-D9E0-F34E-BDE8-EDF47BCB6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92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544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- 2 Spalten - 12p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85577" y="688588"/>
            <a:ext cx="8431331" cy="819719"/>
          </a:xfrm>
        </p:spPr>
        <p:txBody>
          <a:bodyPr anchor="b">
            <a:noAutofit/>
          </a:bodyPr>
          <a:lstStyle>
            <a:lvl1pPr>
              <a:lnSpc>
                <a:spcPts val="3000"/>
              </a:lnSpc>
              <a:defRPr sz="3300" b="1" cap="all" baseline="0">
                <a:latin typeface="+mn-lt"/>
              </a:defRPr>
            </a:lvl1pPr>
          </a:lstStyle>
          <a:p>
            <a:r>
              <a:rPr lang="en-GB" noProof="0" err="1"/>
              <a:t>Mastertitelformat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85576" y="1953491"/>
            <a:ext cx="4131000" cy="2858691"/>
          </a:xfrm>
        </p:spPr>
        <p:txBody>
          <a:bodyPr>
            <a:normAutofit/>
          </a:bodyPr>
          <a:lstStyle>
            <a:lvl1pPr marL="0" indent="0">
              <a:lnSpc>
                <a:spcPts val="1200"/>
              </a:lnSpc>
              <a:buNone/>
              <a:defRPr sz="9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 err="1"/>
              <a:t>Mastertextformat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cxnSp>
        <p:nvCxnSpPr>
          <p:cNvPr id="9" name="Gerade Verbindung 9"/>
          <p:cNvCxnSpPr/>
          <p:nvPr userDrawn="1"/>
        </p:nvCxnSpPr>
        <p:spPr>
          <a:xfrm>
            <a:off x="460094" y="468777"/>
            <a:ext cx="2864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4685907" y="1954024"/>
            <a:ext cx="4131000" cy="2858690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buFontTx/>
              <a:buNone/>
              <a:defRPr sz="900">
                <a:latin typeface="+mj-lt"/>
              </a:defRPr>
            </a:lvl1pPr>
          </a:lstStyle>
          <a:p>
            <a:pPr lvl="0"/>
            <a:r>
              <a:rPr lang="en-GB" noProof="0" err="1"/>
              <a:t>Mastertextformat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pic>
        <p:nvPicPr>
          <p:cNvPr id="16" name="Bild 2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49394" y="4767712"/>
            <a:ext cx="194269" cy="223202"/>
          </a:xfrm>
          <a:prstGeom prst="rect">
            <a:avLst/>
          </a:prstGeom>
        </p:spPr>
      </p:pic>
      <p:sp>
        <p:nvSpPr>
          <p:cNvPr id="7" name="Textplatzhalter 3"/>
          <p:cNvSpPr>
            <a:spLocks noGrp="1"/>
          </p:cNvSpPr>
          <p:nvPr>
            <p:ph type="body" sz="half" idx="14" hasCustomPrompt="1"/>
          </p:nvPr>
        </p:nvSpPr>
        <p:spPr>
          <a:xfrm>
            <a:off x="385576" y="164983"/>
            <a:ext cx="4131000" cy="213967"/>
          </a:xfrm>
        </p:spPr>
        <p:txBody>
          <a:bodyPr>
            <a:noAutofit/>
          </a:bodyPr>
          <a:lstStyle>
            <a:lvl1pPr marL="0" indent="0">
              <a:lnSpc>
                <a:spcPts val="1350"/>
              </a:lnSpc>
              <a:buNone/>
              <a:defRPr sz="900" b="1" cap="all" baseline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/>
              <a:t>Category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957F6DAE-1A66-1543-B44E-11F01BF7E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92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4933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- 1xBild - 12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4"/>
          <p:cNvSpPr>
            <a:spLocks noGrp="1"/>
          </p:cNvSpPr>
          <p:nvPr>
            <p:ph type="pic" sz="quarter" idx="10" hasCustomPrompt="1"/>
          </p:nvPr>
        </p:nvSpPr>
        <p:spPr>
          <a:xfrm>
            <a:off x="4514850" y="0"/>
            <a:ext cx="4629150" cy="51435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Tx/>
              <a:buNone/>
              <a:defRPr baseline="0"/>
            </a:lvl1pPr>
          </a:lstStyle>
          <a:p>
            <a:r>
              <a:rPr lang="de-DE"/>
              <a:t>Bitte Foto einsetzen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85577" y="688588"/>
            <a:ext cx="3769351" cy="819719"/>
          </a:xfrm>
        </p:spPr>
        <p:txBody>
          <a:bodyPr anchor="b">
            <a:noAutofit/>
          </a:bodyPr>
          <a:lstStyle>
            <a:lvl1pPr>
              <a:lnSpc>
                <a:spcPts val="3000"/>
              </a:lnSpc>
              <a:defRPr sz="3300" b="1" cap="all" baseline="0">
                <a:latin typeface="+mn-lt"/>
              </a:defRPr>
            </a:lvl1pPr>
          </a:lstStyle>
          <a:p>
            <a:r>
              <a:rPr lang="en-GB" noProof="0" err="1"/>
              <a:t>titelformat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85576" y="1953490"/>
            <a:ext cx="3769350" cy="2858691"/>
          </a:xfrm>
        </p:spPr>
        <p:txBody>
          <a:bodyPr>
            <a:normAutofit/>
          </a:bodyPr>
          <a:lstStyle>
            <a:lvl1pPr marL="0" indent="0">
              <a:lnSpc>
                <a:spcPts val="1200"/>
              </a:lnSpc>
              <a:buNone/>
              <a:defRPr sz="9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 err="1"/>
              <a:t>Mastertextformat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cxnSp>
        <p:nvCxnSpPr>
          <p:cNvPr id="9" name="Gerade Verbindung 9"/>
          <p:cNvCxnSpPr/>
          <p:nvPr userDrawn="1"/>
        </p:nvCxnSpPr>
        <p:spPr>
          <a:xfrm>
            <a:off x="460094" y="468777"/>
            <a:ext cx="2864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3"/>
          <p:cNvSpPr>
            <a:spLocks noGrp="1"/>
          </p:cNvSpPr>
          <p:nvPr>
            <p:ph type="body" sz="half" idx="14" hasCustomPrompt="1"/>
          </p:nvPr>
        </p:nvSpPr>
        <p:spPr>
          <a:xfrm>
            <a:off x="385576" y="164983"/>
            <a:ext cx="4131000" cy="213967"/>
          </a:xfrm>
        </p:spPr>
        <p:txBody>
          <a:bodyPr>
            <a:noAutofit/>
          </a:bodyPr>
          <a:lstStyle>
            <a:lvl1pPr marL="0" indent="0">
              <a:lnSpc>
                <a:spcPts val="1350"/>
              </a:lnSpc>
              <a:buNone/>
              <a:defRPr sz="900" b="1" cap="all" baseline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/>
              <a:t>Category</a:t>
            </a:r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750532" y="4767712"/>
            <a:ext cx="193289" cy="223202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00">
                <a:solidFill>
                  <a:schemeClr val="bg1"/>
                </a:solidFill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/>
              <a:t>a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A60DC5E-423E-5443-8DB4-570BDB625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92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2453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- 2xBild - 12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 hasCustomPrompt="1"/>
          </p:nvPr>
        </p:nvSpPr>
        <p:spPr>
          <a:xfrm>
            <a:off x="4509813" y="0"/>
            <a:ext cx="4634187" cy="253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350" baseline="0"/>
            </a:lvl1pPr>
          </a:lstStyle>
          <a:p>
            <a:r>
              <a:rPr lang="de-DE"/>
              <a:t>Bitte Foto einsetzen</a:t>
            </a:r>
          </a:p>
        </p:txBody>
      </p:sp>
      <p:sp>
        <p:nvSpPr>
          <p:cNvPr id="20" name="Bildplatzhalter 4"/>
          <p:cNvSpPr>
            <a:spLocks noGrp="1"/>
          </p:cNvSpPr>
          <p:nvPr>
            <p:ph type="pic" sz="quarter" idx="12" hasCustomPrompt="1"/>
          </p:nvPr>
        </p:nvSpPr>
        <p:spPr>
          <a:xfrm>
            <a:off x="4509813" y="2592000"/>
            <a:ext cx="4634187" cy="25515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350" baseline="0"/>
            </a:lvl1pPr>
          </a:lstStyle>
          <a:p>
            <a:r>
              <a:rPr lang="de-DE"/>
              <a:t>Bitte Foto einsetzen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85577" y="688588"/>
            <a:ext cx="3769351" cy="819719"/>
          </a:xfrm>
        </p:spPr>
        <p:txBody>
          <a:bodyPr anchor="b">
            <a:noAutofit/>
          </a:bodyPr>
          <a:lstStyle>
            <a:lvl1pPr>
              <a:lnSpc>
                <a:spcPts val="3000"/>
              </a:lnSpc>
              <a:defRPr sz="3300" b="1" cap="all" baseline="0">
                <a:latin typeface="+mn-lt"/>
              </a:defRPr>
            </a:lvl1pPr>
          </a:lstStyle>
          <a:p>
            <a:r>
              <a:rPr lang="en-GB" noProof="0" err="1"/>
              <a:t>titelformat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85576" y="1953489"/>
            <a:ext cx="3769350" cy="2858691"/>
          </a:xfrm>
        </p:spPr>
        <p:txBody>
          <a:bodyPr>
            <a:normAutofit/>
          </a:bodyPr>
          <a:lstStyle>
            <a:lvl1pPr marL="0" indent="0">
              <a:lnSpc>
                <a:spcPts val="1200"/>
              </a:lnSpc>
              <a:buNone/>
              <a:defRPr sz="9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 err="1"/>
              <a:t>Mastertextformat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cxnSp>
        <p:nvCxnSpPr>
          <p:cNvPr id="9" name="Gerade Verbindung 9"/>
          <p:cNvCxnSpPr/>
          <p:nvPr userDrawn="1"/>
        </p:nvCxnSpPr>
        <p:spPr>
          <a:xfrm>
            <a:off x="460094" y="468777"/>
            <a:ext cx="2864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3"/>
          <p:cNvSpPr>
            <a:spLocks noGrp="1"/>
          </p:cNvSpPr>
          <p:nvPr>
            <p:ph type="body" sz="half" idx="14" hasCustomPrompt="1"/>
          </p:nvPr>
        </p:nvSpPr>
        <p:spPr>
          <a:xfrm>
            <a:off x="385576" y="164983"/>
            <a:ext cx="4131000" cy="213967"/>
          </a:xfrm>
        </p:spPr>
        <p:txBody>
          <a:bodyPr>
            <a:noAutofit/>
          </a:bodyPr>
          <a:lstStyle>
            <a:lvl1pPr marL="0" indent="0">
              <a:lnSpc>
                <a:spcPts val="1350"/>
              </a:lnSpc>
              <a:buNone/>
              <a:defRPr sz="900" b="1" cap="all" baseline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/>
              <a:t>Category</a:t>
            </a:r>
          </a:p>
        </p:txBody>
      </p:sp>
      <p:sp>
        <p:nvSpPr>
          <p:cNvPr id="11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750532" y="4767712"/>
            <a:ext cx="193289" cy="223202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00">
                <a:solidFill>
                  <a:schemeClr val="bg1"/>
                </a:solidFill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/>
              <a:t>a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EFBD2B6F-FC75-D749-9061-46ADC1532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92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902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- 3xBild - 14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ildplatzhalt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49000" y="3468560"/>
            <a:ext cx="2295000" cy="16821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350" baseline="0"/>
            </a:lvl1pPr>
          </a:lstStyle>
          <a:p>
            <a:r>
              <a:rPr lang="de-DE"/>
              <a:t>Bitte Foto einsetzen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0" hasCustomPrompt="1"/>
          </p:nvPr>
        </p:nvSpPr>
        <p:spPr>
          <a:xfrm>
            <a:off x="6849000" y="0"/>
            <a:ext cx="2295000" cy="168233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350" baseline="0"/>
            </a:lvl1pPr>
          </a:lstStyle>
          <a:p>
            <a:r>
              <a:rPr lang="de-DE"/>
              <a:t>Bitte Foto einsetzen</a:t>
            </a:r>
          </a:p>
        </p:txBody>
      </p:sp>
      <p:sp>
        <p:nvSpPr>
          <p:cNvPr id="19" name="Bildplatzhalter 4"/>
          <p:cNvSpPr>
            <a:spLocks noGrp="1"/>
          </p:cNvSpPr>
          <p:nvPr>
            <p:ph type="pic" sz="quarter" idx="11" hasCustomPrompt="1"/>
          </p:nvPr>
        </p:nvSpPr>
        <p:spPr>
          <a:xfrm>
            <a:off x="6849000" y="1734395"/>
            <a:ext cx="2295000" cy="16821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350" baseline="0"/>
            </a:lvl1pPr>
          </a:lstStyle>
          <a:p>
            <a:r>
              <a:rPr lang="de-DE"/>
              <a:t>Bitte Foto einsetzen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85577" y="677872"/>
            <a:ext cx="6159923" cy="819719"/>
          </a:xfrm>
        </p:spPr>
        <p:txBody>
          <a:bodyPr anchor="b">
            <a:noAutofit/>
          </a:bodyPr>
          <a:lstStyle>
            <a:lvl1pPr>
              <a:lnSpc>
                <a:spcPts val="3000"/>
              </a:lnSpc>
              <a:defRPr sz="3300" b="1" cap="all" baseline="0">
                <a:latin typeface="+mn-lt"/>
              </a:defRPr>
            </a:lvl1pPr>
          </a:lstStyle>
          <a:p>
            <a:r>
              <a:rPr lang="en-GB" noProof="0" err="1"/>
              <a:t>titelformat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85578" y="1953490"/>
            <a:ext cx="2996001" cy="2858691"/>
          </a:xfrm>
        </p:spPr>
        <p:txBody>
          <a:bodyPr>
            <a:normAutofit/>
          </a:bodyPr>
          <a:lstStyle>
            <a:lvl1pPr marL="0" indent="0">
              <a:lnSpc>
                <a:spcPts val="1350"/>
              </a:lnSpc>
              <a:buNone/>
              <a:defRPr sz="105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 err="1"/>
              <a:t>Mastertextformat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cxnSp>
        <p:nvCxnSpPr>
          <p:cNvPr id="9" name="Gerade Verbindung 9"/>
          <p:cNvCxnSpPr/>
          <p:nvPr userDrawn="1"/>
        </p:nvCxnSpPr>
        <p:spPr>
          <a:xfrm>
            <a:off x="460094" y="468777"/>
            <a:ext cx="2864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3"/>
          <p:cNvSpPr>
            <a:spLocks noGrp="1"/>
          </p:cNvSpPr>
          <p:nvPr>
            <p:ph type="body" sz="half" idx="13"/>
          </p:nvPr>
        </p:nvSpPr>
        <p:spPr>
          <a:xfrm>
            <a:off x="3549499" y="1953490"/>
            <a:ext cx="2996001" cy="2858691"/>
          </a:xfrm>
        </p:spPr>
        <p:txBody>
          <a:bodyPr>
            <a:normAutofit/>
          </a:bodyPr>
          <a:lstStyle>
            <a:lvl1pPr marL="0" indent="0">
              <a:lnSpc>
                <a:spcPts val="1350"/>
              </a:lnSpc>
              <a:buNone/>
              <a:defRPr sz="105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 err="1"/>
              <a:t>Mastertextformat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10" name="Textplatzhalter 3"/>
          <p:cNvSpPr>
            <a:spLocks noGrp="1"/>
          </p:cNvSpPr>
          <p:nvPr>
            <p:ph type="body" sz="half" idx="14" hasCustomPrompt="1"/>
          </p:nvPr>
        </p:nvSpPr>
        <p:spPr>
          <a:xfrm>
            <a:off x="385576" y="164983"/>
            <a:ext cx="4131000" cy="213967"/>
          </a:xfrm>
        </p:spPr>
        <p:txBody>
          <a:bodyPr>
            <a:noAutofit/>
          </a:bodyPr>
          <a:lstStyle>
            <a:lvl1pPr marL="0" indent="0">
              <a:lnSpc>
                <a:spcPts val="1350"/>
              </a:lnSpc>
              <a:buNone/>
              <a:defRPr sz="900" b="1" cap="all" baseline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/>
              <a:t>Category</a:t>
            </a:r>
          </a:p>
        </p:txBody>
      </p:sp>
      <p:sp>
        <p:nvSpPr>
          <p:cNvPr id="25" name="Textplatzhalt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750532" y="4767712"/>
            <a:ext cx="193289" cy="223202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00">
                <a:solidFill>
                  <a:schemeClr val="bg1"/>
                </a:solidFill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/>
              <a:t>a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E64786AC-6C83-7541-BD28-965C8E0CF0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92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723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halt - 6xBild - 14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4"/>
          <p:cNvSpPr>
            <a:spLocks noGrp="1"/>
          </p:cNvSpPr>
          <p:nvPr>
            <p:ph type="pic" sz="quarter" idx="15" hasCustomPrompt="1"/>
          </p:nvPr>
        </p:nvSpPr>
        <p:spPr>
          <a:xfrm>
            <a:off x="4509812" y="231"/>
            <a:ext cx="2295000" cy="16821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350" baseline="0"/>
            </a:lvl1pPr>
          </a:lstStyle>
          <a:p>
            <a:r>
              <a:rPr lang="de-DE"/>
              <a:t>Bitte Foto einsetzen</a:t>
            </a:r>
          </a:p>
        </p:txBody>
      </p:sp>
      <p:sp>
        <p:nvSpPr>
          <p:cNvPr id="22" name="Bildplatzhalter 4"/>
          <p:cNvSpPr>
            <a:spLocks noGrp="1"/>
          </p:cNvSpPr>
          <p:nvPr>
            <p:ph type="pic" sz="quarter" idx="14" hasCustomPrompt="1"/>
          </p:nvPr>
        </p:nvSpPr>
        <p:spPr>
          <a:xfrm>
            <a:off x="4509812" y="1734395"/>
            <a:ext cx="2295000" cy="16821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350" baseline="0"/>
            </a:lvl1pPr>
          </a:lstStyle>
          <a:p>
            <a:r>
              <a:rPr lang="de-DE"/>
              <a:t>Bitte Foto einsetzen</a:t>
            </a:r>
          </a:p>
        </p:txBody>
      </p:sp>
      <p:sp>
        <p:nvSpPr>
          <p:cNvPr id="21" name="Bildplatzhalter 4"/>
          <p:cNvSpPr>
            <a:spLocks noGrp="1"/>
          </p:cNvSpPr>
          <p:nvPr>
            <p:ph type="pic" sz="quarter" idx="13" hasCustomPrompt="1"/>
          </p:nvPr>
        </p:nvSpPr>
        <p:spPr>
          <a:xfrm>
            <a:off x="4509813" y="3465860"/>
            <a:ext cx="2295000" cy="16821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350" baseline="0"/>
            </a:lvl1pPr>
          </a:lstStyle>
          <a:p>
            <a:r>
              <a:rPr lang="de-DE"/>
              <a:t>Bitte Foto einsetzen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0" hasCustomPrompt="1"/>
          </p:nvPr>
        </p:nvSpPr>
        <p:spPr>
          <a:xfrm>
            <a:off x="6849000" y="0"/>
            <a:ext cx="2295000" cy="1682331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350" baseline="0"/>
            </a:lvl1pPr>
          </a:lstStyle>
          <a:p>
            <a:r>
              <a:rPr lang="de-DE"/>
              <a:t>Bitte Foto einsetzen</a:t>
            </a:r>
          </a:p>
        </p:txBody>
      </p:sp>
      <p:sp>
        <p:nvSpPr>
          <p:cNvPr id="19" name="Bildplatzhalter 4"/>
          <p:cNvSpPr>
            <a:spLocks noGrp="1"/>
          </p:cNvSpPr>
          <p:nvPr>
            <p:ph type="pic" sz="quarter" idx="11" hasCustomPrompt="1"/>
          </p:nvPr>
        </p:nvSpPr>
        <p:spPr>
          <a:xfrm>
            <a:off x="6849000" y="1734395"/>
            <a:ext cx="2295000" cy="16821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350" baseline="0"/>
            </a:lvl1pPr>
          </a:lstStyle>
          <a:p>
            <a:r>
              <a:rPr lang="de-DE"/>
              <a:t>Bitte Foto einsetzen</a:t>
            </a:r>
          </a:p>
        </p:txBody>
      </p:sp>
      <p:sp>
        <p:nvSpPr>
          <p:cNvPr id="20" name="Bildplatzhalt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49000" y="3465860"/>
            <a:ext cx="2295000" cy="16821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350" baseline="0"/>
            </a:lvl1pPr>
          </a:lstStyle>
          <a:p>
            <a:r>
              <a:rPr lang="de-DE"/>
              <a:t>Bitte Foto einsetzen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85577" y="688588"/>
            <a:ext cx="3769351" cy="819719"/>
          </a:xfrm>
        </p:spPr>
        <p:txBody>
          <a:bodyPr anchor="b">
            <a:noAutofit/>
          </a:bodyPr>
          <a:lstStyle>
            <a:lvl1pPr>
              <a:lnSpc>
                <a:spcPts val="3000"/>
              </a:lnSpc>
              <a:defRPr sz="3300" b="1" cap="all" baseline="0">
                <a:latin typeface="+mn-lt"/>
              </a:defRPr>
            </a:lvl1pPr>
          </a:lstStyle>
          <a:p>
            <a:r>
              <a:rPr lang="en-GB" noProof="0" err="1"/>
              <a:t>titelformat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85576" y="1953491"/>
            <a:ext cx="3769350" cy="2858691"/>
          </a:xfrm>
        </p:spPr>
        <p:txBody>
          <a:bodyPr>
            <a:normAutofit/>
          </a:bodyPr>
          <a:lstStyle>
            <a:lvl1pPr marL="0" indent="0">
              <a:lnSpc>
                <a:spcPts val="1350"/>
              </a:lnSpc>
              <a:buNone/>
              <a:defRPr sz="105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 err="1"/>
              <a:t>Mastertextformat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cxnSp>
        <p:nvCxnSpPr>
          <p:cNvPr id="9" name="Gerade Verbindung 9"/>
          <p:cNvCxnSpPr/>
          <p:nvPr userDrawn="1"/>
        </p:nvCxnSpPr>
        <p:spPr>
          <a:xfrm>
            <a:off x="460094" y="468777"/>
            <a:ext cx="2864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3"/>
          <p:cNvSpPr>
            <a:spLocks noGrp="1"/>
          </p:cNvSpPr>
          <p:nvPr>
            <p:ph type="body" sz="half" idx="16" hasCustomPrompt="1"/>
          </p:nvPr>
        </p:nvSpPr>
        <p:spPr>
          <a:xfrm>
            <a:off x="385576" y="164983"/>
            <a:ext cx="4131000" cy="213967"/>
          </a:xfrm>
        </p:spPr>
        <p:txBody>
          <a:bodyPr>
            <a:noAutofit/>
          </a:bodyPr>
          <a:lstStyle>
            <a:lvl1pPr marL="0" indent="0">
              <a:lnSpc>
                <a:spcPts val="1350"/>
              </a:lnSpc>
              <a:buNone/>
              <a:defRPr sz="900" b="1" cap="all" baseline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/>
              <a:t>Category</a:t>
            </a:r>
          </a:p>
        </p:txBody>
      </p:sp>
      <p:sp>
        <p:nvSpPr>
          <p:cNvPr id="14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8750532" y="4767712"/>
            <a:ext cx="193289" cy="223202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>
              <a:defRPr sz="100">
                <a:solidFill>
                  <a:schemeClr val="bg1"/>
                </a:solidFill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de-DE"/>
              <a:t>a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D34DECDC-A5F0-0644-A940-6BA183A7F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92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6596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Header Grau - 3 Spalten - 12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-61645"/>
            <a:ext cx="9144000" cy="2199068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350" baseline="0"/>
            </a:lvl1pPr>
          </a:lstStyle>
          <a:p>
            <a:r>
              <a:rPr lang="de-DE"/>
              <a:t>Bitte Foto einsetzen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85577" y="688588"/>
            <a:ext cx="8431331" cy="819719"/>
          </a:xfrm>
        </p:spPr>
        <p:txBody>
          <a:bodyPr anchor="b">
            <a:noAutofit/>
          </a:bodyPr>
          <a:lstStyle>
            <a:lvl1pPr>
              <a:lnSpc>
                <a:spcPts val="3000"/>
              </a:lnSpc>
              <a:defRPr sz="3300" b="1" cap="all" baseline="0">
                <a:latin typeface="+mn-lt"/>
              </a:defRPr>
            </a:lvl1pPr>
          </a:lstStyle>
          <a:p>
            <a:r>
              <a:rPr lang="en-GB" noProof="0" err="1"/>
              <a:t>Mastertitelformat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 err="1"/>
              <a:t>bearbeiten</a:t>
            </a:r>
            <a:endParaRPr lang="en-GB" noProof="0"/>
          </a:p>
        </p:txBody>
      </p:sp>
      <p:pic>
        <p:nvPicPr>
          <p:cNvPr id="16" name="Bild 2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49394" y="4767712"/>
            <a:ext cx="194269" cy="223202"/>
          </a:xfrm>
          <a:prstGeom prst="rect">
            <a:avLst/>
          </a:prstGeom>
        </p:spPr>
      </p:pic>
      <p:cxnSp>
        <p:nvCxnSpPr>
          <p:cNvPr id="9" name="Gerade Verbindung 9"/>
          <p:cNvCxnSpPr/>
          <p:nvPr userDrawn="1"/>
        </p:nvCxnSpPr>
        <p:spPr>
          <a:xfrm>
            <a:off x="460094" y="468777"/>
            <a:ext cx="2864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3"/>
          <p:cNvSpPr>
            <a:spLocks noGrp="1"/>
          </p:cNvSpPr>
          <p:nvPr>
            <p:ph type="body" sz="half" idx="2"/>
          </p:nvPr>
        </p:nvSpPr>
        <p:spPr>
          <a:xfrm>
            <a:off x="385577" y="2462313"/>
            <a:ext cx="2682284" cy="2085343"/>
          </a:xfrm>
        </p:spPr>
        <p:txBody>
          <a:bodyPr>
            <a:normAutofit/>
          </a:bodyPr>
          <a:lstStyle>
            <a:lvl1pPr marL="0" indent="0">
              <a:lnSpc>
                <a:spcPts val="1200"/>
              </a:lnSpc>
              <a:buNone/>
              <a:defRPr sz="9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 err="1"/>
              <a:t>Mastertextformat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11" name="Textplatzhalt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3260104" y="2462314"/>
            <a:ext cx="2682285" cy="2085342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buFontTx/>
              <a:buNone/>
              <a:defRPr sz="900">
                <a:latin typeface="+mj-lt"/>
              </a:defRPr>
            </a:lvl1pPr>
          </a:lstStyle>
          <a:p>
            <a:pPr lvl="0"/>
            <a:r>
              <a:rPr lang="en-GB" noProof="0" err="1"/>
              <a:t>Mastertextformat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12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135619" y="2460577"/>
            <a:ext cx="2681288" cy="2087079"/>
          </a:xfrm>
        </p:spPr>
        <p:txBody>
          <a:bodyPr>
            <a:normAutofit/>
          </a:bodyPr>
          <a:lstStyle>
            <a:lvl1pPr marL="0" indent="0">
              <a:lnSpc>
                <a:spcPts val="1200"/>
              </a:lnSpc>
              <a:buNone/>
              <a:defRPr sz="900">
                <a:latin typeface="+mj-lt"/>
              </a:defRPr>
            </a:lvl1pPr>
            <a:lvl2pPr marL="514350" indent="-171450">
              <a:lnSpc>
                <a:spcPts val="1200"/>
              </a:lnSpc>
              <a:buFont typeface="Wingdings" panose="05000000000000000000" pitchFamily="2" charset="2"/>
              <a:buChar char="§"/>
              <a:defRPr sz="900">
                <a:latin typeface="+mj-lt"/>
              </a:defRPr>
            </a:lvl2pPr>
            <a:lvl3pPr marL="857250" indent="-171450">
              <a:lnSpc>
                <a:spcPts val="1200"/>
              </a:lnSpc>
              <a:buFont typeface="Wingdings" panose="05000000000000000000" pitchFamily="2" charset="2"/>
              <a:buChar char="§"/>
              <a:defRPr sz="900">
                <a:latin typeface="+mj-lt"/>
              </a:defRPr>
            </a:lvl3pPr>
            <a:lvl4pPr marL="1200150" indent="-171450">
              <a:lnSpc>
                <a:spcPts val="1200"/>
              </a:lnSpc>
              <a:buFont typeface="Wingdings" panose="05000000000000000000" pitchFamily="2" charset="2"/>
              <a:buChar char="§"/>
              <a:defRPr sz="900">
                <a:latin typeface="+mj-lt"/>
              </a:defRPr>
            </a:lvl4pPr>
            <a:lvl5pPr marL="1543050" indent="-171450">
              <a:lnSpc>
                <a:spcPts val="1200"/>
              </a:lnSpc>
              <a:buFont typeface="Wingdings" panose="05000000000000000000" pitchFamily="2" charset="2"/>
              <a:buChar char="§"/>
              <a:defRPr sz="900">
                <a:latin typeface="+mj-lt"/>
              </a:defRPr>
            </a:lvl5pPr>
          </a:lstStyle>
          <a:p>
            <a:pPr lvl="0"/>
            <a:r>
              <a:rPr lang="en-GB" noProof="0" err="1"/>
              <a:t>Mastertextformt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13" name="Textplatzhalter 3"/>
          <p:cNvSpPr>
            <a:spLocks noGrp="1"/>
          </p:cNvSpPr>
          <p:nvPr>
            <p:ph type="body" sz="half" idx="15" hasCustomPrompt="1"/>
          </p:nvPr>
        </p:nvSpPr>
        <p:spPr>
          <a:xfrm>
            <a:off x="385576" y="164983"/>
            <a:ext cx="4131000" cy="213967"/>
          </a:xfrm>
        </p:spPr>
        <p:txBody>
          <a:bodyPr>
            <a:noAutofit/>
          </a:bodyPr>
          <a:lstStyle>
            <a:lvl1pPr marL="0" indent="0">
              <a:lnSpc>
                <a:spcPts val="1350"/>
              </a:lnSpc>
              <a:buNone/>
              <a:defRPr sz="900" b="1" cap="all" baseline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/>
              <a:t>Category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29FFBA92-79DB-0C41-9346-72368730F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92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3597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Header Grau - 3 Spalten - 14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-61645"/>
            <a:ext cx="9144000" cy="2199068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350" baseline="0"/>
            </a:lvl1pPr>
          </a:lstStyle>
          <a:p>
            <a:r>
              <a:rPr lang="de-DE"/>
              <a:t>Bitte Foto einsetzen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85577" y="688588"/>
            <a:ext cx="8431331" cy="819719"/>
          </a:xfrm>
        </p:spPr>
        <p:txBody>
          <a:bodyPr anchor="b">
            <a:noAutofit/>
          </a:bodyPr>
          <a:lstStyle>
            <a:lvl1pPr>
              <a:lnSpc>
                <a:spcPts val="3000"/>
              </a:lnSpc>
              <a:defRPr sz="3300" b="1" cap="all" baseline="0">
                <a:latin typeface="+mn-lt"/>
              </a:defRPr>
            </a:lvl1pPr>
          </a:lstStyle>
          <a:p>
            <a:r>
              <a:rPr lang="en-GB" noProof="0" err="1"/>
              <a:t>Mastertitelformat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 err="1"/>
              <a:t>bearbeiten</a:t>
            </a:r>
            <a:endParaRPr lang="en-GB" noProof="0"/>
          </a:p>
        </p:txBody>
      </p:sp>
      <p:pic>
        <p:nvPicPr>
          <p:cNvPr id="16" name="Bild 2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49394" y="4767712"/>
            <a:ext cx="194269" cy="223202"/>
          </a:xfrm>
          <a:prstGeom prst="rect">
            <a:avLst/>
          </a:prstGeom>
        </p:spPr>
      </p:pic>
      <p:cxnSp>
        <p:nvCxnSpPr>
          <p:cNvPr id="9" name="Gerade Verbindung 9"/>
          <p:cNvCxnSpPr/>
          <p:nvPr userDrawn="1"/>
        </p:nvCxnSpPr>
        <p:spPr>
          <a:xfrm>
            <a:off x="460094" y="468777"/>
            <a:ext cx="2864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3"/>
          <p:cNvSpPr>
            <a:spLocks noGrp="1"/>
          </p:cNvSpPr>
          <p:nvPr>
            <p:ph type="body" sz="half" idx="2"/>
          </p:nvPr>
        </p:nvSpPr>
        <p:spPr>
          <a:xfrm>
            <a:off x="385577" y="2462313"/>
            <a:ext cx="2682284" cy="2085343"/>
          </a:xfrm>
        </p:spPr>
        <p:txBody>
          <a:bodyPr>
            <a:normAutofit/>
          </a:bodyPr>
          <a:lstStyle>
            <a:lvl1pPr marL="0" indent="0">
              <a:lnSpc>
                <a:spcPts val="1350"/>
              </a:lnSpc>
              <a:buNone/>
              <a:defRPr sz="105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 err="1"/>
              <a:t>Mastertextformat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11" name="Textplatzhalter 14"/>
          <p:cNvSpPr>
            <a:spLocks noGrp="1"/>
          </p:cNvSpPr>
          <p:nvPr>
            <p:ph type="body" sz="quarter" idx="13" hasCustomPrompt="1"/>
          </p:nvPr>
        </p:nvSpPr>
        <p:spPr>
          <a:xfrm>
            <a:off x="3260104" y="2462314"/>
            <a:ext cx="2682285" cy="2085342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buFontTx/>
              <a:buNone/>
              <a:defRPr sz="1050">
                <a:latin typeface="+mj-lt"/>
              </a:defRPr>
            </a:lvl1pPr>
          </a:lstStyle>
          <a:p>
            <a:pPr lvl="0"/>
            <a:r>
              <a:rPr lang="en-GB" noProof="0" err="1"/>
              <a:t>Mastertextformat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12" name="Textplatzhalt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135619" y="2460577"/>
            <a:ext cx="2681288" cy="2087079"/>
          </a:xfrm>
        </p:spPr>
        <p:txBody>
          <a:bodyPr>
            <a:normAutofit/>
          </a:bodyPr>
          <a:lstStyle>
            <a:lvl1pPr marL="0" indent="0">
              <a:lnSpc>
                <a:spcPts val="1350"/>
              </a:lnSpc>
              <a:buNone/>
              <a:defRPr sz="1050">
                <a:latin typeface="+mj-lt"/>
              </a:defRPr>
            </a:lvl1pPr>
            <a:lvl2pPr marL="514350" indent="-171450">
              <a:lnSpc>
                <a:spcPts val="1200"/>
              </a:lnSpc>
              <a:buFont typeface="Wingdings" panose="05000000000000000000" pitchFamily="2" charset="2"/>
              <a:buChar char="§"/>
              <a:defRPr sz="900">
                <a:latin typeface="+mj-lt"/>
              </a:defRPr>
            </a:lvl2pPr>
            <a:lvl3pPr marL="857250" indent="-171450">
              <a:lnSpc>
                <a:spcPts val="1200"/>
              </a:lnSpc>
              <a:buFont typeface="Wingdings" panose="05000000000000000000" pitchFamily="2" charset="2"/>
              <a:buChar char="§"/>
              <a:defRPr sz="900">
                <a:latin typeface="+mj-lt"/>
              </a:defRPr>
            </a:lvl3pPr>
            <a:lvl4pPr marL="1200150" indent="-171450">
              <a:lnSpc>
                <a:spcPts val="1200"/>
              </a:lnSpc>
              <a:buFont typeface="Wingdings" panose="05000000000000000000" pitchFamily="2" charset="2"/>
              <a:buChar char="§"/>
              <a:defRPr sz="900">
                <a:latin typeface="+mj-lt"/>
              </a:defRPr>
            </a:lvl4pPr>
            <a:lvl5pPr marL="1543050" indent="-171450">
              <a:lnSpc>
                <a:spcPts val="1200"/>
              </a:lnSpc>
              <a:buFont typeface="Wingdings" panose="05000000000000000000" pitchFamily="2" charset="2"/>
              <a:buChar char="§"/>
              <a:defRPr sz="900">
                <a:latin typeface="+mj-lt"/>
              </a:defRPr>
            </a:lvl5pPr>
          </a:lstStyle>
          <a:p>
            <a:pPr lvl="0"/>
            <a:r>
              <a:rPr lang="en-GB" noProof="0" err="1"/>
              <a:t>Mastertextformt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13" name="Textplatzhalter 3"/>
          <p:cNvSpPr>
            <a:spLocks noGrp="1"/>
          </p:cNvSpPr>
          <p:nvPr>
            <p:ph type="body" sz="half" idx="15" hasCustomPrompt="1"/>
          </p:nvPr>
        </p:nvSpPr>
        <p:spPr>
          <a:xfrm>
            <a:off x="385576" y="164983"/>
            <a:ext cx="4131000" cy="213967"/>
          </a:xfrm>
        </p:spPr>
        <p:txBody>
          <a:bodyPr>
            <a:noAutofit/>
          </a:bodyPr>
          <a:lstStyle>
            <a:lvl1pPr marL="0" indent="0">
              <a:lnSpc>
                <a:spcPts val="1350"/>
              </a:lnSpc>
              <a:buNone/>
              <a:defRPr sz="900" b="1" cap="all" baseline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/>
              <a:t>Category</a:t>
            </a: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32D29D53-BA80-7E40-AA03-21BB2EB32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92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6033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Header Grau - 2 Spalten - 12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-61645"/>
            <a:ext cx="9144000" cy="2199068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350" baseline="0"/>
            </a:lvl1pPr>
          </a:lstStyle>
          <a:p>
            <a:r>
              <a:rPr lang="de-DE"/>
              <a:t>Bitte Foto einsetzen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85577" y="688588"/>
            <a:ext cx="8431331" cy="819719"/>
          </a:xfrm>
        </p:spPr>
        <p:txBody>
          <a:bodyPr anchor="b">
            <a:noAutofit/>
          </a:bodyPr>
          <a:lstStyle>
            <a:lvl1pPr>
              <a:lnSpc>
                <a:spcPts val="3000"/>
              </a:lnSpc>
              <a:defRPr sz="3300" b="1" cap="all" baseline="0">
                <a:latin typeface="+mn-lt"/>
              </a:defRPr>
            </a:lvl1pPr>
          </a:lstStyle>
          <a:p>
            <a:r>
              <a:rPr lang="en-GB" noProof="0" err="1"/>
              <a:t>Mastertitelformat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 err="1"/>
              <a:t>bearbeiten</a:t>
            </a:r>
            <a:endParaRPr lang="en-GB" noProof="0"/>
          </a:p>
        </p:txBody>
      </p:sp>
      <p:pic>
        <p:nvPicPr>
          <p:cNvPr id="16" name="Bild 2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49394" y="4767712"/>
            <a:ext cx="194269" cy="223202"/>
          </a:xfrm>
          <a:prstGeom prst="rect">
            <a:avLst/>
          </a:prstGeom>
        </p:spPr>
      </p:pic>
      <p:cxnSp>
        <p:nvCxnSpPr>
          <p:cNvPr id="9" name="Gerade Verbindung 9"/>
          <p:cNvCxnSpPr/>
          <p:nvPr userDrawn="1"/>
        </p:nvCxnSpPr>
        <p:spPr>
          <a:xfrm>
            <a:off x="460094" y="468777"/>
            <a:ext cx="2864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3"/>
          <p:cNvSpPr>
            <a:spLocks noGrp="1"/>
          </p:cNvSpPr>
          <p:nvPr>
            <p:ph type="body" sz="half" idx="15"/>
          </p:nvPr>
        </p:nvSpPr>
        <p:spPr>
          <a:xfrm>
            <a:off x="385576" y="2460577"/>
            <a:ext cx="4131000" cy="2087079"/>
          </a:xfrm>
        </p:spPr>
        <p:txBody>
          <a:bodyPr>
            <a:normAutofit/>
          </a:bodyPr>
          <a:lstStyle>
            <a:lvl1pPr marL="0" indent="0">
              <a:lnSpc>
                <a:spcPts val="1200"/>
              </a:lnSpc>
              <a:buNone/>
              <a:defRPr sz="90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 err="1"/>
              <a:t>Mastertextformat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14" name="Textplatzhalt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4685907" y="2460578"/>
            <a:ext cx="4131000" cy="2087078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buFontTx/>
              <a:buNone/>
              <a:defRPr sz="900">
                <a:latin typeface="+mj-lt"/>
              </a:defRPr>
            </a:lvl1pPr>
          </a:lstStyle>
          <a:p>
            <a:pPr lvl="0"/>
            <a:r>
              <a:rPr lang="en-GB" noProof="0" err="1"/>
              <a:t>Mastertextformat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10" name="Textplatzhalter 3"/>
          <p:cNvSpPr>
            <a:spLocks noGrp="1"/>
          </p:cNvSpPr>
          <p:nvPr>
            <p:ph type="body" sz="half" idx="14" hasCustomPrompt="1"/>
          </p:nvPr>
        </p:nvSpPr>
        <p:spPr>
          <a:xfrm>
            <a:off x="385576" y="164983"/>
            <a:ext cx="4131000" cy="213967"/>
          </a:xfrm>
        </p:spPr>
        <p:txBody>
          <a:bodyPr>
            <a:noAutofit/>
          </a:bodyPr>
          <a:lstStyle>
            <a:lvl1pPr marL="0" indent="0">
              <a:lnSpc>
                <a:spcPts val="1350"/>
              </a:lnSpc>
              <a:buNone/>
              <a:defRPr sz="900" b="1" cap="all" baseline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/>
              <a:t>Category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EB797B40-A306-7545-8798-5423C248D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92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6718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Header Grau - 2 Spalten - 14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-61645"/>
            <a:ext cx="9144000" cy="2199068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350" baseline="0"/>
            </a:lvl1pPr>
          </a:lstStyle>
          <a:p>
            <a:r>
              <a:rPr lang="de-DE"/>
              <a:t>Bitte Foto einsetzen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85577" y="688588"/>
            <a:ext cx="8431331" cy="819719"/>
          </a:xfrm>
        </p:spPr>
        <p:txBody>
          <a:bodyPr anchor="b">
            <a:noAutofit/>
          </a:bodyPr>
          <a:lstStyle>
            <a:lvl1pPr>
              <a:lnSpc>
                <a:spcPts val="3000"/>
              </a:lnSpc>
              <a:defRPr sz="3300" b="1" cap="all" baseline="0">
                <a:latin typeface="+mn-lt"/>
              </a:defRPr>
            </a:lvl1pPr>
          </a:lstStyle>
          <a:p>
            <a:r>
              <a:rPr lang="en-GB" noProof="0" err="1"/>
              <a:t>Mastertitelformat</a:t>
            </a:r>
            <a:r>
              <a:rPr lang="en-GB" noProof="0"/>
              <a:t> </a:t>
            </a:r>
            <a:br>
              <a:rPr lang="en-GB" noProof="0"/>
            </a:br>
            <a:r>
              <a:rPr lang="en-GB" noProof="0" err="1"/>
              <a:t>bearbeiten</a:t>
            </a:r>
            <a:endParaRPr lang="en-GB" noProof="0"/>
          </a:p>
        </p:txBody>
      </p:sp>
      <p:pic>
        <p:nvPicPr>
          <p:cNvPr id="16" name="Bild 2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49394" y="4767712"/>
            <a:ext cx="194269" cy="223202"/>
          </a:xfrm>
          <a:prstGeom prst="rect">
            <a:avLst/>
          </a:prstGeom>
        </p:spPr>
      </p:pic>
      <p:cxnSp>
        <p:nvCxnSpPr>
          <p:cNvPr id="9" name="Gerade Verbindung 9"/>
          <p:cNvCxnSpPr/>
          <p:nvPr userDrawn="1"/>
        </p:nvCxnSpPr>
        <p:spPr>
          <a:xfrm>
            <a:off x="460094" y="468777"/>
            <a:ext cx="2864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3"/>
          <p:cNvSpPr>
            <a:spLocks noGrp="1"/>
          </p:cNvSpPr>
          <p:nvPr>
            <p:ph type="body" sz="half" idx="15"/>
          </p:nvPr>
        </p:nvSpPr>
        <p:spPr>
          <a:xfrm>
            <a:off x="385576" y="2460577"/>
            <a:ext cx="4131000" cy="2087079"/>
          </a:xfrm>
        </p:spPr>
        <p:txBody>
          <a:bodyPr>
            <a:normAutofit/>
          </a:bodyPr>
          <a:lstStyle>
            <a:lvl1pPr marL="0" indent="0">
              <a:lnSpc>
                <a:spcPts val="1350"/>
              </a:lnSpc>
              <a:buNone/>
              <a:defRPr sz="1050"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 err="1"/>
              <a:t>Mastertextformat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14" name="Textplatzhalter 14"/>
          <p:cNvSpPr>
            <a:spLocks noGrp="1"/>
          </p:cNvSpPr>
          <p:nvPr>
            <p:ph type="body" sz="quarter" idx="16" hasCustomPrompt="1"/>
          </p:nvPr>
        </p:nvSpPr>
        <p:spPr>
          <a:xfrm>
            <a:off x="4685907" y="2460578"/>
            <a:ext cx="4131000" cy="2087078"/>
          </a:xfrm>
        </p:spPr>
        <p:txBody>
          <a:bodyPr>
            <a:noAutofit/>
          </a:bodyPr>
          <a:lstStyle>
            <a:lvl1pPr marL="0" indent="0">
              <a:lnSpc>
                <a:spcPts val="1350"/>
              </a:lnSpc>
              <a:buFontTx/>
              <a:buNone/>
              <a:defRPr sz="1050">
                <a:latin typeface="+mj-lt"/>
              </a:defRPr>
            </a:lvl1pPr>
          </a:lstStyle>
          <a:p>
            <a:pPr lvl="0"/>
            <a:r>
              <a:rPr lang="en-GB" noProof="0" err="1"/>
              <a:t>Mastertextformat</a:t>
            </a:r>
            <a:r>
              <a:rPr lang="en-GB" noProof="0"/>
              <a:t> </a:t>
            </a:r>
            <a:r>
              <a:rPr lang="en-GB" noProof="0" err="1"/>
              <a:t>bearbeiten</a:t>
            </a:r>
            <a:endParaRPr lang="en-GB" noProof="0"/>
          </a:p>
        </p:txBody>
      </p:sp>
      <p:sp>
        <p:nvSpPr>
          <p:cNvPr id="10" name="Textplatzhalter 3"/>
          <p:cNvSpPr>
            <a:spLocks noGrp="1"/>
          </p:cNvSpPr>
          <p:nvPr>
            <p:ph type="body" sz="half" idx="14" hasCustomPrompt="1"/>
          </p:nvPr>
        </p:nvSpPr>
        <p:spPr>
          <a:xfrm>
            <a:off x="385576" y="164983"/>
            <a:ext cx="4131000" cy="213967"/>
          </a:xfrm>
        </p:spPr>
        <p:txBody>
          <a:bodyPr>
            <a:noAutofit/>
          </a:bodyPr>
          <a:lstStyle>
            <a:lvl1pPr marL="0" indent="0">
              <a:lnSpc>
                <a:spcPts val="1350"/>
              </a:lnSpc>
              <a:buNone/>
              <a:defRPr sz="900" b="1" cap="all" baseline="0">
                <a:solidFill>
                  <a:schemeClr val="bg1">
                    <a:lumMod val="65000"/>
                  </a:schemeClr>
                </a:solidFill>
                <a:latin typeface="+mj-lt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noProof="0"/>
              <a:t>Category</a:t>
            </a:r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64EFFFA5-65F0-954B-A3FD-7362CDF97D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92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8562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60569B3-9B39-1B2F-041D-B4924DB2A2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32956202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54" imgH="456" progId="TCLayout.ActiveDocument.1">
                  <p:embed/>
                </p:oleObj>
              </mc:Choice>
              <mc:Fallback>
                <p:oleObj name="think-cell Slide" r:id="rId25" imgW="454" imgH="45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0569B3-9B39-1B2F-041D-B4924DB2A2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435B8-5B2C-B740-909F-F439BFE4C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9051" y="4839834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18A3-1793-2149-900A-53CEDCCBA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90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1" r:id="rId12"/>
    <p:sldLayoutId id="2147483694" r:id="rId13"/>
    <p:sldLayoutId id="2147483676" r:id="rId14"/>
    <p:sldLayoutId id="2147483683" r:id="rId15"/>
    <p:sldLayoutId id="2147483686" r:id="rId16"/>
    <p:sldLayoutId id="2147483685" r:id="rId17"/>
    <p:sldLayoutId id="2147483697" r:id="rId18"/>
    <p:sldLayoutId id="2147483689" r:id="rId19"/>
    <p:sldLayoutId id="2147483688" r:id="rId20"/>
    <p:sldLayoutId id="2147483690" r:id="rId21"/>
    <p:sldLayoutId id="2147483691" r:id="rId2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257/aer.20231246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AA_2F59D6B2.xm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FC3B6-5005-94C9-5809-B5213A217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>
            <a:extLst>
              <a:ext uri="{FF2B5EF4-FFF2-40B4-BE49-F238E27FC236}">
                <a16:creationId xmlns:a16="http://schemas.microsoft.com/office/drawing/2014/main" id="{04F46B2F-A402-14C1-4666-55C2CEE97A4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6" name="Bild 9">
            <a:extLst>
              <a:ext uri="{FF2B5EF4-FFF2-40B4-BE49-F238E27FC236}">
                <a16:creationId xmlns:a16="http://schemas.microsoft.com/office/drawing/2014/main" id="{65DD3B63-FD17-601C-8575-587F7A00D8A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29598" y="316008"/>
            <a:ext cx="1327433" cy="838355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A4C278D6-387C-6463-BCEE-3EEC1893C5B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61000"/>
            </a:schemeClr>
          </a:solidFill>
          <a:ln>
            <a:noFill/>
          </a:ln>
          <a:effectLst>
            <a:outerShdw blurRad="63500" dist="38100" dir="2700000">
              <a:srgbClr val="000000">
                <a:alpha val="1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Gerade Verbindung 4">
            <a:extLst>
              <a:ext uri="{FF2B5EF4-FFF2-40B4-BE49-F238E27FC236}">
                <a16:creationId xmlns:a16="http://schemas.microsoft.com/office/drawing/2014/main" id="{307F05D7-EC09-2FAF-B706-2975DFC87B35}"/>
              </a:ext>
            </a:extLst>
          </p:cNvPr>
          <p:cNvCxnSpPr/>
          <p:nvPr/>
        </p:nvCxnSpPr>
        <p:spPr>
          <a:xfrm>
            <a:off x="487632" y="3187768"/>
            <a:ext cx="5729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66CF2085-DE11-849C-D4C1-12D66CC0C0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909" y="1283386"/>
            <a:ext cx="7230341" cy="1816677"/>
          </a:xfrm>
        </p:spPr>
        <p:txBody>
          <a:bodyPr>
            <a:normAutofit/>
          </a:bodyPr>
          <a:lstStyle/>
          <a:p>
            <a:pPr algn="l">
              <a:lnSpc>
                <a:spcPct val="75000"/>
              </a:lnSpc>
              <a:spcBef>
                <a:spcPts val="0"/>
              </a:spcBef>
            </a:pPr>
            <a:r>
              <a:rPr lang="en-GB" sz="2800" b="1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VaR</a:t>
            </a:r>
            <a:r>
              <a:rPr lang="en-GB" sz="2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calculation and evolution</a:t>
            </a:r>
          </a:p>
        </p:txBody>
      </p:sp>
      <p:sp>
        <p:nvSpPr>
          <p:cNvPr id="13" name="Subtitle 9">
            <a:extLst>
              <a:ext uri="{FF2B5EF4-FFF2-40B4-BE49-F238E27FC236}">
                <a16:creationId xmlns:a16="http://schemas.microsoft.com/office/drawing/2014/main" id="{4210AF97-03C1-C7CE-92B2-F3720C96EF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908" y="3394255"/>
            <a:ext cx="7520248" cy="124182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l"/>
            <a:r>
              <a:rPr lang="en-GB" b="1" dirty="0">
                <a:solidFill>
                  <a:srgbClr val="FFFFFF"/>
                </a:solidFill>
                <a:ea typeface="Calibri"/>
                <a:cs typeface="Calibri"/>
              </a:rPr>
              <a:t>Market Risk Modelling</a:t>
            </a:r>
          </a:p>
          <a:p>
            <a:pPr algn="l"/>
            <a:r>
              <a:rPr lang="en-GB" i="1" dirty="0">
                <a:solidFill>
                  <a:srgbClr val="FFFFFF"/>
                </a:solidFill>
                <a:ea typeface="Calibri"/>
                <a:cs typeface="Calibri"/>
              </a:rPr>
              <a:t>Dr. Sebastian Irle</a:t>
            </a:r>
          </a:p>
          <a:p>
            <a:pPr algn="l"/>
            <a:endParaRPr lang="en-GB" b="1" dirty="0">
              <a:solidFill>
                <a:srgbClr val="FFFFFF"/>
              </a:solidFill>
              <a:ea typeface="Calibri"/>
              <a:cs typeface="Calibri"/>
            </a:endParaRPr>
          </a:p>
          <a:p>
            <a:pPr algn="l"/>
            <a:r>
              <a:rPr lang="en-GB" b="1" dirty="0">
                <a:solidFill>
                  <a:srgbClr val="FFFFFF"/>
                </a:solidFill>
                <a:ea typeface="Calibri"/>
                <a:cs typeface="Calibri"/>
              </a:rPr>
              <a:t>Group 4: </a:t>
            </a:r>
            <a:r>
              <a:rPr lang="en-GB" dirty="0">
                <a:solidFill>
                  <a:srgbClr val="FFFFFF"/>
                </a:solidFill>
                <a:ea typeface="Calibri"/>
                <a:cs typeface="Calibri"/>
              </a:rPr>
              <a:t>Bilguudei Enkhbaatar (</a:t>
            </a:r>
            <a:r>
              <a:rPr lang="en-GB" dirty="0" err="1">
                <a:solidFill>
                  <a:srgbClr val="FFFFFF"/>
                </a:solidFill>
                <a:ea typeface="Calibri"/>
                <a:cs typeface="Calibri"/>
              </a:rPr>
              <a:t>xxxxxx</a:t>
            </a:r>
            <a:r>
              <a:rPr lang="en-GB" dirty="0">
                <a:solidFill>
                  <a:srgbClr val="FFFFFF"/>
                </a:solidFill>
                <a:ea typeface="Calibri"/>
                <a:cs typeface="Calibri"/>
              </a:rPr>
              <a:t>), Cornelius </a:t>
            </a:r>
            <a:r>
              <a:rPr lang="en-GB" dirty="0" err="1">
                <a:solidFill>
                  <a:srgbClr val="FFFFFF"/>
                </a:solidFill>
                <a:ea typeface="Calibri"/>
                <a:cs typeface="Calibri"/>
              </a:rPr>
              <a:t>Dziuron</a:t>
            </a:r>
            <a:r>
              <a:rPr lang="en-GB" dirty="0">
                <a:solidFill>
                  <a:srgbClr val="FFFFFF"/>
                </a:solidFill>
                <a:ea typeface="Calibri"/>
                <a:cs typeface="Calibri"/>
              </a:rPr>
              <a:t> (</a:t>
            </a:r>
            <a:r>
              <a:rPr lang="en-GB" dirty="0" err="1">
                <a:solidFill>
                  <a:srgbClr val="FFFFFF"/>
                </a:solidFill>
                <a:ea typeface="Calibri"/>
                <a:cs typeface="Calibri"/>
              </a:rPr>
              <a:t>xxxxxx</a:t>
            </a:r>
            <a:r>
              <a:rPr lang="en-GB" dirty="0">
                <a:solidFill>
                  <a:srgbClr val="FFFFFF"/>
                </a:solidFill>
                <a:ea typeface="Calibri"/>
                <a:cs typeface="Calibri"/>
              </a:rPr>
              <a:t>), Jonas Hoelscher (</a:t>
            </a:r>
            <a:r>
              <a:rPr lang="en-GB" dirty="0" err="1">
                <a:solidFill>
                  <a:srgbClr val="FFFFFF"/>
                </a:solidFill>
                <a:ea typeface="Calibri"/>
                <a:cs typeface="Calibri"/>
              </a:rPr>
              <a:t>xxxxxx</a:t>
            </a:r>
            <a:r>
              <a:rPr lang="en-GB" dirty="0">
                <a:solidFill>
                  <a:srgbClr val="FFFFFF"/>
                </a:solidFill>
                <a:ea typeface="Calibri"/>
                <a:cs typeface="Calibri"/>
              </a:rPr>
              <a:t>), Ben-Luca </a:t>
            </a:r>
            <a:r>
              <a:rPr lang="en-GB" dirty="0" err="1">
                <a:solidFill>
                  <a:srgbClr val="FFFFFF"/>
                </a:solidFill>
                <a:ea typeface="Calibri"/>
                <a:cs typeface="Calibri"/>
              </a:rPr>
              <a:t>Lösche</a:t>
            </a:r>
            <a:r>
              <a:rPr lang="en-GB" dirty="0">
                <a:solidFill>
                  <a:srgbClr val="FFFFFF"/>
                </a:solidFill>
                <a:ea typeface="Calibri"/>
                <a:cs typeface="Calibri"/>
              </a:rPr>
              <a:t> (</a:t>
            </a:r>
            <a:r>
              <a:rPr lang="en-GB" dirty="0" err="1">
                <a:solidFill>
                  <a:srgbClr val="FFFFFF"/>
                </a:solidFill>
                <a:ea typeface="Calibri"/>
                <a:cs typeface="Calibri"/>
              </a:rPr>
              <a:t>xxxxxx</a:t>
            </a:r>
            <a:r>
              <a:rPr lang="en-GB" dirty="0">
                <a:solidFill>
                  <a:srgbClr val="FFFFFF"/>
                </a:solidFill>
                <a:ea typeface="Calibri"/>
                <a:cs typeface="Calibri"/>
              </a:rPr>
              <a:t>), Kira Pedersen (</a:t>
            </a:r>
            <a:r>
              <a:rPr lang="en-GB" dirty="0" err="1">
                <a:solidFill>
                  <a:srgbClr val="FFFFFF"/>
                </a:solidFill>
                <a:ea typeface="Calibri"/>
                <a:cs typeface="Calibri"/>
              </a:rPr>
              <a:t>xxxxx</a:t>
            </a:r>
            <a:r>
              <a:rPr lang="en-GB" dirty="0">
                <a:solidFill>
                  <a:srgbClr val="FFFFFF"/>
                </a:solidFill>
                <a:ea typeface="Calibri"/>
                <a:cs typeface="Calibri"/>
              </a:rPr>
              <a:t>), Keanu Kilka (8542714)</a:t>
            </a:r>
          </a:p>
        </p:txBody>
      </p:sp>
    </p:spTree>
    <p:extLst>
      <p:ext uri="{BB962C8B-B14F-4D97-AF65-F5344CB8AC3E}">
        <p14:creationId xmlns:p14="http://schemas.microsoft.com/office/powerpoint/2010/main" val="2276825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233AF-A19A-A302-5E3F-11B70DB1F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A35C4-2C88-F5FA-636E-B6E7C91F7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545" y="1211765"/>
            <a:ext cx="3843455" cy="345164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85445" indent="-385445">
              <a:lnSpc>
                <a:spcPct val="150000"/>
              </a:lnSpc>
              <a:buFont typeface="+mj-lt"/>
              <a:buAutoNum type="romanUcPeriod"/>
            </a:pPr>
            <a:r>
              <a:rPr lang="en-GB" sz="1600" b="1" dirty="0">
                <a:solidFill>
                  <a:srgbClr val="44546A"/>
                </a:solidFill>
              </a:rPr>
              <a:t>Portfolio Overview</a:t>
            </a:r>
          </a:p>
          <a:p>
            <a:pPr marL="385445" indent="-385445">
              <a:lnSpc>
                <a:spcPct val="150000"/>
              </a:lnSpc>
              <a:buFont typeface="+mj-lt"/>
              <a:buAutoNum type="romanUcPeriod"/>
            </a:pPr>
            <a:r>
              <a:rPr lang="en-GB" sz="1600" b="1" dirty="0">
                <a:solidFill>
                  <a:srgbClr val="44546A"/>
                </a:solidFill>
                <a:ea typeface="Calibri" panose="020F0502020204030204"/>
                <a:cs typeface="Calibri" panose="020F0502020204030204"/>
              </a:rPr>
              <a:t>Data and Methodology</a:t>
            </a:r>
          </a:p>
          <a:p>
            <a:pPr marL="385445" indent="-385445">
              <a:lnSpc>
                <a:spcPct val="150000"/>
              </a:lnSpc>
              <a:buFont typeface="+mj-lt"/>
              <a:buAutoNum type="romanUcPeriod"/>
            </a:pPr>
            <a:r>
              <a:rPr lang="en-GB" sz="1600" b="1" dirty="0">
                <a:solidFill>
                  <a:srgbClr val="44546A"/>
                </a:solidFill>
                <a:ea typeface="Calibri" panose="020F0502020204030204"/>
                <a:cs typeface="Calibri" panose="020F0502020204030204"/>
              </a:rPr>
              <a:t>Delta-Normal</a:t>
            </a:r>
          </a:p>
          <a:p>
            <a:pPr marL="385445" indent="-385445">
              <a:lnSpc>
                <a:spcPct val="150000"/>
              </a:lnSpc>
              <a:buFont typeface="+mj-lt"/>
              <a:buAutoNum type="romanUcPeriod"/>
            </a:pPr>
            <a:r>
              <a:rPr lang="en-GB" sz="1600" b="1" dirty="0">
                <a:solidFill>
                  <a:srgbClr val="44546A"/>
                </a:solidFill>
              </a:rPr>
              <a:t>Historical Simulation</a:t>
            </a:r>
          </a:p>
          <a:p>
            <a:pPr marL="385445" indent="-385445">
              <a:lnSpc>
                <a:spcPct val="150000"/>
              </a:lnSpc>
              <a:buFont typeface="+mj-lt"/>
              <a:buAutoNum type="romanUcPeriod"/>
            </a:pPr>
            <a:r>
              <a:rPr lang="en-GB" sz="1600" b="1" dirty="0">
                <a:solidFill>
                  <a:srgbClr val="44546A"/>
                </a:solidFill>
              </a:rPr>
              <a:t>Monte-Carlo-Simulation</a:t>
            </a:r>
          </a:p>
          <a:p>
            <a:pPr marL="385445" indent="-385445">
              <a:lnSpc>
                <a:spcPct val="150000"/>
              </a:lnSpc>
              <a:buFont typeface="+mj-lt"/>
              <a:buAutoNum type="romanUcPeriod"/>
            </a:pPr>
            <a:r>
              <a:rPr lang="en-GB" sz="1600" b="1" dirty="0">
                <a:solidFill>
                  <a:srgbClr val="44546A"/>
                </a:solidFill>
              </a:rPr>
              <a:t>GARCH</a:t>
            </a:r>
          </a:p>
          <a:p>
            <a:pPr marL="385445" indent="-385445">
              <a:lnSpc>
                <a:spcPct val="150000"/>
              </a:lnSpc>
              <a:buFont typeface="+mj-lt"/>
              <a:buAutoNum type="romanUcPeriod"/>
            </a:pPr>
            <a:r>
              <a:rPr lang="en-GB" sz="1600" b="1" dirty="0">
                <a:solidFill>
                  <a:srgbClr val="44546A"/>
                </a:solidFill>
                <a:ea typeface="Calibri" panose="020F0502020204030204"/>
                <a:cs typeface="Calibri" panose="020F0502020204030204"/>
              </a:rPr>
              <a:t>EVT</a:t>
            </a:r>
            <a:endParaRPr lang="en-GB" sz="1600" dirty="0">
              <a:solidFill>
                <a:srgbClr val="44546A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1400" dirty="0">
              <a:solidFill>
                <a:srgbClr val="44546A"/>
              </a:solidFill>
            </a:endParaRP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35138BA5-0FC1-9A98-2567-9E99AA6F32CE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B000C30-A922-54BC-D855-DEF0C3A78C44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</a:rPr>
              <a:t>Table of Contents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4F028-2781-408A-EA54-9EE3D3F65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006" y="353319"/>
            <a:ext cx="3028891" cy="213419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13F5751-FB99-A23B-BF74-2CA876459CE7}"/>
              </a:ext>
            </a:extLst>
          </p:cNvPr>
          <p:cNvSpPr txBox="1">
            <a:spLocks/>
          </p:cNvSpPr>
          <p:nvPr/>
        </p:nvSpPr>
        <p:spPr>
          <a:xfrm>
            <a:off x="4572000" y="1211765"/>
            <a:ext cx="3843455" cy="34516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indent="-400050">
              <a:lnSpc>
                <a:spcPct val="150000"/>
              </a:lnSpc>
              <a:buFont typeface="+mj-lt"/>
              <a:buAutoNum type="romanUcPeriod" startAt="8"/>
            </a:pPr>
            <a:r>
              <a:rPr lang="en-GB" sz="1600" b="1" dirty="0">
                <a:solidFill>
                  <a:srgbClr val="44546A"/>
                </a:solidFill>
                <a:ea typeface="Calibri" panose="020F0502020204030204"/>
                <a:cs typeface="Calibri" panose="020F0502020204030204"/>
              </a:rPr>
              <a:t>GARCH + EVT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 startAt="8"/>
            </a:pPr>
            <a:r>
              <a:rPr lang="en-GB" sz="1600" b="1" dirty="0">
                <a:solidFill>
                  <a:srgbClr val="44546A"/>
                </a:solidFill>
                <a:ea typeface="Calibri" panose="020F0502020204030204"/>
                <a:cs typeface="Calibri" panose="020F0502020204030204"/>
              </a:rPr>
              <a:t>Assumption Validation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 startAt="8"/>
            </a:pPr>
            <a:r>
              <a:rPr lang="en-GB" sz="1600" b="1" dirty="0" err="1">
                <a:solidFill>
                  <a:srgbClr val="44546A"/>
                </a:solidFill>
                <a:ea typeface="Calibri" panose="020F0502020204030204"/>
                <a:cs typeface="Calibri" panose="020F0502020204030204"/>
              </a:rPr>
              <a:t>Backtesting</a:t>
            </a:r>
            <a:endParaRPr lang="en-GB" sz="1600" b="1" dirty="0">
              <a:solidFill>
                <a:srgbClr val="44546A"/>
              </a:solidFill>
              <a:ea typeface="Calibri" panose="020F0502020204030204"/>
              <a:cs typeface="Calibri" panose="020F0502020204030204"/>
            </a:endParaRPr>
          </a:p>
          <a:p>
            <a:pPr marL="400050" indent="-400050">
              <a:lnSpc>
                <a:spcPct val="150000"/>
              </a:lnSpc>
              <a:buFont typeface="+mj-lt"/>
              <a:buAutoNum type="romanUcPeriod" startAt="8"/>
            </a:pPr>
            <a:r>
              <a:rPr lang="en-GB" sz="1600" b="1" dirty="0">
                <a:solidFill>
                  <a:srgbClr val="44546A"/>
                </a:solidFill>
                <a:ea typeface="Calibri" panose="020F0502020204030204"/>
                <a:cs typeface="Calibri" panose="020F0502020204030204"/>
              </a:rPr>
              <a:t>Comparative Results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 startAt="8"/>
            </a:pPr>
            <a:r>
              <a:rPr lang="en-GB" sz="1600" b="1" dirty="0">
                <a:solidFill>
                  <a:srgbClr val="44546A"/>
                </a:solidFill>
                <a:ea typeface="Calibri" panose="020F0502020204030204"/>
                <a:cs typeface="Calibri" panose="020F0502020204030204"/>
              </a:rPr>
              <a:t>Conclusion</a:t>
            </a:r>
          </a:p>
          <a:p>
            <a:pPr marL="400050" indent="-400050">
              <a:lnSpc>
                <a:spcPct val="150000"/>
              </a:lnSpc>
              <a:buFont typeface="+mj-lt"/>
              <a:buAutoNum type="romanUcPeriod" startAt="8"/>
            </a:pPr>
            <a:endParaRPr lang="en-GB" sz="1600" dirty="0">
              <a:solidFill>
                <a:srgbClr val="44546A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GB" sz="1400" dirty="0">
              <a:solidFill>
                <a:srgbClr val="4454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35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47A68-58C6-94BA-C06D-F3B99A9D2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2D82A-48E7-C3AF-1454-38A47CEDF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75" y="3381521"/>
            <a:ext cx="8533699" cy="1965394"/>
          </a:xfrm>
        </p:spPr>
        <p:txBody>
          <a:bodyPr anchor="t"/>
          <a:lstStyle/>
          <a:p>
            <a:r>
              <a:rPr lang="de-DE" dirty="0"/>
              <a:t>M</a:t>
            </a:r>
            <a:r>
              <a:rPr lang="en-GB" dirty="0" err="1"/>
              <a:t>ethodology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5004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AE657-1B87-AABF-6327-1921197CD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B7E2C4AB-4273-A853-7CF5-1EB1E0C88FFA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31B48D6E-B519-2C2D-2AE1-198AF811D9A8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solidFill>
                  <a:schemeClr val="tx2"/>
                </a:solidFill>
                <a:ea typeface="Calibri"/>
                <a:cs typeface="Calibri"/>
              </a:rPr>
              <a:t>Portfolio Overview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1F3A68A3-2173-3EFA-D1EC-8638A7775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252346"/>
              </p:ext>
            </p:extLst>
          </p:nvPr>
        </p:nvGraphicFramePr>
        <p:xfrm>
          <a:off x="1436879" y="1499926"/>
          <a:ext cx="6275884" cy="28732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68971">
                  <a:extLst>
                    <a:ext uri="{9D8B030D-6E8A-4147-A177-3AD203B41FA5}">
                      <a16:colId xmlns:a16="http://schemas.microsoft.com/office/drawing/2014/main" val="600539238"/>
                    </a:ext>
                  </a:extLst>
                </a:gridCol>
                <a:gridCol w="1568971">
                  <a:extLst>
                    <a:ext uri="{9D8B030D-6E8A-4147-A177-3AD203B41FA5}">
                      <a16:colId xmlns:a16="http://schemas.microsoft.com/office/drawing/2014/main" val="1312955455"/>
                    </a:ext>
                  </a:extLst>
                </a:gridCol>
                <a:gridCol w="1568971">
                  <a:extLst>
                    <a:ext uri="{9D8B030D-6E8A-4147-A177-3AD203B41FA5}">
                      <a16:colId xmlns:a16="http://schemas.microsoft.com/office/drawing/2014/main" val="448469412"/>
                    </a:ext>
                  </a:extLst>
                </a:gridCol>
                <a:gridCol w="1568971">
                  <a:extLst>
                    <a:ext uri="{9D8B030D-6E8A-4147-A177-3AD203B41FA5}">
                      <a16:colId xmlns:a16="http://schemas.microsoft.com/office/drawing/2014/main" val="2860290625"/>
                    </a:ext>
                  </a:extLst>
                </a:gridCol>
              </a:tblGrid>
              <a:tr h="373479">
                <a:tc>
                  <a:txBody>
                    <a:bodyPr/>
                    <a:lstStyle/>
                    <a:p>
                      <a:pPr algn="ctr"/>
                      <a:r>
                        <a:rPr lang="de-DE" sz="1350" dirty="0"/>
                        <a:t>Ticker</a:t>
                      </a:r>
                    </a:p>
                  </a:txBody>
                  <a:tcPr anchor="ctr">
                    <a:solidFill>
                      <a:srgbClr val="3C5C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50" dirty="0"/>
                        <a:t>Description</a:t>
                      </a:r>
                    </a:p>
                  </a:txBody>
                  <a:tcPr anchor="ctr">
                    <a:solidFill>
                      <a:srgbClr val="3C5C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50" dirty="0"/>
                        <a:t>Class</a:t>
                      </a:r>
                    </a:p>
                  </a:txBody>
                  <a:tcPr anchor="ctr">
                    <a:solidFill>
                      <a:srgbClr val="3C5C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50" dirty="0"/>
                        <a:t>Type</a:t>
                      </a:r>
                    </a:p>
                  </a:txBody>
                  <a:tcPr anchor="ctr">
                    <a:solidFill>
                      <a:srgbClr val="3C5C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127078"/>
                  </a:ext>
                </a:extLst>
              </a:tr>
              <a:tr h="373479">
                <a:tc>
                  <a:txBody>
                    <a:bodyPr/>
                    <a:lstStyle/>
                    <a:p>
                      <a:r>
                        <a:rPr lang="de-DE" sz="1350" b="1" dirty="0"/>
                        <a:t>SPY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 ETF</a:t>
                      </a:r>
                      <a:endParaRPr lang="de-DE" sz="1350" b="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de-DE" sz="1350" b="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de-DE" sz="1350" b="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642396"/>
                  </a:ext>
                </a:extLst>
              </a:tr>
              <a:tr h="462144">
                <a:tc>
                  <a:txBody>
                    <a:bodyPr/>
                    <a:lstStyle/>
                    <a:p>
                      <a:r>
                        <a:rPr lang="de-DE" sz="1350" b="1" dirty="0"/>
                        <a:t>IEF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50" b="0" dirty="0"/>
                        <a:t>7-10Y US Treasury ETF 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50" b="0" dirty="0"/>
                        <a:t>Fixed Income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50" b="0" dirty="0"/>
                        <a:t>Linear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137217"/>
                  </a:ext>
                </a:extLst>
              </a:tr>
              <a:tr h="373479">
                <a:tc>
                  <a:txBody>
                    <a:bodyPr/>
                    <a:lstStyle/>
                    <a:p>
                      <a:r>
                        <a:rPr lang="de-DE" sz="1350" b="1" dirty="0"/>
                        <a:t>GLD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50" b="0" dirty="0"/>
                        <a:t>Gold ETF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50" b="0" dirty="0" err="1"/>
                        <a:t>Commodity</a:t>
                      </a:r>
                      <a:endParaRPr lang="de-DE" sz="1350" b="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50" b="0" dirty="0"/>
                        <a:t>Linear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262503"/>
                  </a:ext>
                </a:extLst>
              </a:tr>
              <a:tr h="373479">
                <a:tc>
                  <a:txBody>
                    <a:bodyPr/>
                    <a:lstStyle/>
                    <a:p>
                      <a:r>
                        <a:rPr lang="de-DE" sz="1350" b="1" dirty="0"/>
                        <a:t>EUR/USD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50" b="0" dirty="0"/>
                        <a:t>EUR/USD Spot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50" b="0" dirty="0"/>
                        <a:t>FX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50" b="0" dirty="0"/>
                        <a:t>Linear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541349"/>
                  </a:ext>
                </a:extLst>
              </a:tr>
              <a:tr h="373479">
                <a:tc>
                  <a:txBody>
                    <a:bodyPr/>
                    <a:lstStyle/>
                    <a:p>
                      <a:r>
                        <a:rPr lang="de-DE" sz="1350" b="1" dirty="0"/>
                        <a:t>IRS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50" b="0" dirty="0"/>
                        <a:t>Interest Rate Swap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50" b="0" dirty="0"/>
                        <a:t>Rates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50" b="0" dirty="0"/>
                        <a:t>Non-linear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030732"/>
                  </a:ext>
                </a:extLst>
              </a:tr>
              <a:tr h="373479">
                <a:tc>
                  <a:txBody>
                    <a:bodyPr/>
                    <a:lstStyle/>
                    <a:p>
                      <a:r>
                        <a:rPr lang="de-DE" sz="1350" b="1" dirty="0" err="1"/>
                        <a:t>Straddle</a:t>
                      </a:r>
                      <a:endParaRPr lang="de-DE" sz="1350" b="1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350" b="0" dirty="0"/>
                        <a:t>ATM </a:t>
                      </a:r>
                      <a:r>
                        <a:rPr lang="de-DE" sz="1350" b="0" dirty="0" err="1"/>
                        <a:t>Straddle</a:t>
                      </a:r>
                      <a:r>
                        <a:rPr lang="de-DE" sz="1350" b="0" dirty="0"/>
                        <a:t> on SPY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50" b="0" dirty="0" err="1"/>
                        <a:t>Eq</a:t>
                      </a:r>
                      <a:r>
                        <a:rPr lang="de-DE" sz="1350" b="0" dirty="0"/>
                        <a:t>. Vol.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350" b="0" dirty="0"/>
                        <a:t>Non-linear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38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9065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CBBF4-C3A3-47BF-708A-7780F9B4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FF5984B-177D-3B35-44E2-B53BD4EBF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190847"/>
              </p:ext>
            </p:extLst>
          </p:nvPr>
        </p:nvGraphicFramePr>
        <p:xfrm>
          <a:off x="840390" y="1593636"/>
          <a:ext cx="3707794" cy="2786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8239">
                  <a:extLst>
                    <a:ext uri="{9D8B030D-6E8A-4147-A177-3AD203B41FA5}">
                      <a16:colId xmlns:a16="http://schemas.microsoft.com/office/drawing/2014/main" val="3863566185"/>
                    </a:ext>
                  </a:extLst>
                </a:gridCol>
                <a:gridCol w="2639555">
                  <a:extLst>
                    <a:ext uri="{9D8B030D-6E8A-4147-A177-3AD203B41FA5}">
                      <a16:colId xmlns:a16="http://schemas.microsoft.com/office/drawing/2014/main" val="1646262445"/>
                    </a:ext>
                  </a:extLst>
                </a:gridCol>
              </a:tblGrid>
              <a:tr h="29322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040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 err="1"/>
                        <a:t>Period</a:t>
                      </a:r>
                      <a:r>
                        <a:rPr lang="de-DE" b="1" dirty="0"/>
                        <a:t>:</a:t>
                      </a:r>
                      <a:endParaRPr lang="en-GB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 err="1"/>
                        <a:t>January</a:t>
                      </a:r>
                      <a:r>
                        <a:rPr lang="de-DE" dirty="0"/>
                        <a:t> 2006 – </a:t>
                      </a:r>
                      <a:r>
                        <a:rPr lang="de-DE" dirty="0" err="1"/>
                        <a:t>December</a:t>
                      </a:r>
                      <a:r>
                        <a:rPr lang="de-DE" dirty="0"/>
                        <a:t> 2024</a:t>
                      </a:r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983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/>
                        <a:t>Horizon:</a:t>
                      </a:r>
                      <a:endParaRPr lang="en-GB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b="0" dirty="0"/>
                        <a:t>1-day, 99% </a:t>
                      </a:r>
                      <a:r>
                        <a:rPr lang="de-DE" b="0" dirty="0" err="1"/>
                        <a:t>confidence</a:t>
                      </a:r>
                      <a:r>
                        <a:rPr lang="de-DE" b="0" dirty="0"/>
                        <a:t> </a:t>
                      </a:r>
                      <a:r>
                        <a:rPr lang="de-DE" b="0" dirty="0" err="1"/>
                        <a:t>level</a:t>
                      </a:r>
                      <a:endParaRPr lang="en-GB" b="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786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/>
                        <a:t>Risk </a:t>
                      </a:r>
                      <a:r>
                        <a:rPr lang="de-DE" b="1" dirty="0" err="1"/>
                        <a:t>Factors</a:t>
                      </a:r>
                      <a:r>
                        <a:rPr lang="de-DE" b="1" dirty="0"/>
                        <a:t>:</a:t>
                      </a:r>
                      <a:endParaRPr lang="en-GB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Asset </a:t>
                      </a:r>
                      <a:r>
                        <a:rPr lang="de-DE" dirty="0" err="1"/>
                        <a:t>prices</a:t>
                      </a:r>
                      <a:r>
                        <a:rPr lang="de-DE" dirty="0"/>
                        <a:t>, DGS10(FRED), VIX</a:t>
                      </a:r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788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/>
                        <a:t>Pricing:</a:t>
                      </a:r>
                      <a:endParaRPr lang="en-GB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 err="1"/>
                        <a:t>Full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repricing</a:t>
                      </a:r>
                      <a:r>
                        <a:rPr lang="de-DE" dirty="0"/>
                        <a:t>, IRS (DV01), </a:t>
                      </a:r>
                      <a:r>
                        <a:rPr lang="de-DE" dirty="0" err="1"/>
                        <a:t>Straddle</a:t>
                      </a:r>
                      <a:r>
                        <a:rPr lang="de-DE" dirty="0"/>
                        <a:t> (B-S)</a:t>
                      </a:r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165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/>
                        <a:t>Data:</a:t>
                      </a:r>
                      <a:endParaRPr lang="en-GB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Yahoo Finance + FRED</a:t>
                      </a:r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863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b="1" dirty="0"/>
                        <a:t>Est. </a:t>
                      </a:r>
                      <a:r>
                        <a:rPr lang="de-DE" b="1" dirty="0" err="1"/>
                        <a:t>Window</a:t>
                      </a:r>
                      <a:r>
                        <a:rPr lang="de-DE" b="1" dirty="0"/>
                        <a:t>:</a:t>
                      </a:r>
                      <a:endParaRPr lang="en-GB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/>
                        <a:t>250-day </a:t>
                      </a:r>
                      <a:r>
                        <a:rPr lang="de-DE" dirty="0" err="1"/>
                        <a:t>rolling</a:t>
                      </a:r>
                      <a:r>
                        <a:rPr lang="de-DE" dirty="0"/>
                        <a:t>, </a:t>
                      </a:r>
                      <a:r>
                        <a:rPr lang="de-DE" dirty="0" err="1"/>
                        <a:t>re-estimated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daily</a:t>
                      </a:r>
                      <a:endParaRPr lang="en-GB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2809917"/>
                  </a:ext>
                </a:extLst>
              </a:tr>
            </a:tbl>
          </a:graphicData>
        </a:graphic>
      </p:graphicFrame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90B04AD4-E490-FC55-ED0A-C4D9168BCA86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1905D02C-0560-675A-2E80-A0B9B665026F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solidFill>
                  <a:schemeClr val="tx2"/>
                </a:solidFill>
                <a:ea typeface="Calibri"/>
                <a:cs typeface="Calibri"/>
              </a:rPr>
              <a:t>Data and Methodology</a:t>
            </a:r>
          </a:p>
        </p:txBody>
      </p:sp>
      <p:cxnSp>
        <p:nvCxnSpPr>
          <p:cNvPr id="4" name="Gerade Verbindung 3">
            <a:extLst>
              <a:ext uri="{FF2B5EF4-FFF2-40B4-BE49-F238E27FC236}">
                <a16:creationId xmlns:a16="http://schemas.microsoft.com/office/drawing/2014/main" id="{A3E6ABA9-530C-19A9-492C-80BA7FD1E82C}"/>
              </a:ext>
            </a:extLst>
          </p:cNvPr>
          <p:cNvCxnSpPr>
            <a:cxnSpLocks/>
          </p:cNvCxnSpPr>
          <p:nvPr/>
        </p:nvCxnSpPr>
        <p:spPr>
          <a:xfrm flipH="1" flipV="1">
            <a:off x="4567237" y="1455738"/>
            <a:ext cx="9526" cy="297437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9D8D7140-6135-69C9-9C91-AE5F592F71A6}"/>
              </a:ext>
            </a:extLst>
          </p:cNvPr>
          <p:cNvSpPr txBox="1"/>
          <p:nvPr/>
        </p:nvSpPr>
        <p:spPr>
          <a:xfrm>
            <a:off x="781050" y="1469469"/>
            <a:ext cx="363000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b="1" i="1" dirty="0">
                <a:solidFill>
                  <a:schemeClr val="tx2"/>
                </a:solidFill>
              </a:rPr>
              <a:t>Sample &amp; Data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5FD96139-7D42-E764-E112-D09171701DB0}"/>
              </a:ext>
            </a:extLst>
          </p:cNvPr>
          <p:cNvSpPr txBox="1"/>
          <p:nvPr/>
        </p:nvSpPr>
        <p:spPr>
          <a:xfrm>
            <a:off x="4732941" y="1469469"/>
            <a:ext cx="362880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b="1" i="1" dirty="0">
                <a:solidFill>
                  <a:schemeClr val="tx2"/>
                </a:solidFill>
              </a:rPr>
              <a:t>Methodology</a:t>
            </a:r>
          </a:p>
          <a:p>
            <a:endParaRPr lang="en-GB" sz="1350" b="1" i="1" dirty="0">
              <a:solidFill>
                <a:schemeClr val="tx2"/>
              </a:solidFill>
            </a:endParaRPr>
          </a:p>
          <a:p>
            <a:endParaRPr lang="en-GB" sz="1350" b="1" i="1" dirty="0">
              <a:solidFill>
                <a:schemeClr val="tx2"/>
              </a:solidFill>
            </a:endParaRPr>
          </a:p>
          <a:p>
            <a:endParaRPr lang="en-GB" sz="1350" b="1" i="1" dirty="0">
              <a:solidFill>
                <a:schemeClr val="tx2"/>
              </a:solidFill>
            </a:endParaRPr>
          </a:p>
          <a:p>
            <a:endParaRPr lang="en-GB" sz="1350" b="1" i="1" dirty="0">
              <a:solidFill>
                <a:schemeClr val="tx2"/>
              </a:solidFill>
            </a:endParaRPr>
          </a:p>
          <a:p>
            <a:endParaRPr lang="en-GB" sz="1350" b="1" i="1" dirty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350" b="1" dirty="0"/>
              <a:t>Stress-Test</a:t>
            </a:r>
            <a:br>
              <a:rPr lang="en-GB" sz="1350" b="1" dirty="0"/>
            </a:br>
            <a:r>
              <a:rPr lang="en-GB" sz="1350" dirty="0"/>
              <a:t>Mixing linear and non-linear instruments to stress-test each </a:t>
            </a:r>
            <a:r>
              <a:rPr lang="en-GB" sz="1350" dirty="0" err="1"/>
              <a:t>VaR</a:t>
            </a:r>
            <a:r>
              <a:rPr lang="en-GB" sz="1350" dirty="0"/>
              <a:t> method</a:t>
            </a:r>
          </a:p>
          <a:p>
            <a:endParaRPr lang="en-GB" sz="135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350" b="1" dirty="0"/>
              <a:t>Validation</a:t>
            </a:r>
            <a:br>
              <a:rPr lang="en-GB" sz="1350" b="1" dirty="0"/>
            </a:br>
            <a:r>
              <a:rPr lang="en-GB" sz="1350" dirty="0"/>
              <a:t>All six methods applied to the same portfolio: Assumption validation and </a:t>
            </a:r>
            <a:r>
              <a:rPr lang="en-GB" sz="1350" dirty="0" err="1"/>
              <a:t>Kuplec</a:t>
            </a:r>
            <a:r>
              <a:rPr lang="en-GB" sz="1350" dirty="0"/>
              <a:t> / Christoffersen </a:t>
            </a:r>
            <a:r>
              <a:rPr lang="en-GB" sz="1350" dirty="0" err="1"/>
              <a:t>backtesting</a:t>
            </a:r>
            <a:r>
              <a:rPr lang="en-GB" sz="1350" dirty="0"/>
              <a:t> applied to each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44D863A-B6C0-BA8D-B3B9-BEF64AA4AAFD}"/>
              </a:ext>
            </a:extLst>
          </p:cNvPr>
          <p:cNvSpPr/>
          <p:nvPr/>
        </p:nvSpPr>
        <p:spPr>
          <a:xfrm>
            <a:off x="4725303" y="1910339"/>
            <a:ext cx="11160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</a:rPr>
              <a:t>Delta-Normal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056FDF-1AAE-8090-9CCD-5EBD284E87F9}"/>
              </a:ext>
            </a:extLst>
          </p:cNvPr>
          <p:cNvSpPr/>
          <p:nvPr/>
        </p:nvSpPr>
        <p:spPr>
          <a:xfrm>
            <a:off x="5956097" y="1910339"/>
            <a:ext cx="11160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ysClr val="windowText" lastClr="000000"/>
                </a:solidFill>
              </a:rPr>
              <a:t>Historical Sim.</a:t>
            </a:r>
            <a:endParaRPr lang="en-GB" sz="1200" dirty="0">
              <a:solidFill>
                <a:sysClr val="windowText" lastClr="00000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78C78B-5E96-46AA-E035-87A1A8608B61}"/>
              </a:ext>
            </a:extLst>
          </p:cNvPr>
          <p:cNvSpPr/>
          <p:nvPr/>
        </p:nvSpPr>
        <p:spPr>
          <a:xfrm>
            <a:off x="7186891" y="1910339"/>
            <a:ext cx="11160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ysClr val="windowText" lastClr="000000"/>
                </a:solidFill>
              </a:rPr>
              <a:t>Monte Carlo</a:t>
            </a:r>
            <a:endParaRPr lang="en-GB" sz="1200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B6D960-6ADA-BAE9-8441-6178F6685077}"/>
              </a:ext>
            </a:extLst>
          </p:cNvPr>
          <p:cNvSpPr/>
          <p:nvPr/>
        </p:nvSpPr>
        <p:spPr>
          <a:xfrm>
            <a:off x="4725303" y="2278264"/>
            <a:ext cx="11160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ysClr val="windowText" lastClr="000000"/>
                </a:solidFill>
              </a:rPr>
              <a:t>GARCH</a:t>
            </a:r>
            <a:endParaRPr lang="en-GB" sz="1200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7F98F63-CC6B-1937-7F3C-417E7B6154B1}"/>
              </a:ext>
            </a:extLst>
          </p:cNvPr>
          <p:cNvSpPr/>
          <p:nvPr/>
        </p:nvSpPr>
        <p:spPr>
          <a:xfrm>
            <a:off x="5956097" y="2278264"/>
            <a:ext cx="11160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ysClr val="windowText" lastClr="000000"/>
                </a:solidFill>
              </a:rPr>
              <a:t>EVT</a:t>
            </a:r>
            <a:endParaRPr lang="en-GB" sz="1200" dirty="0">
              <a:solidFill>
                <a:sysClr val="windowText" lastClr="000000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8702BCD-1A79-E4E3-C6D5-D5AFB0AEBEEF}"/>
              </a:ext>
            </a:extLst>
          </p:cNvPr>
          <p:cNvSpPr/>
          <p:nvPr/>
        </p:nvSpPr>
        <p:spPr>
          <a:xfrm>
            <a:off x="7186891" y="2278264"/>
            <a:ext cx="1116000" cy="288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ysClr val="windowText" lastClr="000000"/>
                </a:solidFill>
              </a:rPr>
              <a:t>GARCH + EVT</a:t>
            </a:r>
            <a:endParaRPr lang="en-GB" sz="1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974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1D434-9BBC-90B8-2DF3-EDAB4AB60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A60A5-7CCD-9218-19ED-EB1D79F4A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75" y="3381521"/>
            <a:ext cx="8533699" cy="1965394"/>
          </a:xfrm>
        </p:spPr>
        <p:txBody>
          <a:bodyPr anchor="t"/>
          <a:lstStyle/>
          <a:p>
            <a:r>
              <a:rPr lang="de-DE" dirty="0" err="1"/>
              <a:t>VaR</a:t>
            </a:r>
            <a:r>
              <a:rPr lang="de-DE" dirty="0"/>
              <a:t> Methods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09501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3FBD4-857F-CF10-DD0F-A9D4840DA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797D4DD0-EE94-B176-57CE-5CF37D7F713A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B15F697F-B8C0-84F5-BA5C-C8AF9584FD47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solidFill>
                  <a:schemeClr val="tx2"/>
                </a:solidFill>
                <a:ea typeface="Calibri"/>
                <a:cs typeface="Calibri"/>
              </a:rPr>
              <a:t>Delta-Normal</a:t>
            </a:r>
          </a:p>
        </p:txBody>
      </p:sp>
    </p:spTree>
    <p:extLst>
      <p:ext uri="{BB962C8B-B14F-4D97-AF65-F5344CB8AC3E}">
        <p14:creationId xmlns:p14="http://schemas.microsoft.com/office/powerpoint/2010/main" val="2720841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07EB5-6D6B-CB29-49BC-D8E08A01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37A83E1C-D46E-397F-2588-C1F0551F834B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D70F8414-9118-244F-CC38-0F92A8A4B077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solidFill>
                  <a:schemeClr val="tx2"/>
                </a:solidFill>
                <a:ea typeface="Calibri"/>
                <a:cs typeface="Calibri"/>
              </a:rPr>
              <a:t>Historical Simulation</a:t>
            </a:r>
          </a:p>
        </p:txBody>
      </p:sp>
    </p:spTree>
    <p:extLst>
      <p:ext uri="{BB962C8B-B14F-4D97-AF65-F5344CB8AC3E}">
        <p14:creationId xmlns:p14="http://schemas.microsoft.com/office/powerpoint/2010/main" val="4067603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41D7A-CA49-316F-4FFB-420F59B4D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09867EF5-9C1B-95E1-588F-4303FBB91A26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4BA71D1D-5432-0496-A1D0-D8EFF3F34C9F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solidFill>
                  <a:schemeClr val="tx2"/>
                </a:solidFill>
                <a:ea typeface="Calibri"/>
                <a:cs typeface="Calibri"/>
              </a:rPr>
              <a:t>GARCH</a:t>
            </a:r>
          </a:p>
        </p:txBody>
      </p:sp>
    </p:spTree>
    <p:extLst>
      <p:ext uri="{BB962C8B-B14F-4D97-AF65-F5344CB8AC3E}">
        <p14:creationId xmlns:p14="http://schemas.microsoft.com/office/powerpoint/2010/main" val="1542280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CACEE-7739-BCFE-0AA0-DC560A4DF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617E7A7B-0DB6-05E3-6CD7-8D9CFE56F6AC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9386A66B-FE3E-F3D4-1AC2-45868637C985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solidFill>
                  <a:schemeClr val="tx2"/>
                </a:solidFill>
                <a:ea typeface="Calibri"/>
                <a:cs typeface="Calibri"/>
              </a:rPr>
              <a:t>Monte Carlo Simulation</a:t>
            </a:r>
          </a:p>
        </p:txBody>
      </p:sp>
    </p:spTree>
    <p:extLst>
      <p:ext uri="{BB962C8B-B14F-4D97-AF65-F5344CB8AC3E}">
        <p14:creationId xmlns:p14="http://schemas.microsoft.com/office/powerpoint/2010/main" val="3081205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6E0D9-6E6D-F6D9-3EB6-E1217EA81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56C47-6713-9E1E-1EAA-5A255137D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75" y="3381521"/>
            <a:ext cx="8533699" cy="1965394"/>
          </a:xfrm>
        </p:spPr>
        <p:txBody>
          <a:bodyPr anchor="t"/>
          <a:lstStyle/>
          <a:p>
            <a:r>
              <a:rPr lang="de-DE" dirty="0" err="1"/>
              <a:t>Assumption</a:t>
            </a:r>
            <a:r>
              <a:rPr lang="de-DE" dirty="0"/>
              <a:t> </a:t>
            </a:r>
            <a:r>
              <a:rPr lang="de-DE" dirty="0" err="1"/>
              <a:t>validation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4040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56183-70C4-F9C4-BC79-6631D3D75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C4145-ABE2-67AA-DC46-145215B5B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75" y="3381521"/>
            <a:ext cx="8533699" cy="1965394"/>
          </a:xfrm>
        </p:spPr>
        <p:txBody>
          <a:bodyPr anchor="t"/>
          <a:lstStyle/>
          <a:p>
            <a:r>
              <a:rPr lang="de-DE" dirty="0" err="1"/>
              <a:t>Comparison</a:t>
            </a:r>
            <a:r>
              <a:rPr lang="de-DE" dirty="0"/>
              <a:t> &amp; </a:t>
            </a:r>
            <a:r>
              <a:rPr lang="de-DE" dirty="0" err="1"/>
              <a:t>conclusion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988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5928A-9BEB-CC76-9CE3-03EAE1254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DFB18-893A-E8AA-9768-06840A41B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75" y="3381521"/>
            <a:ext cx="8533699" cy="1965394"/>
          </a:xfrm>
        </p:spPr>
        <p:txBody>
          <a:bodyPr anchor="t"/>
          <a:lstStyle/>
          <a:p>
            <a:r>
              <a:rPr lang="en-GB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1956400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8B085-7141-9AD1-1633-75E8BA00A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4F71562F-D515-7A8C-CA00-17FF0CBCE3A8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6E3B9236-4296-595A-3134-C7A5DC48AA59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Investigation of Current Management Decision Making </a:t>
            </a: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4E63EE2C-1C4A-2875-02B7-B438C97344A8}"/>
              </a:ext>
            </a:extLst>
          </p:cNvPr>
          <p:cNvSpPr txBox="1"/>
          <p:nvPr/>
        </p:nvSpPr>
        <p:spPr>
          <a:xfrm>
            <a:off x="781050" y="1219329"/>
            <a:ext cx="7543167" cy="12575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200000"/>
              </a:lnSpc>
              <a:defRPr/>
            </a:pPr>
            <a:r>
              <a:rPr lang="en-GB" sz="1350" b="1">
                <a:solidFill>
                  <a:schemeClr val="tx2"/>
                </a:solidFill>
              </a:rPr>
              <a:t>Historical Economic Baseline: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en-GB" sz="1350">
                <a:solidFill>
                  <a:prstClr val="black"/>
                </a:solidFill>
              </a:rPr>
              <a:t>The World Economy has experienced </a:t>
            </a:r>
            <a:r>
              <a:rPr lang="en-GB" sz="1350" b="1">
                <a:solidFill>
                  <a:prstClr val="black"/>
                </a:solidFill>
              </a:rPr>
              <a:t>decades </a:t>
            </a:r>
            <a:r>
              <a:rPr lang="en-GB" sz="1350">
                <a:solidFill>
                  <a:prstClr val="black"/>
                </a:solidFill>
              </a:rPr>
              <a:t>of less investment despite low-interest rate policies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§"/>
              <a:defRPr/>
            </a:pPr>
            <a:r>
              <a:rPr lang="en-GB" sz="1350">
                <a:solidFill>
                  <a:prstClr val="black"/>
                </a:solidFill>
              </a:rPr>
              <a:t>Investment is </a:t>
            </a:r>
            <a:r>
              <a:rPr lang="en-GB" sz="1350" b="1">
                <a:solidFill>
                  <a:prstClr val="black"/>
                </a:solidFill>
              </a:rPr>
              <a:t>10x less responsive </a:t>
            </a:r>
            <a:r>
              <a:rPr lang="en-GB" sz="1350">
                <a:solidFill>
                  <a:prstClr val="black"/>
                </a:solidFill>
              </a:rPr>
              <a:t>to financial conditions than theory predicts</a:t>
            </a:r>
          </a:p>
        </p:txBody>
      </p:sp>
      <p:sp>
        <p:nvSpPr>
          <p:cNvPr id="10" name="Flowchart: Connector 7">
            <a:extLst>
              <a:ext uri="{FF2B5EF4-FFF2-40B4-BE49-F238E27FC236}">
                <a16:creationId xmlns:a16="http://schemas.microsoft.com/office/drawing/2014/main" id="{C5FB9D78-D339-1D11-A4D1-03E835F40DE2}"/>
              </a:ext>
            </a:extLst>
          </p:cNvPr>
          <p:cNvSpPr/>
          <p:nvPr/>
        </p:nvSpPr>
        <p:spPr>
          <a:xfrm>
            <a:off x="871194" y="2712840"/>
            <a:ext cx="468000" cy="468000"/>
          </a:xfrm>
          <a:prstGeom prst="flowChartConnector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35F039E8-A900-00DE-7308-66A54C0C6A33}"/>
              </a:ext>
            </a:extLst>
          </p:cNvPr>
          <p:cNvSpPr txBox="1"/>
          <p:nvPr/>
        </p:nvSpPr>
        <p:spPr>
          <a:xfrm>
            <a:off x="1617785" y="2796799"/>
            <a:ext cx="6706431" cy="30008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1350" b="1">
                <a:solidFill>
                  <a:srgbClr val="44546A"/>
                </a:solidFill>
              </a:rPr>
              <a:t>Fewer investment </a:t>
            </a:r>
            <a:r>
              <a:rPr lang="en-GB" sz="1350">
                <a:solidFill>
                  <a:srgbClr val="44546A"/>
                </a:solidFill>
              </a:rPr>
              <a:t>in corporate projects lead to overall less economic growth</a:t>
            </a:r>
          </a:p>
        </p:txBody>
      </p:sp>
      <p:sp>
        <p:nvSpPr>
          <p:cNvPr id="12" name="Flowchart: Connector 12">
            <a:extLst>
              <a:ext uri="{FF2B5EF4-FFF2-40B4-BE49-F238E27FC236}">
                <a16:creationId xmlns:a16="http://schemas.microsoft.com/office/drawing/2014/main" id="{25C6E071-AA1D-01C8-9A30-D208FDD202E0}"/>
              </a:ext>
            </a:extLst>
          </p:cNvPr>
          <p:cNvSpPr/>
          <p:nvPr/>
        </p:nvSpPr>
        <p:spPr>
          <a:xfrm>
            <a:off x="871194" y="3378900"/>
            <a:ext cx="468000" cy="468000"/>
          </a:xfrm>
          <a:prstGeom prst="flowChartConnector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F12DBC7-B8E0-8D7C-FAE2-B1213BF5D3E3}"/>
              </a:ext>
            </a:extLst>
          </p:cNvPr>
          <p:cNvSpPr txBox="1"/>
          <p:nvPr/>
        </p:nvSpPr>
        <p:spPr>
          <a:xfrm>
            <a:off x="1617785" y="3462859"/>
            <a:ext cx="6706431" cy="30008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de-DE"/>
            </a:defPPr>
            <a:lvl1pPr algn="ctr">
              <a:defRPr sz="1100">
                <a:solidFill>
                  <a:srgbClr val="44546A"/>
                </a:solidFill>
              </a:defRPr>
            </a:lvl1pPr>
          </a:lstStyle>
          <a:p>
            <a:pPr algn="l"/>
            <a:r>
              <a:rPr lang="en-GB" sz="1350" b="1"/>
              <a:t>Slows</a:t>
            </a:r>
            <a:r>
              <a:rPr lang="en-GB" sz="1350"/>
              <a:t> innovation, technological progress and contributes to </a:t>
            </a:r>
            <a:r>
              <a:rPr lang="en-GB" sz="1350" b="1"/>
              <a:t>decreasing labour market share </a:t>
            </a:r>
          </a:p>
        </p:txBody>
      </p:sp>
      <p:sp>
        <p:nvSpPr>
          <p:cNvPr id="14" name="Flowchart: Connector 16">
            <a:extLst>
              <a:ext uri="{FF2B5EF4-FFF2-40B4-BE49-F238E27FC236}">
                <a16:creationId xmlns:a16="http://schemas.microsoft.com/office/drawing/2014/main" id="{120CDDA2-DE3D-60F7-FD5E-E511AAEDFC76}"/>
              </a:ext>
            </a:extLst>
          </p:cNvPr>
          <p:cNvSpPr/>
          <p:nvPr/>
        </p:nvSpPr>
        <p:spPr>
          <a:xfrm>
            <a:off x="871194" y="4044960"/>
            <a:ext cx="468000" cy="468000"/>
          </a:xfrm>
          <a:prstGeom prst="flowChartConnector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6FECEC26-5C3F-BD20-A17A-73D87552B9B1}"/>
              </a:ext>
            </a:extLst>
          </p:cNvPr>
          <p:cNvSpPr txBox="1"/>
          <p:nvPr/>
        </p:nvSpPr>
        <p:spPr>
          <a:xfrm>
            <a:off x="1617785" y="4128919"/>
            <a:ext cx="6706431" cy="30008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de-DE"/>
            </a:defPPr>
            <a:lvl1pPr algn="ctr">
              <a:defRPr sz="1100">
                <a:solidFill>
                  <a:srgbClr val="44546A"/>
                </a:solidFill>
              </a:defRPr>
            </a:lvl1pPr>
          </a:lstStyle>
          <a:p>
            <a:pPr algn="l"/>
            <a:r>
              <a:rPr lang="en-GB" sz="1350" b="1"/>
              <a:t>Questionable effectiveness </a:t>
            </a:r>
            <a:r>
              <a:rPr lang="en-GB" sz="1350"/>
              <a:t>of Central Bank Monetary Policy</a:t>
            </a:r>
          </a:p>
        </p:txBody>
      </p:sp>
      <p:cxnSp>
        <p:nvCxnSpPr>
          <p:cNvPr id="17" name="Gerade Verbindung 16">
            <a:extLst>
              <a:ext uri="{FF2B5EF4-FFF2-40B4-BE49-F238E27FC236}">
                <a16:creationId xmlns:a16="http://schemas.microsoft.com/office/drawing/2014/main" id="{83135B1D-42D4-4B61-8015-21C540E99B45}"/>
              </a:ext>
            </a:extLst>
          </p:cNvPr>
          <p:cNvCxnSpPr>
            <a:cxnSpLocks/>
          </p:cNvCxnSpPr>
          <p:nvPr/>
        </p:nvCxnSpPr>
        <p:spPr>
          <a:xfrm>
            <a:off x="1442778" y="2796799"/>
            <a:ext cx="0" cy="1716161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860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B26AF-EF1B-19DE-41D7-17719882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9C5365FC-34A7-6F71-FBCF-EFE3ED81460F}"/>
              </a:ext>
            </a:extLst>
          </p:cNvPr>
          <p:cNvSpPr txBox="1"/>
          <p:nvPr/>
        </p:nvSpPr>
        <p:spPr>
          <a:xfrm>
            <a:off x="781050" y="2545707"/>
            <a:ext cx="8033039" cy="16730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+mn-lt"/>
                <a:cs typeface="Segoe UI"/>
              </a:rPr>
              <a:t>Standard models assume firms </a:t>
            </a:r>
            <a:r>
              <a:rPr lang="en-GB" sz="1350" b="1">
                <a:ea typeface="+mn-lt"/>
                <a:cs typeface="Segoe UI"/>
              </a:rPr>
              <a:t>immediately adjust </a:t>
            </a:r>
            <a:r>
              <a:rPr lang="en-GB" sz="1350">
                <a:ea typeface="+mn-lt"/>
                <a:cs typeface="Segoe UI"/>
              </a:rPr>
              <a:t>discount rates to reflect changes in cost of capital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+mn-lt"/>
                <a:cs typeface="Segoe UI"/>
              </a:rPr>
              <a:t>Monetary policy transmission depends on this link between </a:t>
            </a:r>
            <a:r>
              <a:rPr lang="en-GB" sz="1350" b="1">
                <a:ea typeface="+mn-lt"/>
                <a:cs typeface="Segoe UI"/>
              </a:rPr>
              <a:t>cost of capital and firm hurdle rates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+mn-lt"/>
                <a:cs typeface="Segoe UI"/>
              </a:rPr>
              <a:t>Evidence suggests firms use </a:t>
            </a:r>
            <a:r>
              <a:rPr lang="en-GB" sz="1350" b="1">
                <a:ea typeface="+mn-lt"/>
                <a:cs typeface="Segoe UI"/>
              </a:rPr>
              <a:t>sticky discount rates far above </a:t>
            </a:r>
            <a:r>
              <a:rPr lang="en-GB" sz="1350">
                <a:ea typeface="+mn-lt"/>
                <a:cs typeface="Segoe UI"/>
              </a:rPr>
              <a:t>their Weighted Average Cost of Capital (WACC)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GB" sz="1350">
              <a:ea typeface="+mn-lt"/>
              <a:cs typeface="Segoe UI"/>
            </a:endParaRP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98E5B29C-7814-54C2-B208-3B57C0C608C2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34236443-296A-2BD2-4E20-80AD0BBDC3C5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Stylized View vs. “Sticky Reality”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13AABCD5-1A55-BA3D-3C1A-EB254732C64B}"/>
              </a:ext>
            </a:extLst>
          </p:cNvPr>
          <p:cNvSpPr txBox="1"/>
          <p:nvPr/>
        </p:nvSpPr>
        <p:spPr>
          <a:xfrm>
            <a:off x="863600" y="1469648"/>
            <a:ext cx="7453313" cy="769698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i="1">
                <a:solidFill>
                  <a:schemeClr val="tx2"/>
                </a:solidFill>
              </a:rPr>
              <a:t>Research Question: </a:t>
            </a:r>
            <a:r>
              <a:rPr lang="en-GB" sz="1600" i="1">
                <a:solidFill>
                  <a:schemeClr val="tx2"/>
                </a:solidFill>
              </a:rPr>
              <a:t>Why do firms´ internal discount rates, not move one-to-one with the cost of capital in financial markets?</a:t>
            </a:r>
          </a:p>
        </p:txBody>
      </p:sp>
    </p:spTree>
    <p:extLst>
      <p:ext uri="{BB962C8B-B14F-4D97-AF65-F5344CB8AC3E}">
        <p14:creationId xmlns:p14="http://schemas.microsoft.com/office/powerpoint/2010/main" val="2120202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C50FC-07A0-ACD6-E542-CFF51FD6F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7CAFE638-B83D-20DD-7301-89DEC175A629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7E13719C-BDA9-D375-7070-6659A2C1B1FA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The Missing Puzzle in Investment Decisions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FE115A4B-AF0C-D938-0EEF-6FDE1563B518}"/>
              </a:ext>
            </a:extLst>
          </p:cNvPr>
          <p:cNvSpPr txBox="1"/>
          <p:nvPr/>
        </p:nvSpPr>
        <p:spPr>
          <a:xfrm>
            <a:off x="781050" y="1219329"/>
            <a:ext cx="7543167" cy="17038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+mn-lt"/>
                <a:cs typeface="Segoe UI"/>
              </a:rPr>
              <a:t>Interest rates plummeted and asset prices increased, significantly </a:t>
            </a:r>
            <a:r>
              <a:rPr lang="en-GB" sz="1350" b="1">
                <a:ea typeface="+mn-lt"/>
                <a:cs typeface="Segoe UI"/>
              </a:rPr>
              <a:t>lowering</a:t>
            </a:r>
            <a:r>
              <a:rPr lang="en-GB" sz="1350">
                <a:ea typeface="+mn-lt"/>
                <a:cs typeface="Segoe UI"/>
              </a:rPr>
              <a:t> cost of capital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/>
              <a:t>Despite elevated market valuations, </a:t>
            </a:r>
            <a:r>
              <a:rPr lang="en-GB" sz="1350" b="1"/>
              <a:t>“missing investment” </a:t>
            </a:r>
            <a:r>
              <a:rPr lang="en-GB" sz="1350"/>
              <a:t>exceeded 20% of the capital stock by 2019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 b="1"/>
              <a:t>Investment shortfalls </a:t>
            </a:r>
            <a:r>
              <a:rPr lang="en-GB" sz="1350"/>
              <a:t>may reflect rigid internal decision rules rather than external market signals</a:t>
            </a:r>
            <a:endParaRPr lang="en-GB" sz="1350">
              <a:ea typeface="+mn-lt"/>
              <a:cs typeface="Segoe UI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GB" sz="1350">
              <a:ea typeface="+mn-lt"/>
              <a:cs typeface="Segoe UI"/>
            </a:endParaRPr>
          </a:p>
        </p:txBody>
      </p:sp>
      <p:grpSp>
        <p:nvGrpSpPr>
          <p:cNvPr id="15" name="Gruppieren 28">
            <a:extLst>
              <a:ext uri="{FF2B5EF4-FFF2-40B4-BE49-F238E27FC236}">
                <a16:creationId xmlns:a16="http://schemas.microsoft.com/office/drawing/2014/main" id="{58F9667F-00FB-F9D3-1993-7D0368F3A761}"/>
              </a:ext>
            </a:extLst>
          </p:cNvPr>
          <p:cNvGrpSpPr/>
          <p:nvPr/>
        </p:nvGrpSpPr>
        <p:grpSpPr>
          <a:xfrm>
            <a:off x="862139" y="2867452"/>
            <a:ext cx="3575420" cy="1452881"/>
            <a:chOff x="862139" y="1471699"/>
            <a:chExt cx="3575420" cy="1526230"/>
          </a:xfrm>
        </p:grpSpPr>
        <p:sp>
          <p:nvSpPr>
            <p:cNvPr id="16" name="Rechteck: abgerundete Ecken 5">
              <a:extLst>
                <a:ext uri="{FF2B5EF4-FFF2-40B4-BE49-F238E27FC236}">
                  <a16:creationId xmlns:a16="http://schemas.microsoft.com/office/drawing/2014/main" id="{42EFC0E4-CEF2-C8AD-8382-F93169429D81}"/>
                </a:ext>
              </a:extLst>
            </p:cNvPr>
            <p:cNvSpPr/>
            <p:nvPr/>
          </p:nvSpPr>
          <p:spPr>
            <a:xfrm>
              <a:off x="862139" y="1471699"/>
              <a:ext cx="3575420" cy="1526230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7" name="Rechteck 3">
              <a:extLst>
                <a:ext uri="{FF2B5EF4-FFF2-40B4-BE49-F238E27FC236}">
                  <a16:creationId xmlns:a16="http://schemas.microsoft.com/office/drawing/2014/main" id="{400F55AF-3245-C155-386C-E8BDAC4FB54A}"/>
                </a:ext>
              </a:extLst>
            </p:cNvPr>
            <p:cNvSpPr/>
            <p:nvPr/>
          </p:nvSpPr>
          <p:spPr>
            <a:xfrm>
              <a:off x="982858" y="1557359"/>
              <a:ext cx="3454701" cy="14405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350" b="1">
                  <a:solidFill>
                    <a:schemeClr val="tx2"/>
                  </a:solidFill>
                </a:rPr>
                <a:t>Sticky Discount Rate</a:t>
              </a:r>
            </a:p>
            <a:p>
              <a:endParaRPr lang="en-GB" sz="1350" b="1" u="sng">
                <a:solidFill>
                  <a:sysClr val="windowText" lastClr="000000"/>
                </a:solidFill>
              </a:endParaRPr>
            </a:p>
            <a:p>
              <a:r>
                <a:rPr lang="en-GB" sz="1100">
                  <a:solidFill>
                    <a:schemeClr val="tx1"/>
                  </a:solidFill>
                </a:rPr>
                <a:t>Discount rates barely respond to cost-of-capital changes in the first one to two years</a:t>
              </a:r>
            </a:p>
            <a:p>
              <a:endParaRPr lang="en-GB" sz="1100">
                <a:solidFill>
                  <a:schemeClr val="tx1"/>
                </a:solidFill>
              </a:endParaRPr>
            </a:p>
            <a:p>
              <a:r>
                <a:rPr lang="en-GB" sz="1100">
                  <a:solidFill>
                    <a:schemeClr val="tx1"/>
                  </a:solidFill>
                </a:rPr>
                <a:t>Full adjustment takes over a decade because firms revise hurdle rates infrequently</a:t>
              </a:r>
            </a:p>
          </p:txBody>
        </p:sp>
      </p:grpSp>
      <p:grpSp>
        <p:nvGrpSpPr>
          <p:cNvPr id="18" name="Gruppieren 29">
            <a:extLst>
              <a:ext uri="{FF2B5EF4-FFF2-40B4-BE49-F238E27FC236}">
                <a16:creationId xmlns:a16="http://schemas.microsoft.com/office/drawing/2014/main" id="{DBC37272-4E5F-D691-B3C7-EAC5FC7D588F}"/>
              </a:ext>
            </a:extLst>
          </p:cNvPr>
          <p:cNvGrpSpPr/>
          <p:nvPr/>
        </p:nvGrpSpPr>
        <p:grpSpPr>
          <a:xfrm>
            <a:off x="4699585" y="2867452"/>
            <a:ext cx="3624632" cy="1452881"/>
            <a:chOff x="4699585" y="1471699"/>
            <a:chExt cx="3624632" cy="1526230"/>
          </a:xfrm>
        </p:grpSpPr>
        <p:sp>
          <p:nvSpPr>
            <p:cNvPr id="19" name="Rechteck: abgerundete Ecken 5">
              <a:extLst>
                <a:ext uri="{FF2B5EF4-FFF2-40B4-BE49-F238E27FC236}">
                  <a16:creationId xmlns:a16="http://schemas.microsoft.com/office/drawing/2014/main" id="{375E0E28-9932-A602-7621-54A337E90787}"/>
                </a:ext>
              </a:extLst>
            </p:cNvPr>
            <p:cNvSpPr/>
            <p:nvPr/>
          </p:nvSpPr>
          <p:spPr>
            <a:xfrm>
              <a:off x="4699585" y="1471699"/>
              <a:ext cx="3624632" cy="1526230"/>
            </a:xfrm>
            <a:prstGeom prst="round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0" name="Rechteck 15">
              <a:extLst>
                <a:ext uri="{FF2B5EF4-FFF2-40B4-BE49-F238E27FC236}">
                  <a16:creationId xmlns:a16="http://schemas.microsoft.com/office/drawing/2014/main" id="{41B7D77F-0C69-0D70-8EE3-F88008CE6967}"/>
                </a:ext>
              </a:extLst>
            </p:cNvPr>
            <p:cNvSpPr/>
            <p:nvPr/>
          </p:nvSpPr>
          <p:spPr>
            <a:xfrm>
              <a:off x="4816492" y="1557359"/>
              <a:ext cx="3500422" cy="14405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350" b="1">
                  <a:solidFill>
                    <a:schemeClr val="bg2">
                      <a:lumMod val="75000"/>
                    </a:schemeClr>
                  </a:solidFill>
                  <a:latin typeface="Calibri" panose="020F0502020204030204"/>
                </a:rPr>
                <a:t>Discount Rate Wedge</a:t>
              </a:r>
              <a:endParaRPr kumimoji="0" lang="en-GB" sz="1350" b="1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1" i="0" u="sng" strike="noStrike" kern="120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lvl="0">
                <a:defRPr/>
              </a:pPr>
              <a:r>
                <a:rPr lang="en-GB" sz="1100">
                  <a:solidFill>
                    <a:schemeClr val="bg2">
                      <a:lumMod val="75000"/>
                    </a:schemeClr>
                  </a:solidFill>
                </a:rPr>
                <a:t>The “wedge” grew by about 2.5 percentage points</a:t>
              </a:r>
            </a:p>
            <a:p>
              <a:pPr lvl="0">
                <a:defRPr/>
              </a:pP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lvl="0">
                <a:defRPr/>
              </a:pPr>
              <a:r>
                <a:rPr lang="en-GB" sz="1100">
                  <a:solidFill>
                    <a:schemeClr val="bg2">
                      <a:lumMod val="75000"/>
                    </a:schemeClr>
                  </a:solidFill>
                </a:rPr>
                <a:t>“Adjusted Q” model that accounts for the wedge largely resolves the missing investment puzzle</a:t>
              </a: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0669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C8DFF-6113-D59B-E297-64C79044E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2A0D2-D8DE-BAF0-5F65-8D4C594C3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75" y="3381521"/>
            <a:ext cx="8533699" cy="1965394"/>
          </a:xfrm>
        </p:spPr>
        <p:txBody>
          <a:bodyPr anchor="t"/>
          <a:lstStyle/>
          <a:p>
            <a:r>
              <a:rPr lang="en-GB"/>
              <a:t>CONTRIBUTION TO LITERATURE</a:t>
            </a:r>
          </a:p>
        </p:txBody>
      </p:sp>
    </p:spTree>
    <p:extLst>
      <p:ext uri="{BB962C8B-B14F-4D97-AF65-F5344CB8AC3E}">
        <p14:creationId xmlns:p14="http://schemas.microsoft.com/office/powerpoint/2010/main" val="3431052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446A5-DDBF-D656-8188-5E798174B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7A1FC4B9-819B-E555-84F1-988D8EA07919}"/>
              </a:ext>
            </a:extLst>
          </p:cNvPr>
          <p:cNvSpPr txBox="1"/>
          <p:nvPr/>
        </p:nvSpPr>
        <p:spPr>
          <a:xfrm>
            <a:off x="781050" y="1219329"/>
            <a:ext cx="8033039" cy="32953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1350" b="1">
                <a:solidFill>
                  <a:srgbClr val="44546A"/>
                </a:solidFill>
                <a:ea typeface="+mn-lt"/>
                <a:cs typeface="Segoe UI"/>
              </a:rPr>
              <a:t>1. Cost of Capital and Investment</a:t>
            </a:r>
          </a:p>
          <a:p>
            <a:pPr marL="171450" indent="-1714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/>
              <a:t>Jorgensen (1963): Neoclassical investment depends on user cost of capital</a:t>
            </a:r>
          </a:p>
          <a:p>
            <a:pPr marL="171450" indent="-1714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/>
              <a:t>Hall &amp; Jorgenson (1967): Tax policy affects investment through cost of capital</a:t>
            </a:r>
          </a:p>
          <a:p>
            <a:pPr fontAlgn="base">
              <a:lnSpc>
                <a:spcPct val="150000"/>
              </a:lnSpc>
            </a:pPr>
            <a:endParaRPr lang="en-US" sz="800"/>
          </a:p>
          <a:p>
            <a:pPr fontAlgn="base">
              <a:lnSpc>
                <a:spcPct val="150000"/>
              </a:lnSpc>
            </a:pPr>
            <a:r>
              <a:rPr lang="en-US" sz="1350" b="1">
                <a:solidFill>
                  <a:srgbClr val="44546A"/>
                </a:solidFill>
                <a:ea typeface="+mn-lt"/>
                <a:cs typeface="Segoe UI"/>
              </a:rPr>
              <a:t>2. Hurdle Rates and Discount Rates Surveys</a:t>
            </a:r>
          </a:p>
          <a:p>
            <a:pPr marL="171450" indent="-1714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/>
              <a:t>Graham &amp; Harvey (2001): Survey finding hurdle rates exceed WACC​</a:t>
            </a:r>
          </a:p>
          <a:p>
            <a:pPr marL="171450" indent="-1714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/>
              <a:t>Jagannathan et al. (2016): Firms keep discount rates stable despite rate changes​</a:t>
            </a:r>
          </a:p>
          <a:p>
            <a:pPr marL="171450" indent="-1714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/>
              <a:t>Krüger et al. (2015): Firms use uniform discount rates across divisions</a:t>
            </a:r>
          </a:p>
          <a:p>
            <a:pPr fontAlgn="base">
              <a:lnSpc>
                <a:spcPct val="150000"/>
              </a:lnSpc>
            </a:pPr>
            <a:endParaRPr lang="en-US" sz="800"/>
          </a:p>
          <a:p>
            <a:pPr fontAlgn="base"/>
            <a:r>
              <a:rPr lang="en-US" sz="1350" b="1">
                <a:solidFill>
                  <a:srgbClr val="44546A"/>
                </a:solidFill>
                <a:ea typeface="+mn-lt"/>
                <a:cs typeface="Segoe UI"/>
              </a:rPr>
              <a:t>3. Missing Investment Puzzle</a:t>
            </a:r>
          </a:p>
          <a:p>
            <a:pPr marL="171450" indent="-1714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/>
              <a:t>Gutiérrez &amp; Philippon (2017): Investment has declined relative to Tobin's Q and profits​</a:t>
            </a:r>
          </a:p>
          <a:p>
            <a:pPr marL="171450" indent="-17145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/>
              <a:t>Crouzet &amp; Eberly (2019): Intangibles partially explain the gap</a:t>
            </a:r>
            <a:endParaRPr lang="en-US" sz="1350"/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274EC6D3-619E-8E2B-A03E-9201D0CCE5D4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4821B552-A695-2E9A-BD39-FEAB175FF51F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Literature Positioning</a:t>
            </a:r>
          </a:p>
        </p:txBody>
      </p:sp>
    </p:spTree>
    <p:extLst>
      <p:ext uri="{BB962C8B-B14F-4D97-AF65-F5344CB8AC3E}">
        <p14:creationId xmlns:p14="http://schemas.microsoft.com/office/powerpoint/2010/main" val="759413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2C66B-3693-1899-9534-9B35405D1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6F898011-5F68-0F3F-4E87-DBFEDFC56E78}"/>
              </a:ext>
            </a:extLst>
          </p:cNvPr>
          <p:cNvSpPr txBox="1"/>
          <p:nvPr/>
        </p:nvSpPr>
        <p:spPr>
          <a:xfrm>
            <a:off x="781050" y="2112055"/>
            <a:ext cx="7535863" cy="17312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200" b="1">
                <a:ea typeface="+mn-lt"/>
                <a:cs typeface="Segoe UI"/>
              </a:rPr>
              <a:t>Novel Data: </a:t>
            </a:r>
            <a:r>
              <a:rPr lang="en-US" sz="1200">
                <a:ea typeface="+mn-lt"/>
                <a:cs typeface="Segoe UI"/>
              </a:rPr>
              <a:t>Extract discount rates and perceived cost of capital from earnings conference calls (2002–2021)</a:t>
            </a:r>
          </a:p>
          <a:p>
            <a:pPr marL="171450" indent="-171450" algn="l" rtl="0" fontAlgn="base">
              <a:buFont typeface="Wingdings" panose="05000000000000000000" pitchFamily="2" charset="2"/>
              <a:buChar char="§"/>
            </a:pPr>
            <a:endParaRPr lang="en-US" sz="1200">
              <a:ea typeface="+mn-lt"/>
              <a:cs typeface="Segoe UI"/>
            </a:endParaRPr>
          </a:p>
          <a:p>
            <a:pPr marL="171450" indent="-171450" algn="l" rtl="0" fontAlgn="base">
              <a:buFont typeface="Wingdings" panose="05000000000000000000" pitchFamily="2" charset="2"/>
              <a:buChar char="§"/>
            </a:pPr>
            <a:r>
              <a:rPr lang="en-US" sz="1200" b="1" i="0" u="none" strike="noStrike">
                <a:solidFill>
                  <a:srgbClr val="2D2D2D"/>
                </a:solidFill>
                <a:effectLst/>
                <a:latin typeface="Calibri" panose="020F0502020204030204" pitchFamily="34" charset="0"/>
              </a:rPr>
              <a:t>Incomplete transmission: </a:t>
            </a:r>
            <a:r>
              <a:rPr lang="en-US" sz="1200" b="0" i="0" u="none" strike="noStrike">
                <a:solidFill>
                  <a:srgbClr val="2D2D2D"/>
                </a:solidFill>
                <a:effectLst/>
                <a:latin typeface="Calibri" panose="020F0502020204030204" pitchFamily="34" charset="0"/>
              </a:rPr>
              <a:t>Document that cost of capital changes pass through to discount rates only slowly</a:t>
            </a:r>
          </a:p>
          <a:p>
            <a:pPr marL="171450" indent="-171450" algn="l" rtl="0" fontAlgn="base">
              <a:buFont typeface="Wingdings" panose="05000000000000000000" pitchFamily="2" charset="2"/>
              <a:buChar char="§"/>
            </a:pPr>
            <a:endParaRPr lang="en-US" sz="12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171450" indent="-171450" algn="l" rtl="0" fontAlgn="base">
              <a:buFont typeface="Wingdings" panose="05000000000000000000" pitchFamily="2" charset="2"/>
              <a:buChar char="§"/>
            </a:pPr>
            <a:r>
              <a:rPr lang="en-US" sz="1200" b="1" i="0" u="none" strike="noStrike">
                <a:solidFill>
                  <a:srgbClr val="2D2D2D"/>
                </a:solidFill>
                <a:effectLst/>
                <a:latin typeface="Calibri" panose="020F0502020204030204" pitchFamily="34" charset="0"/>
              </a:rPr>
              <a:t>Rising wedge: </a:t>
            </a:r>
            <a:r>
              <a:rPr lang="en-US" sz="1200" b="0" i="0" u="none" strike="noStrike">
                <a:solidFill>
                  <a:srgbClr val="2D2D2D"/>
                </a:solidFill>
                <a:effectLst/>
                <a:latin typeface="Calibri" panose="020F0502020204030204" pitchFamily="34" charset="0"/>
              </a:rPr>
              <a:t>Show the gap between discount rates and cost of capital grew by 2.5 pp in the US from 2002–2021</a:t>
            </a:r>
            <a:r>
              <a:rPr lang="en-US" sz="1200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12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171450" indent="-171450" algn="l" rtl="0" fontAlgn="base">
              <a:buFont typeface="Wingdings" panose="05000000000000000000" pitchFamily="2" charset="2"/>
              <a:buChar char="§"/>
            </a:pPr>
            <a:endParaRPr lang="en-US" sz="1200" b="0" i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171450" indent="-171450" algn="l" rtl="0" fontAlgn="base">
              <a:buFont typeface="Wingdings" panose="05000000000000000000" pitchFamily="2" charset="2"/>
              <a:buChar char="§"/>
            </a:pPr>
            <a:r>
              <a:rPr lang="en-US" sz="1200" b="1" i="0" u="none" strike="noStrike">
                <a:solidFill>
                  <a:srgbClr val="2D2D2D"/>
                </a:solidFill>
                <a:effectLst/>
                <a:latin typeface="Calibri" panose="020F0502020204030204" pitchFamily="34" charset="0"/>
              </a:rPr>
              <a:t>Mechanism: </a:t>
            </a:r>
            <a:r>
              <a:rPr lang="en-US" sz="1200" b="0" i="0" u="none" strike="noStrike">
                <a:solidFill>
                  <a:srgbClr val="2D2D2D"/>
                </a:solidFill>
                <a:effectLst/>
                <a:latin typeface="Calibri" panose="020F0502020204030204" pitchFamily="34" charset="0"/>
              </a:rPr>
              <a:t>Identify market power, risk as real options and financial constraints as key drivers of the wedge</a:t>
            </a:r>
          </a:p>
          <a:p>
            <a:pPr marL="171450" indent="-171450" algn="l" rtl="0" fontAlgn="base">
              <a:buFont typeface="Wingdings" panose="05000000000000000000" pitchFamily="2" charset="2"/>
              <a:buChar char="§"/>
            </a:pPr>
            <a:endParaRPr lang="en-US" sz="1200">
              <a:solidFill>
                <a:srgbClr val="2D2D2D"/>
              </a:solidFill>
              <a:latin typeface="Calibri" panose="020F0502020204030204" pitchFamily="34" charset="0"/>
            </a:endParaRPr>
          </a:p>
          <a:p>
            <a:pPr marL="171450" indent="-171450" fontAlgn="base">
              <a:buFont typeface="Wingdings" panose="05000000000000000000" pitchFamily="2" charset="2"/>
              <a:buChar char="§"/>
            </a:pPr>
            <a:r>
              <a:rPr lang="en-US" sz="1200" b="1">
                <a:solidFill>
                  <a:srgbClr val="2D2D2D"/>
                </a:solidFill>
                <a:latin typeface="Calibri" panose="020F0502020204030204" pitchFamily="34" charset="0"/>
              </a:rPr>
              <a:t>Investment implications: </a:t>
            </a:r>
            <a:r>
              <a:rPr lang="en-US" sz="1200">
                <a:solidFill>
                  <a:srgbClr val="2D2D2D"/>
                </a:solidFill>
                <a:latin typeface="Calibri" panose="020F0502020204030204" pitchFamily="34" charset="0"/>
              </a:rPr>
              <a:t>Link rising wedges to the "missing investment" puzzle</a:t>
            </a: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1CE401BF-938D-8363-7F0F-A307C920C6A3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5BF124A8-A5CC-7B8B-0AD6-BC146FBDD0FC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Key Contribution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B7FDDC8E-A530-BDD3-C3C8-A5CF91BFD26D}"/>
              </a:ext>
            </a:extLst>
          </p:cNvPr>
          <p:cNvSpPr txBox="1"/>
          <p:nvPr/>
        </p:nvSpPr>
        <p:spPr>
          <a:xfrm>
            <a:off x="863600" y="1462022"/>
            <a:ext cx="7453313" cy="400366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i="1">
                <a:solidFill>
                  <a:schemeClr val="tx2"/>
                </a:solidFill>
              </a:rPr>
              <a:t>First large-scale measurement of corporate discount rates using actual firm statements</a:t>
            </a:r>
            <a:endParaRPr lang="en-GB" sz="1600" b="1" i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55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A4DCB-774C-864D-6644-C706AC14A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C348-682D-EE70-867E-34DDDD52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75" y="3381521"/>
            <a:ext cx="8533699" cy="1965394"/>
          </a:xfrm>
        </p:spPr>
        <p:txBody>
          <a:bodyPr anchor="t"/>
          <a:lstStyle/>
          <a:p>
            <a:r>
              <a:rPr lang="en-GB"/>
              <a:t>Data and Methodology</a:t>
            </a:r>
          </a:p>
        </p:txBody>
      </p:sp>
    </p:spTree>
    <p:extLst>
      <p:ext uri="{BB962C8B-B14F-4D97-AF65-F5344CB8AC3E}">
        <p14:creationId xmlns:p14="http://schemas.microsoft.com/office/powerpoint/2010/main" val="2510262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74415-E895-33CF-848C-15EADACB6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EBD70A71-DF60-87BB-9E20-86E588F8C152}"/>
              </a:ext>
            </a:extLst>
          </p:cNvPr>
          <p:cNvSpPr txBox="1"/>
          <p:nvPr/>
        </p:nvSpPr>
        <p:spPr>
          <a:xfrm>
            <a:off x="797096" y="1447718"/>
            <a:ext cx="3687355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>
                <a:solidFill>
                  <a:srgbClr val="44546A"/>
                </a:solidFill>
                <a:ea typeface="+mn-lt"/>
                <a:cs typeface="+mn-lt"/>
              </a:rPr>
              <a:t>Source</a:t>
            </a:r>
          </a:p>
          <a:p>
            <a:r>
              <a:rPr lang="en-GB" sz="1350">
                <a:ea typeface="+mn-lt"/>
                <a:cs typeface="+mn-lt"/>
              </a:rPr>
              <a:t>Corporate conference call transcripts from the </a:t>
            </a:r>
            <a:r>
              <a:rPr lang="en-GB" sz="1350" b="1">
                <a:ea typeface="+mn-lt"/>
                <a:cs typeface="+mn-lt"/>
              </a:rPr>
              <a:t>Thomson One </a:t>
            </a:r>
            <a:r>
              <a:rPr lang="en-GB" sz="1350">
                <a:ea typeface="+mn-lt"/>
                <a:cs typeface="+mn-lt"/>
              </a:rPr>
              <a:t>database (2002-2021)</a:t>
            </a: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B04253BB-B980-A8B1-0720-638058758E64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CEC00F0F-EEDF-AA3F-1E41-B340D456B355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Data Acquisition from Corporate Conference Calls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E3BDF9-27BA-FFF1-E5B4-41C934D3F0F6}"/>
              </a:ext>
            </a:extLst>
          </p:cNvPr>
          <p:cNvSpPr txBox="1"/>
          <p:nvPr/>
        </p:nvSpPr>
        <p:spPr>
          <a:xfrm>
            <a:off x="797096" y="2261072"/>
            <a:ext cx="3394309" cy="9002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>
                <a:solidFill>
                  <a:srgbClr val="44546A"/>
                </a:solidFill>
                <a:ea typeface="+mn-lt"/>
                <a:cs typeface="+mn-lt"/>
              </a:rPr>
              <a:t>Manual Data entry</a:t>
            </a:r>
          </a:p>
          <a:p>
            <a:r>
              <a:rPr lang="en-GB" sz="1350">
                <a:ea typeface="+mn-lt"/>
                <a:cs typeface="+mn-lt"/>
              </a:rPr>
              <a:t>Read </a:t>
            </a:r>
            <a:r>
              <a:rPr lang="en-GB" sz="1350" b="1">
                <a:ea typeface="+mn-lt"/>
                <a:cs typeface="+mn-lt"/>
              </a:rPr>
              <a:t>74,000 distinct paragraphs </a:t>
            </a:r>
            <a:r>
              <a:rPr lang="en-GB" sz="1350">
                <a:ea typeface="+mn-lt"/>
                <a:cs typeface="+mn-lt"/>
              </a:rPr>
              <a:t>over 2.5 years to ensure context and background were correctly interpreted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36562A-095E-2318-1214-6555622B9ED2}"/>
              </a:ext>
            </a:extLst>
          </p:cNvPr>
          <p:cNvSpPr txBox="1"/>
          <p:nvPr/>
        </p:nvSpPr>
        <p:spPr>
          <a:xfrm>
            <a:off x="797096" y="3282175"/>
            <a:ext cx="3687355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 dirty="0">
                <a:solidFill>
                  <a:srgbClr val="44546A"/>
                </a:solidFill>
                <a:ea typeface="+mn-lt"/>
                <a:cs typeface="+mn-lt"/>
              </a:rPr>
              <a:t>Search Criteria</a:t>
            </a:r>
          </a:p>
          <a:p>
            <a:r>
              <a:rPr lang="en-GB" sz="1350" dirty="0">
                <a:ea typeface="+mn-lt"/>
                <a:cs typeface="+mn-lt"/>
              </a:rPr>
              <a:t>Identification using </a:t>
            </a:r>
            <a:r>
              <a:rPr lang="en-GB" sz="1350" b="1" dirty="0">
                <a:ea typeface="+mn-lt"/>
                <a:cs typeface="+mn-lt"/>
              </a:rPr>
              <a:t>keywords</a:t>
            </a:r>
            <a:r>
              <a:rPr lang="en-GB" sz="1350" dirty="0">
                <a:ea typeface="+mn-lt"/>
                <a:cs typeface="+mn-lt"/>
              </a:rPr>
              <a:t> combined with </a:t>
            </a:r>
            <a:r>
              <a:rPr lang="en-GB" sz="1350" b="1" dirty="0">
                <a:ea typeface="+mn-lt"/>
                <a:cs typeface="+mn-lt"/>
              </a:rPr>
              <a:t>percentage terms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61EC1-8959-B12F-429E-DF1BD0C32861}"/>
              </a:ext>
            </a:extLst>
          </p:cNvPr>
          <p:cNvSpPr txBox="1"/>
          <p:nvPr/>
        </p:nvSpPr>
        <p:spPr>
          <a:xfrm>
            <a:off x="797096" y="4095528"/>
            <a:ext cx="368735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>
                <a:solidFill>
                  <a:srgbClr val="44546A"/>
                </a:solidFill>
                <a:ea typeface="+mn-lt"/>
                <a:cs typeface="+mn-lt"/>
              </a:rPr>
              <a:t>Sample Scope</a:t>
            </a:r>
          </a:p>
          <a:p>
            <a:r>
              <a:rPr lang="en-GB" sz="1350" b="1">
                <a:ea typeface="+mn-lt"/>
                <a:cs typeface="+mn-lt"/>
              </a:rPr>
              <a:t>2,500 large firms </a:t>
            </a:r>
            <a:r>
              <a:rPr lang="en-GB" sz="1350">
                <a:ea typeface="+mn-lt"/>
                <a:cs typeface="+mn-lt"/>
              </a:rPr>
              <a:t>from 20 Countries</a:t>
            </a:r>
          </a:p>
        </p:txBody>
      </p:sp>
      <p:grpSp>
        <p:nvGrpSpPr>
          <p:cNvPr id="10" name="Gruppieren 18">
            <a:extLst>
              <a:ext uri="{FF2B5EF4-FFF2-40B4-BE49-F238E27FC236}">
                <a16:creationId xmlns:a16="http://schemas.microsoft.com/office/drawing/2014/main" id="{A8478D41-E4B6-4119-FD0D-FB94708E2696}"/>
              </a:ext>
            </a:extLst>
          </p:cNvPr>
          <p:cNvGrpSpPr/>
          <p:nvPr/>
        </p:nvGrpSpPr>
        <p:grpSpPr>
          <a:xfrm>
            <a:off x="4557237" y="2046441"/>
            <a:ext cx="3759675" cy="1973180"/>
            <a:chOff x="4557237" y="2571750"/>
            <a:chExt cx="3759675" cy="148934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8151E10-2C48-2F1A-30A5-A6445C822A0E}"/>
                </a:ext>
              </a:extLst>
            </p:cNvPr>
            <p:cNvSpPr/>
            <p:nvPr/>
          </p:nvSpPr>
          <p:spPr>
            <a:xfrm>
              <a:off x="4571999" y="2571750"/>
              <a:ext cx="3744913" cy="14893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6BA50D-AAE8-191C-E21D-46605CC0E87F}"/>
                </a:ext>
              </a:extLst>
            </p:cNvPr>
            <p:cNvSpPr txBox="1"/>
            <p:nvPr/>
          </p:nvSpPr>
          <p:spPr>
            <a:xfrm>
              <a:off x="4557237" y="2589093"/>
              <a:ext cx="3026477" cy="226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350" b="1">
                  <a:solidFill>
                    <a:srgbClr val="44546A"/>
                  </a:solidFill>
                  <a:ea typeface="+mn-lt"/>
                  <a:cs typeface="+mn-lt"/>
                </a:rPr>
                <a:t>Practical </a:t>
              </a:r>
              <a:r>
                <a:rPr lang="de-DE" sz="1350" b="1" err="1">
                  <a:solidFill>
                    <a:srgbClr val="44546A"/>
                  </a:solidFill>
                  <a:ea typeface="+mn-lt"/>
                  <a:cs typeface="+mn-lt"/>
                </a:rPr>
                <a:t>Example</a:t>
              </a:r>
              <a:r>
                <a:rPr lang="de-DE" sz="1350" b="1">
                  <a:solidFill>
                    <a:srgbClr val="44546A"/>
                  </a:solidFill>
                  <a:ea typeface="+mn-lt"/>
                  <a:cs typeface="+mn-lt"/>
                </a:rPr>
                <a:t> – </a:t>
              </a:r>
              <a:r>
                <a:rPr lang="de-DE" sz="1350" b="1" err="1">
                  <a:solidFill>
                    <a:srgbClr val="44546A"/>
                  </a:solidFill>
                  <a:ea typeface="+mn-lt"/>
                  <a:cs typeface="+mn-lt"/>
                </a:rPr>
                <a:t>Intuit</a:t>
              </a:r>
              <a:r>
                <a:rPr lang="de-DE" sz="1350" b="1">
                  <a:solidFill>
                    <a:srgbClr val="44546A"/>
                  </a:solidFill>
                  <a:ea typeface="+mn-lt"/>
                  <a:cs typeface="+mn-lt"/>
                </a:rPr>
                <a:t> (2014):</a:t>
              </a:r>
              <a:endParaRPr lang="en-GB" sz="1350" b="1">
                <a:solidFill>
                  <a:srgbClr val="44546A"/>
                </a:solidFill>
                <a:ea typeface="+mn-lt"/>
                <a:cs typeface="+mn-lt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1460447-9906-D992-282B-468B4840A7DA}"/>
                </a:ext>
              </a:extLst>
            </p:cNvPr>
            <p:cNvSpPr txBox="1"/>
            <p:nvPr/>
          </p:nvSpPr>
          <p:spPr>
            <a:xfrm>
              <a:off x="4575772" y="2886270"/>
              <a:ext cx="3741140" cy="627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i="1"/>
                <a:t>“We continued to take a disciplined approach to capital management ( … ). Our weighted average cost of capital is about 9 or 9.5 percent ( … ). Our IRR hurdle is a 15 percent rate of return.”</a:t>
              </a:r>
              <a:endParaRPr lang="de-DE" sz="1200" b="1" i="1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0414CBD-92D7-BC18-BEB3-DF3217104788}"/>
                </a:ext>
              </a:extLst>
            </p:cNvPr>
            <p:cNvGrpSpPr/>
            <p:nvPr/>
          </p:nvGrpSpPr>
          <p:grpSpPr>
            <a:xfrm>
              <a:off x="4950351" y="3618956"/>
              <a:ext cx="3027789" cy="383307"/>
              <a:chOff x="2201577" y="4161381"/>
              <a:chExt cx="3027789" cy="383307"/>
            </a:xfrm>
          </p:grpSpPr>
          <p:sp>
            <p:nvSpPr>
              <p:cNvPr id="15" name="Arrow: Right 14">
                <a:extLst>
                  <a:ext uri="{FF2B5EF4-FFF2-40B4-BE49-F238E27FC236}">
                    <a16:creationId xmlns:a16="http://schemas.microsoft.com/office/drawing/2014/main" id="{C195787A-28EB-3C7F-79CF-EEB690322094}"/>
                  </a:ext>
                </a:extLst>
              </p:cNvPr>
              <p:cNvSpPr/>
              <p:nvPr/>
            </p:nvSpPr>
            <p:spPr>
              <a:xfrm>
                <a:off x="2201577" y="4281060"/>
                <a:ext cx="481333" cy="149392"/>
              </a:xfrm>
              <a:prstGeom prst="rightArrow">
                <a:avLst/>
              </a:prstGeom>
              <a:solidFill>
                <a:srgbClr val="323F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42F23A8-7010-091E-A5E5-05720B63672D}"/>
                  </a:ext>
                </a:extLst>
              </p:cNvPr>
              <p:cNvSpPr txBox="1"/>
              <p:nvPr/>
            </p:nvSpPr>
            <p:spPr>
              <a:xfrm>
                <a:off x="2700328" y="4161381"/>
                <a:ext cx="2529038" cy="383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350">
                    <a:solidFill>
                      <a:srgbClr val="323F50"/>
                    </a:solidFill>
                  </a:rPr>
                  <a:t>Discount rate: </a:t>
                </a:r>
                <a:r>
                  <a:rPr lang="de-DE" sz="1350" b="1">
                    <a:solidFill>
                      <a:srgbClr val="323F50"/>
                    </a:solidFill>
                  </a:rPr>
                  <a:t>15 %</a:t>
                </a:r>
              </a:p>
              <a:p>
                <a:r>
                  <a:rPr lang="de-DE" sz="1350" err="1">
                    <a:solidFill>
                      <a:srgbClr val="323F50"/>
                    </a:solidFill>
                  </a:rPr>
                  <a:t>Perceived</a:t>
                </a:r>
                <a:r>
                  <a:rPr lang="de-DE" sz="1350">
                    <a:solidFill>
                      <a:srgbClr val="323F50"/>
                    </a:solidFill>
                  </a:rPr>
                  <a:t> </a:t>
                </a:r>
                <a:r>
                  <a:rPr lang="de-DE" sz="1350" err="1">
                    <a:solidFill>
                      <a:srgbClr val="323F50"/>
                    </a:solidFill>
                  </a:rPr>
                  <a:t>cost</a:t>
                </a:r>
                <a:r>
                  <a:rPr lang="de-DE" sz="1350">
                    <a:solidFill>
                      <a:srgbClr val="323F50"/>
                    </a:solidFill>
                  </a:rPr>
                  <a:t> </a:t>
                </a:r>
                <a:r>
                  <a:rPr lang="de-DE" sz="1350" err="1">
                    <a:solidFill>
                      <a:srgbClr val="323F50"/>
                    </a:solidFill>
                  </a:rPr>
                  <a:t>of</a:t>
                </a:r>
                <a:r>
                  <a:rPr lang="de-DE" sz="1350">
                    <a:solidFill>
                      <a:srgbClr val="323F50"/>
                    </a:solidFill>
                  </a:rPr>
                  <a:t> </a:t>
                </a:r>
                <a:r>
                  <a:rPr lang="de-DE" sz="1350" err="1">
                    <a:solidFill>
                      <a:srgbClr val="323F50"/>
                    </a:solidFill>
                  </a:rPr>
                  <a:t>capital</a:t>
                </a:r>
                <a:r>
                  <a:rPr lang="de-DE" sz="1350">
                    <a:solidFill>
                      <a:srgbClr val="323F50"/>
                    </a:solidFill>
                  </a:rPr>
                  <a:t>: </a:t>
                </a:r>
                <a:r>
                  <a:rPr lang="de-DE" sz="1350" b="1">
                    <a:solidFill>
                      <a:srgbClr val="323F50"/>
                    </a:solidFill>
                  </a:rPr>
                  <a:t>9.25 %</a:t>
                </a:r>
                <a:endParaRPr lang="en-GB" sz="1350" b="1">
                  <a:solidFill>
                    <a:srgbClr val="323F5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5986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C2CD7-E552-1494-AB4D-95AD32E5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A3217D9C-2591-E819-78F6-2476B9062AAB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1E98CB87-81D8-1458-DBC2-8BF4C7FC93A5}"/>
              </a:ext>
            </a:extLst>
          </p:cNvPr>
          <p:cNvSpPr txBox="1">
            <a:spLocks/>
          </p:cNvSpPr>
          <p:nvPr/>
        </p:nvSpPr>
        <p:spPr>
          <a:xfrm>
            <a:off x="790913" y="442168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Defining Key Variable and the “Wedge”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2EEE04-D2A3-1872-E9DB-F4D8F64E7EA3}"/>
              </a:ext>
            </a:extLst>
          </p:cNvPr>
          <p:cNvSpPr txBox="1"/>
          <p:nvPr/>
        </p:nvSpPr>
        <p:spPr>
          <a:xfrm>
            <a:off x="790913" y="1867462"/>
            <a:ext cx="3687355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>
                <a:solidFill>
                  <a:srgbClr val="44546A"/>
                </a:solidFill>
                <a:ea typeface="+mn-lt"/>
                <a:cs typeface="+mn-lt"/>
              </a:rPr>
              <a:t>Discount Rate </a:t>
            </a:r>
            <a:r>
              <a:rPr lang="el-GR" sz="1350" b="1">
                <a:solidFill>
                  <a:srgbClr val="44546A"/>
                </a:solidFill>
                <a:ea typeface="+mn-lt"/>
                <a:cs typeface="+mn-lt"/>
              </a:rPr>
              <a:t>δ</a:t>
            </a:r>
            <a:endParaRPr lang="en-GB" sz="1350" b="1">
              <a:solidFill>
                <a:srgbClr val="44546A"/>
              </a:solidFill>
              <a:ea typeface="+mn-lt"/>
              <a:cs typeface="+mn-lt"/>
            </a:endParaRPr>
          </a:p>
          <a:p>
            <a:r>
              <a:rPr lang="en-GB" sz="1350">
                <a:ea typeface="+mn-lt"/>
                <a:cs typeface="+mn-lt"/>
              </a:rPr>
              <a:t>Minimum </a:t>
            </a:r>
            <a:r>
              <a:rPr lang="en-GB" sz="1350" b="1">
                <a:ea typeface="+mn-lt"/>
                <a:cs typeface="+mn-lt"/>
              </a:rPr>
              <a:t>required IRR </a:t>
            </a:r>
            <a:r>
              <a:rPr lang="en-GB" sz="1350">
                <a:ea typeface="+mn-lt"/>
                <a:cs typeface="+mn-lt"/>
              </a:rPr>
              <a:t>for new projects , “hurdle rate”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E60ACD-974D-B4CA-ADD8-726BBEF5E39A}"/>
                  </a:ext>
                </a:extLst>
              </p:cNvPr>
              <p:cNvSpPr txBox="1"/>
              <p:nvPr/>
            </p:nvSpPr>
            <p:spPr>
              <a:xfrm>
                <a:off x="790913" y="3739225"/>
                <a:ext cx="3687355" cy="48474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GB" sz="1350" b="1">
                    <a:solidFill>
                      <a:srgbClr val="44546A"/>
                    </a:solidFill>
                    <a:ea typeface="+mn-lt"/>
                    <a:cs typeface="+mn-lt"/>
                  </a:rPr>
                  <a:t>Perceived Cost of Capital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350" b="1" i="1" smtClean="0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pPr>
                      <m:e>
                        <m:r>
                          <a:rPr lang="de-DE" sz="1350" b="1" i="1" smtClean="0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𝒓</m:t>
                        </m:r>
                      </m:e>
                      <m:sup>
                        <m:r>
                          <a:rPr lang="de-DE" sz="1350" b="1" i="1" smtClean="0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𝒑𝒆𝒓</m:t>
                        </m:r>
                      </m:sup>
                    </m:sSup>
                  </m:oMath>
                </a14:m>
                <a:endParaRPr lang="en-GB" sz="1350" b="1">
                  <a:solidFill>
                    <a:srgbClr val="44546A"/>
                  </a:solidFill>
                  <a:ea typeface="+mn-lt"/>
                  <a:cs typeface="+mn-lt"/>
                </a:endParaRPr>
              </a:p>
              <a:p>
                <a:r>
                  <a:rPr lang="en-GB" sz="1350">
                    <a:ea typeface="+mn-lt"/>
                    <a:cs typeface="+mn-lt"/>
                  </a:rPr>
                  <a:t>Firms </a:t>
                </a:r>
                <a:r>
                  <a:rPr lang="en-GB" sz="1350" b="1">
                    <a:ea typeface="+mn-lt"/>
                    <a:cs typeface="+mn-lt"/>
                  </a:rPr>
                  <a:t>internal</a:t>
                </a:r>
                <a:r>
                  <a:rPr lang="en-GB" sz="1350">
                    <a:ea typeface="+mn-lt"/>
                    <a:cs typeface="+mn-lt"/>
                  </a:rPr>
                  <a:t> estimate of own WACC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E60ACD-974D-B4CA-ADD8-726BBEF5E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13" y="3739225"/>
                <a:ext cx="3687355" cy="484748"/>
              </a:xfrm>
              <a:prstGeom prst="rect">
                <a:avLst/>
              </a:prstGeom>
              <a:blipFill>
                <a:blip r:embed="rId3"/>
                <a:stretch>
                  <a:fillRect l="-1157" t="-375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47B4455-984C-92A3-B335-98E2A253876D}"/>
              </a:ext>
            </a:extLst>
          </p:cNvPr>
          <p:cNvSpPr txBox="1"/>
          <p:nvPr/>
        </p:nvSpPr>
        <p:spPr>
          <a:xfrm>
            <a:off x="790913" y="2799272"/>
            <a:ext cx="3687355" cy="7006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350" b="1">
                <a:solidFill>
                  <a:srgbClr val="44546A"/>
                </a:solidFill>
                <a:ea typeface="+mn-lt"/>
                <a:cs typeface="+mn-lt"/>
              </a:rPr>
              <a:t>Financial </a:t>
            </a:r>
            <a:r>
              <a:rPr lang="de-DE" sz="1350" b="1" err="1">
                <a:solidFill>
                  <a:srgbClr val="44546A"/>
                </a:solidFill>
                <a:ea typeface="+mn-lt"/>
                <a:cs typeface="+mn-lt"/>
              </a:rPr>
              <a:t>Cost</a:t>
            </a:r>
            <a:r>
              <a:rPr lang="de-DE" sz="1350" b="1">
                <a:solidFill>
                  <a:srgbClr val="44546A"/>
                </a:solidFill>
                <a:ea typeface="+mn-lt"/>
                <a:cs typeface="+mn-lt"/>
              </a:rPr>
              <a:t> </a:t>
            </a:r>
            <a:r>
              <a:rPr lang="de-DE" sz="1350" b="1" err="1">
                <a:solidFill>
                  <a:srgbClr val="44546A"/>
                </a:solidFill>
                <a:ea typeface="+mn-lt"/>
                <a:cs typeface="+mn-lt"/>
              </a:rPr>
              <a:t>of</a:t>
            </a:r>
            <a:r>
              <a:rPr lang="de-DE" sz="1350" b="1">
                <a:solidFill>
                  <a:srgbClr val="44546A"/>
                </a:solidFill>
                <a:ea typeface="+mn-lt"/>
                <a:cs typeface="+mn-lt"/>
              </a:rPr>
              <a:t> Capital</a:t>
            </a:r>
            <a:endParaRPr lang="en-GB" sz="1350" b="1">
              <a:solidFill>
                <a:srgbClr val="44546A"/>
              </a:solidFill>
              <a:ea typeface="+mn-lt"/>
              <a:cs typeface="+mn-lt"/>
            </a:endParaRPr>
          </a:p>
          <a:p>
            <a:r>
              <a:rPr lang="en-GB" sz="1350">
                <a:ea typeface="+mn-lt"/>
                <a:cs typeface="+mn-lt"/>
              </a:rPr>
              <a:t>Stylized market measures calculated using</a:t>
            </a:r>
            <a:r>
              <a:rPr lang="en-GB" sz="1350" b="1">
                <a:ea typeface="+mn-lt"/>
                <a:cs typeface="+mn-lt"/>
              </a:rPr>
              <a:t> CAPM </a:t>
            </a:r>
            <a:r>
              <a:rPr lang="en-GB" sz="1350">
                <a:ea typeface="+mn-lt"/>
                <a:cs typeface="+mn-lt"/>
              </a:rPr>
              <a:t>and government bond yields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C4238EC-C559-2E47-7E44-797E1428B612}"/>
              </a:ext>
            </a:extLst>
          </p:cNvPr>
          <p:cNvGrpSpPr/>
          <p:nvPr/>
        </p:nvGrpSpPr>
        <p:grpSpPr>
          <a:xfrm>
            <a:off x="4568012" y="1914645"/>
            <a:ext cx="3748901" cy="768463"/>
            <a:chOff x="4568012" y="1465744"/>
            <a:chExt cx="3748901" cy="7684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023FF47-8B4E-0221-13F1-D1F414F8A3F8}"/>
                </a:ext>
              </a:extLst>
            </p:cNvPr>
            <p:cNvSpPr/>
            <p:nvPr/>
          </p:nvSpPr>
          <p:spPr>
            <a:xfrm>
              <a:off x="4572000" y="1465744"/>
              <a:ext cx="3744913" cy="768463"/>
            </a:xfrm>
            <a:prstGeom prst="rect">
              <a:avLst/>
            </a:prstGeom>
            <a:noFill/>
            <a:ln>
              <a:solidFill>
                <a:srgbClr val="323F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4656C00-0317-9031-625E-B3A8875EBB63}"/>
                    </a:ext>
                  </a:extLst>
                </p:cNvPr>
                <p:cNvSpPr txBox="1"/>
                <p:nvPr/>
              </p:nvSpPr>
              <p:spPr>
                <a:xfrm>
                  <a:off x="4568012" y="1469260"/>
                  <a:ext cx="2134937" cy="3000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350" b="1">
                      <a:solidFill>
                        <a:srgbClr val="44546A"/>
                      </a:solidFill>
                      <a:ea typeface="+mn-lt"/>
                      <a:cs typeface="+mn-lt"/>
                    </a:rPr>
                    <a:t>The discount rate Wedge </a:t>
                  </a:r>
                  <a14:m>
                    <m:oMath xmlns:m="http://schemas.openxmlformats.org/officeDocument/2006/math">
                      <m:r>
                        <a:rPr lang="el-GR" sz="1200" b="1" dirty="0">
                          <a:solidFill>
                            <a:srgbClr val="44546A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𝛋</m:t>
                      </m:r>
                    </m:oMath>
                  </a14:m>
                  <a:r>
                    <a:rPr lang="de-DE" sz="1350" b="1">
                      <a:solidFill>
                        <a:srgbClr val="44546A"/>
                      </a:solidFill>
                      <a:ea typeface="+mn-lt"/>
                      <a:cs typeface="+mn-lt"/>
                    </a:rPr>
                    <a:t> </a:t>
                  </a:r>
                  <a:endParaRPr lang="en-GB" sz="1350" b="1">
                    <a:solidFill>
                      <a:srgbClr val="44546A"/>
                    </a:solidFill>
                    <a:ea typeface="+mn-lt"/>
                    <a:cs typeface="+mn-lt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4656C00-0317-9031-625E-B3A8875EBB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8012" y="1469260"/>
                  <a:ext cx="2134937" cy="300082"/>
                </a:xfrm>
                <a:prstGeom prst="rect">
                  <a:avLst/>
                </a:prstGeom>
                <a:blipFill>
                  <a:blip r:embed="rId4"/>
                  <a:stretch>
                    <a:fillRect l="-570" t="-4082" b="-204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E092609-5CB1-4BB7-E592-1A3551008469}"/>
                    </a:ext>
                  </a:extLst>
                </p:cNvPr>
                <p:cNvSpPr txBox="1"/>
                <p:nvPr/>
              </p:nvSpPr>
              <p:spPr>
                <a:xfrm>
                  <a:off x="4682968" y="1738720"/>
                  <a:ext cx="35229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b="1" dirty="0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𝛋</m:t>
                        </m:r>
                        <m:r>
                          <a:rPr lang="el-GR" b="1" i="1" dirty="0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de-DE" b="1" i="1" dirty="0" smtClean="0">
                            <a:solidFill>
                              <a:srgbClr val="44546A"/>
                            </a:solidFill>
                            <a:ea typeface="+mn-lt"/>
                            <a:cs typeface="+mn-lt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de-DE" b="1" i="0" dirty="0" smtClean="0">
                            <a:solidFill>
                              <a:srgbClr val="44546A"/>
                            </a:solidFill>
                            <a:ea typeface="+mn-lt"/>
                            <a:cs typeface="+mn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b="1" dirty="0">
                            <a:solidFill>
                              <a:srgbClr val="44546A"/>
                            </a:solidFill>
                            <a:ea typeface="+mn-lt"/>
                            <a:cs typeface="+mn-lt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de-DE" b="1" i="0" dirty="0" smtClean="0">
                            <a:solidFill>
                              <a:srgbClr val="44546A"/>
                            </a:solidFill>
                            <a:ea typeface="+mn-lt"/>
                            <a:cs typeface="+mn-lt"/>
                          </a:rPr>
                          <m:t>−</m:t>
                        </m:r>
                        <m:sSup>
                          <m:sSupPr>
                            <m:ctrlPr>
                              <a:rPr lang="de-DE" b="1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</m:ctrlPr>
                          </m:sSupPr>
                          <m:e>
                            <m:r>
                              <a:rPr lang="de-DE" b="1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 </m:t>
                            </m:r>
                            <m:r>
                              <a:rPr lang="de-DE" b="1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𝒓</m:t>
                            </m:r>
                          </m:e>
                          <m:sup>
                            <m:r>
                              <a:rPr lang="de-DE" b="1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𝒑𝒆𝒓</m:t>
                            </m:r>
                          </m:sup>
                        </m:sSup>
                      </m:oMath>
                    </m:oMathPara>
                  </a14:m>
                  <a:endParaRPr lang="en-GB" b="1">
                    <a:solidFill>
                      <a:srgbClr val="44546A"/>
                    </a:solidFill>
                    <a:ea typeface="+mn-lt"/>
                    <a:cs typeface="+mn-lt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E092609-5CB1-4BB7-E592-1A35510084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2968" y="1738720"/>
                  <a:ext cx="352297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DF292767-341B-2C55-34C6-0E44E095B787}"/>
              </a:ext>
            </a:extLst>
          </p:cNvPr>
          <p:cNvGrpSpPr/>
          <p:nvPr/>
        </p:nvGrpSpPr>
        <p:grpSpPr>
          <a:xfrm>
            <a:off x="4557237" y="2762949"/>
            <a:ext cx="3759675" cy="1489340"/>
            <a:chOff x="4557237" y="2571750"/>
            <a:chExt cx="3759675" cy="148934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6C29C6-F485-5D70-C441-BB0EAACA134F}"/>
                </a:ext>
              </a:extLst>
            </p:cNvPr>
            <p:cNvSpPr/>
            <p:nvPr/>
          </p:nvSpPr>
          <p:spPr>
            <a:xfrm>
              <a:off x="4571999" y="2571750"/>
              <a:ext cx="3744913" cy="14893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F180384-CFA1-B43C-D15C-F952EC9F4A8D}"/>
                </a:ext>
              </a:extLst>
            </p:cNvPr>
            <p:cNvSpPr txBox="1"/>
            <p:nvPr/>
          </p:nvSpPr>
          <p:spPr>
            <a:xfrm>
              <a:off x="4557237" y="2589093"/>
              <a:ext cx="1519245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350" b="1">
                  <a:solidFill>
                    <a:srgbClr val="44546A"/>
                  </a:solidFill>
                  <a:ea typeface="+mn-lt"/>
                  <a:cs typeface="+mn-lt"/>
                </a:rPr>
                <a:t>Practical </a:t>
              </a:r>
              <a:r>
                <a:rPr lang="de-DE" sz="1350" b="1" err="1">
                  <a:solidFill>
                    <a:srgbClr val="44546A"/>
                  </a:solidFill>
                  <a:ea typeface="+mn-lt"/>
                  <a:cs typeface="+mn-lt"/>
                </a:rPr>
                <a:t>Example</a:t>
              </a:r>
              <a:r>
                <a:rPr lang="de-DE" sz="1350" b="1">
                  <a:solidFill>
                    <a:srgbClr val="44546A"/>
                  </a:solidFill>
                  <a:ea typeface="+mn-lt"/>
                  <a:cs typeface="+mn-lt"/>
                </a:rPr>
                <a:t>:</a:t>
              </a:r>
              <a:endParaRPr lang="en-GB" sz="1350" b="1">
                <a:solidFill>
                  <a:srgbClr val="44546A"/>
                </a:solidFill>
                <a:ea typeface="+mn-lt"/>
                <a:cs typeface="+mn-lt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54350FC-EF8B-701C-B154-F4A595C8D5AF}"/>
                </a:ext>
              </a:extLst>
            </p:cNvPr>
            <p:cNvSpPr txBox="1"/>
            <p:nvPr/>
          </p:nvSpPr>
          <p:spPr>
            <a:xfrm>
              <a:off x="4575772" y="2886270"/>
              <a:ext cx="3704628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350" i="1"/>
                <a:t>Nasdaq 100 firm </a:t>
              </a:r>
              <a:r>
                <a:rPr lang="de-DE" sz="1350" b="1" i="1" err="1"/>
                <a:t>Intuit</a:t>
              </a:r>
              <a:r>
                <a:rPr lang="de-DE" sz="1350" i="1"/>
                <a:t> (2014) </a:t>
              </a:r>
              <a:r>
                <a:rPr lang="de-DE" sz="1350" i="1" err="1"/>
                <a:t>reported</a:t>
              </a:r>
              <a:r>
                <a:rPr lang="de-DE" sz="1350" i="1"/>
                <a:t> </a:t>
              </a:r>
              <a:r>
                <a:rPr lang="de-DE" sz="1350" b="1" i="1"/>
                <a:t>WACC </a:t>
              </a:r>
              <a:r>
                <a:rPr lang="de-DE" sz="1350" b="1" i="1" err="1"/>
                <a:t>of</a:t>
              </a:r>
              <a:r>
                <a:rPr lang="de-DE" sz="1350" b="1" i="1"/>
                <a:t> 9.25%</a:t>
              </a:r>
              <a:r>
                <a:rPr lang="de-DE" sz="1350" i="1"/>
                <a:t> but </a:t>
              </a:r>
              <a:r>
                <a:rPr lang="de-DE" sz="1350" i="1" err="1"/>
                <a:t>used</a:t>
              </a:r>
              <a:r>
                <a:rPr lang="de-DE" sz="1350" i="1"/>
                <a:t> an </a:t>
              </a:r>
              <a:r>
                <a:rPr lang="de-DE" sz="1350" b="1" i="1"/>
                <a:t>IRR </a:t>
              </a:r>
              <a:r>
                <a:rPr lang="de-DE" sz="1350" i="1" err="1"/>
                <a:t>hurdle</a:t>
              </a:r>
              <a:r>
                <a:rPr lang="de-DE" sz="1350" i="1"/>
                <a:t> </a:t>
              </a:r>
              <a:r>
                <a:rPr lang="de-DE" sz="1350" i="1" err="1"/>
                <a:t>of</a:t>
              </a:r>
              <a:r>
                <a:rPr lang="de-DE" sz="1350" i="1"/>
                <a:t> </a:t>
              </a:r>
              <a:r>
                <a:rPr lang="de-DE" sz="1350" b="1" i="1"/>
                <a:t>15%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08749FF-7E33-1DA2-6FD5-8811137B0356}"/>
                </a:ext>
              </a:extLst>
            </p:cNvPr>
            <p:cNvSpPr txBox="1"/>
            <p:nvPr/>
          </p:nvSpPr>
          <p:spPr>
            <a:xfrm>
              <a:off x="6216687" y="3675594"/>
              <a:ext cx="1090073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350">
                  <a:solidFill>
                    <a:srgbClr val="323F50"/>
                  </a:solidFill>
                </a:rPr>
                <a:t>Clear </a:t>
              </a:r>
              <a:r>
                <a:rPr lang="de-DE" sz="1350" b="1">
                  <a:solidFill>
                    <a:srgbClr val="323F50"/>
                  </a:solidFill>
                </a:rPr>
                <a:t>Wedge</a:t>
              </a:r>
              <a:endParaRPr lang="en-GB" sz="1350" b="1">
                <a:solidFill>
                  <a:srgbClr val="323F50"/>
                </a:solidFill>
              </a:endParaRPr>
            </a:p>
          </p:txBody>
        </p:sp>
      </p:grpSp>
      <p:sp>
        <p:nvSpPr>
          <p:cNvPr id="7" name="Arrow: Right 14">
            <a:extLst>
              <a:ext uri="{FF2B5EF4-FFF2-40B4-BE49-F238E27FC236}">
                <a16:creationId xmlns:a16="http://schemas.microsoft.com/office/drawing/2014/main" id="{A8529272-54B0-2D20-7175-2A67852EBD6C}"/>
              </a:ext>
            </a:extLst>
          </p:cNvPr>
          <p:cNvSpPr/>
          <p:nvPr/>
        </p:nvSpPr>
        <p:spPr>
          <a:xfrm>
            <a:off x="5735354" y="3922842"/>
            <a:ext cx="481333" cy="197925"/>
          </a:xfrm>
          <a:prstGeom prst="rightArrow">
            <a:avLst/>
          </a:prstGeom>
          <a:solidFill>
            <a:srgbClr val="323F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449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6A296-3284-C5CF-57C3-83357A92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DF3609AA-D47E-328B-8115-69340D5F9BA8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81D10DC2-83BF-7533-1EFE-7B3B171625E9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1">
                <a:solidFill>
                  <a:schemeClr val="tx2"/>
                </a:solidFill>
                <a:ea typeface="Calibri"/>
                <a:cs typeface="Calibri"/>
              </a:rPr>
              <a:t>Sample Coverage and Trend Parameters</a:t>
            </a:r>
            <a:endParaRPr lang="en-GB" sz="2000" b="1">
              <a:solidFill>
                <a:schemeClr val="tx2"/>
              </a:solidFill>
              <a:ea typeface="Calibri"/>
              <a:cs typeface="Calibri"/>
            </a:endParaRPr>
          </a:p>
        </p:txBody>
      </p:sp>
      <p:pic>
        <p:nvPicPr>
          <p:cNvPr id="2" name="Picture 1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5369EF1E-77ED-4B69-7C94-CD146AB770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477"/>
          <a:stretch>
            <a:fillRect/>
          </a:stretch>
        </p:blipFill>
        <p:spPr>
          <a:xfrm>
            <a:off x="863600" y="1984903"/>
            <a:ext cx="3405209" cy="19160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 descr="A graph of a discount rate&#10;&#10;AI-generated content may be incorrect.">
            <a:extLst>
              <a:ext uri="{FF2B5EF4-FFF2-40B4-BE49-F238E27FC236}">
                <a16:creationId xmlns:a16="http://schemas.microsoft.com/office/drawing/2014/main" id="{15534C96-A4F6-6A1F-2434-E37CEFA86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5191" y="1567175"/>
            <a:ext cx="3441721" cy="2751499"/>
          </a:xfrm>
          <a:prstGeom prst="rect">
            <a:avLst/>
          </a:prstGeom>
        </p:spPr>
      </p:pic>
      <p:cxnSp>
        <p:nvCxnSpPr>
          <p:cNvPr id="10" name="Gerade Verbindung 9">
            <a:extLst>
              <a:ext uri="{FF2B5EF4-FFF2-40B4-BE49-F238E27FC236}">
                <a16:creationId xmlns:a16="http://schemas.microsoft.com/office/drawing/2014/main" id="{FECE5E1F-974E-6D3E-8559-DF83837F1578}"/>
              </a:ext>
            </a:extLst>
          </p:cNvPr>
          <p:cNvCxnSpPr>
            <a:cxnSpLocks/>
          </p:cNvCxnSpPr>
          <p:nvPr/>
        </p:nvCxnSpPr>
        <p:spPr>
          <a:xfrm flipH="1" flipV="1">
            <a:off x="4567237" y="1455738"/>
            <a:ext cx="9526" cy="297437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0F04AEC-86D2-AF22-F099-4B81FCF72A0A}"/>
              </a:ext>
            </a:extLst>
          </p:cNvPr>
          <p:cNvSpPr/>
          <p:nvPr/>
        </p:nvSpPr>
        <p:spPr>
          <a:xfrm>
            <a:off x="2146479" y="2455571"/>
            <a:ext cx="236113" cy="21035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341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EBD74-8296-77CA-0905-B55879970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B5B747F5-558E-D2B9-EE9D-E27C8D5EA931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2759A2F0-5CCA-3945-8208-450C48BE0E87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Empirical Methodology and Identification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A5019992-B521-E1C3-28AF-E7082DEAC0B9}"/>
              </a:ext>
            </a:extLst>
          </p:cNvPr>
          <p:cNvSpPr txBox="1"/>
          <p:nvPr/>
        </p:nvSpPr>
        <p:spPr>
          <a:xfrm>
            <a:off x="788783" y="1447718"/>
            <a:ext cx="7528130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>
                <a:solidFill>
                  <a:srgbClr val="44546A"/>
                </a:solidFill>
                <a:ea typeface="+mn-lt"/>
                <a:cs typeface="+mn-lt"/>
              </a:rPr>
              <a:t>Firm Panel</a:t>
            </a:r>
          </a:p>
          <a:p>
            <a:r>
              <a:rPr lang="en-GB" sz="1350">
                <a:ea typeface="+mn-lt"/>
                <a:cs typeface="+mn-lt"/>
              </a:rPr>
              <a:t>Study focuses on </a:t>
            </a:r>
            <a:r>
              <a:rPr lang="en-GB" sz="1350" b="1">
                <a:ea typeface="+mn-lt"/>
                <a:cs typeface="+mn-lt"/>
              </a:rPr>
              <a:t>within-firm variation</a:t>
            </a:r>
            <a:r>
              <a:rPr lang="en-GB" sz="1350">
                <a:ea typeface="+mn-lt"/>
                <a:cs typeface="+mn-lt"/>
              </a:rPr>
              <a:t>, controlling for firm fixed effects to see how a specific firm changes its rates over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3F77E1-B2D7-B099-4731-B7A07239E197}"/>
              </a:ext>
            </a:extLst>
          </p:cNvPr>
          <p:cNvSpPr txBox="1"/>
          <p:nvPr/>
        </p:nvSpPr>
        <p:spPr>
          <a:xfrm>
            <a:off x="788782" y="2330321"/>
            <a:ext cx="7528129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>
                <a:solidFill>
                  <a:srgbClr val="44546A"/>
                </a:solidFill>
                <a:ea typeface="+mn-lt"/>
                <a:cs typeface="+mn-lt"/>
              </a:rPr>
              <a:t>Measurement Error</a:t>
            </a:r>
          </a:p>
          <a:p>
            <a:r>
              <a:rPr lang="en-GB" sz="1350">
                <a:ea typeface="+mn-lt"/>
                <a:cs typeface="+mn-lt"/>
              </a:rPr>
              <a:t>Predicted Perceived Cost of Capital constructed via a Lasso procedure using </a:t>
            </a:r>
            <a:r>
              <a:rPr lang="en-GB" sz="1350" b="1">
                <a:ea typeface="+mn-lt"/>
                <a:cs typeface="+mn-lt"/>
              </a:rPr>
              <a:t>7 predictors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45DC9-CCED-435B-7081-7B3AA441BF91}"/>
              </a:ext>
            </a:extLst>
          </p:cNvPr>
          <p:cNvSpPr txBox="1"/>
          <p:nvPr/>
        </p:nvSpPr>
        <p:spPr>
          <a:xfrm>
            <a:off x="788783" y="3005175"/>
            <a:ext cx="7528130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>
                <a:solidFill>
                  <a:srgbClr val="44546A"/>
                </a:solidFill>
                <a:ea typeface="+mn-lt"/>
                <a:cs typeface="+mn-lt"/>
              </a:rPr>
              <a:t>Transmission Horizons</a:t>
            </a:r>
          </a:p>
          <a:p>
            <a:r>
              <a:rPr lang="en-GB" sz="1350">
                <a:ea typeface="+mn-lt"/>
                <a:cs typeface="+mn-lt"/>
              </a:rPr>
              <a:t>Transmission of market shocks to internal rates over different time horizons, ranging from </a:t>
            </a:r>
            <a:r>
              <a:rPr lang="en-GB" sz="1350" b="1">
                <a:ea typeface="+mn-lt"/>
                <a:cs typeface="+mn-lt"/>
              </a:rPr>
              <a:t>1 year to over 12 years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F0D641-B696-7E4E-93C4-0CD527FE4E92}"/>
              </a:ext>
            </a:extLst>
          </p:cNvPr>
          <p:cNvSpPr txBox="1"/>
          <p:nvPr/>
        </p:nvSpPr>
        <p:spPr>
          <a:xfrm>
            <a:off x="788783" y="3887779"/>
            <a:ext cx="7528130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>
                <a:solidFill>
                  <a:srgbClr val="44546A"/>
                </a:solidFill>
                <a:ea typeface="+mn-lt"/>
                <a:cs typeface="+mn-lt"/>
              </a:rPr>
              <a:t>Overhead Adjustment</a:t>
            </a:r>
          </a:p>
          <a:p>
            <a:r>
              <a:rPr lang="en-GB" sz="1350">
                <a:ea typeface="+mn-lt"/>
                <a:cs typeface="+mn-lt"/>
              </a:rPr>
              <a:t>Authors control for firm </a:t>
            </a:r>
            <a:r>
              <a:rPr lang="en-GB" sz="1350" b="1">
                <a:ea typeface="+mn-lt"/>
                <a:cs typeface="+mn-lt"/>
              </a:rPr>
              <a:t>specific overhead costs </a:t>
            </a:r>
            <a:r>
              <a:rPr lang="en-GB" sz="1350">
                <a:ea typeface="+mn-lt"/>
                <a:cs typeface="+mn-lt"/>
              </a:rPr>
              <a:t>to ensure they do not drive the results</a:t>
            </a:r>
          </a:p>
        </p:txBody>
      </p:sp>
    </p:spTree>
    <p:extLst>
      <p:ext uri="{BB962C8B-B14F-4D97-AF65-F5344CB8AC3E}">
        <p14:creationId xmlns:p14="http://schemas.microsoft.com/office/powerpoint/2010/main" val="174341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E862A-B1A5-A5EE-9352-58EC8F2E8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4642-CBA0-638A-497D-8826A2A74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75" y="3381521"/>
            <a:ext cx="8533699" cy="1965394"/>
          </a:xfrm>
        </p:spPr>
        <p:txBody>
          <a:bodyPr anchor="t"/>
          <a:lstStyle/>
          <a:p>
            <a:r>
              <a:rPr lang="en-GB"/>
              <a:t>FINDINGS</a:t>
            </a:r>
          </a:p>
        </p:txBody>
      </p:sp>
    </p:spTree>
    <p:extLst>
      <p:ext uri="{BB962C8B-B14F-4D97-AF65-F5344CB8AC3E}">
        <p14:creationId xmlns:p14="http://schemas.microsoft.com/office/powerpoint/2010/main" val="2595177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1F8A5-1FA0-FB08-5DB8-F0EC164DB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D0FEB189-0BAD-2034-8529-2098EE743197}"/>
              </a:ext>
            </a:extLst>
          </p:cNvPr>
          <p:cNvSpPr txBox="1"/>
          <p:nvPr/>
        </p:nvSpPr>
        <p:spPr>
          <a:xfrm>
            <a:off x="781050" y="1219329"/>
            <a:ext cx="8033039" cy="12861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Calibri"/>
                <a:cs typeface="Segoe UI"/>
              </a:rPr>
              <a:t>Firms report a Weighted Average Cost of Capital (WACC) </a:t>
            </a:r>
            <a:r>
              <a:rPr lang="en-GB" sz="1350" b="1">
                <a:ea typeface="Calibri"/>
                <a:cs typeface="Segoe UI"/>
              </a:rPr>
              <a:t>consistent</a:t>
            </a:r>
            <a:r>
              <a:rPr lang="en-GB" sz="1350">
                <a:ea typeface="Calibri"/>
                <a:cs typeface="Segoe UI"/>
              </a:rPr>
              <a:t> with market inputs</a:t>
            </a:r>
            <a:endParaRPr lang="en-GB" sz="1350">
              <a:ea typeface="+mn-lt"/>
              <a:cs typeface="Segoe UI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/>
              <a:t>Perceived cost of capital </a:t>
            </a:r>
            <a:r>
              <a:rPr lang="en-GB" sz="1350" b="1"/>
              <a:t>co-moves strongly </a:t>
            </a:r>
            <a:r>
              <a:rPr lang="en-GB" sz="1350"/>
              <a:t>with market-based measures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 b="1"/>
              <a:t>Changes in interest rates </a:t>
            </a:r>
            <a:r>
              <a:rPr lang="en-GB" sz="1350"/>
              <a:t>and equity valuations are reflected in internal capital cost estimates</a:t>
            </a: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D96F4933-FBEE-64F3-F4EF-670E7DE18C62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57BCE724-8EE7-53E9-4E30-7D86F21F6F34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Firms Perceive Financial Market Conditions Correctly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2B35237-499F-7815-4407-F7FF0015E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55" y="2966306"/>
            <a:ext cx="5449301" cy="125685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10" name="TextBox 5">
            <a:extLst>
              <a:ext uri="{FF2B5EF4-FFF2-40B4-BE49-F238E27FC236}">
                <a16:creationId xmlns:a16="http://schemas.microsoft.com/office/drawing/2014/main" id="{360DBED4-67C6-6B48-940B-08C7847E5636}"/>
              </a:ext>
            </a:extLst>
          </p:cNvPr>
          <p:cNvSpPr txBox="1"/>
          <p:nvPr/>
        </p:nvSpPr>
        <p:spPr>
          <a:xfrm>
            <a:off x="6547302" y="3059343"/>
            <a:ext cx="1769611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b="1" i="1">
                <a:solidFill>
                  <a:srgbClr val="44546A"/>
                </a:solidFill>
              </a:rPr>
              <a:t>Key Takeaway: </a:t>
            </a:r>
          </a:p>
          <a:p>
            <a:endParaRPr lang="en-GB" sz="1350" b="1" i="1">
              <a:solidFill>
                <a:srgbClr val="44546A"/>
              </a:solidFill>
              <a:ea typeface="+mn-lt"/>
              <a:cs typeface="+mn-lt"/>
            </a:endParaRPr>
          </a:p>
          <a:p>
            <a:r>
              <a:rPr lang="en-GB" sz="1350">
                <a:ea typeface="+mn-lt"/>
                <a:cs typeface="+mn-lt"/>
              </a:rPr>
              <a:t>The disconnect </a:t>
            </a:r>
            <a:r>
              <a:rPr lang="en-GB" sz="1350" b="1">
                <a:ea typeface="+mn-lt"/>
                <a:cs typeface="+mn-lt"/>
              </a:rPr>
              <a:t>does not </a:t>
            </a:r>
            <a:r>
              <a:rPr lang="en-GB" sz="1350">
                <a:ea typeface="+mn-lt"/>
                <a:cs typeface="+mn-lt"/>
              </a:rPr>
              <a:t>arise from misperception</a:t>
            </a:r>
          </a:p>
        </p:txBody>
      </p:sp>
      <p:cxnSp>
        <p:nvCxnSpPr>
          <p:cNvPr id="4" name="Gerade Verbindung 3">
            <a:extLst>
              <a:ext uri="{FF2B5EF4-FFF2-40B4-BE49-F238E27FC236}">
                <a16:creationId xmlns:a16="http://schemas.microsoft.com/office/drawing/2014/main" id="{6FFD5A74-3287-F2C7-B30C-C85A28A6C94B}"/>
              </a:ext>
            </a:extLst>
          </p:cNvPr>
          <p:cNvCxnSpPr>
            <a:cxnSpLocks/>
          </p:cNvCxnSpPr>
          <p:nvPr/>
        </p:nvCxnSpPr>
        <p:spPr>
          <a:xfrm flipV="1">
            <a:off x="6485383" y="2991481"/>
            <a:ext cx="0" cy="1212687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787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49186-BDEB-9D51-04DB-2D4880B45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A5DACA4A-396D-5E70-2C0A-C8751EC436D7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23D43591-C26A-DE8A-C4DB-AC8763821E52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Sticky Discount Rates &amp; Slow Transmission</a:t>
            </a:r>
          </a:p>
        </p:txBody>
      </p:sp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3EEF9A00-5B83-F792-3FFC-E0187DCAB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716285"/>
              </p:ext>
            </p:extLst>
          </p:nvPr>
        </p:nvGraphicFramePr>
        <p:xfrm>
          <a:off x="863599" y="1449334"/>
          <a:ext cx="7453315" cy="73896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90663">
                  <a:extLst>
                    <a:ext uri="{9D8B030D-6E8A-4147-A177-3AD203B41FA5}">
                      <a16:colId xmlns:a16="http://schemas.microsoft.com/office/drawing/2014/main" val="600539238"/>
                    </a:ext>
                  </a:extLst>
                </a:gridCol>
                <a:gridCol w="1490663">
                  <a:extLst>
                    <a:ext uri="{9D8B030D-6E8A-4147-A177-3AD203B41FA5}">
                      <a16:colId xmlns:a16="http://schemas.microsoft.com/office/drawing/2014/main" val="1312955455"/>
                    </a:ext>
                  </a:extLst>
                </a:gridCol>
                <a:gridCol w="1490663">
                  <a:extLst>
                    <a:ext uri="{9D8B030D-6E8A-4147-A177-3AD203B41FA5}">
                      <a16:colId xmlns:a16="http://schemas.microsoft.com/office/drawing/2014/main" val="448469412"/>
                    </a:ext>
                  </a:extLst>
                </a:gridCol>
                <a:gridCol w="1490663">
                  <a:extLst>
                    <a:ext uri="{9D8B030D-6E8A-4147-A177-3AD203B41FA5}">
                      <a16:colId xmlns:a16="http://schemas.microsoft.com/office/drawing/2014/main" val="2860290625"/>
                    </a:ext>
                  </a:extLst>
                </a:gridCol>
                <a:gridCol w="1490663">
                  <a:extLst>
                    <a:ext uri="{9D8B030D-6E8A-4147-A177-3AD203B41FA5}">
                      <a16:colId xmlns:a16="http://schemas.microsoft.com/office/drawing/2014/main" val="585636999"/>
                    </a:ext>
                  </a:extLst>
                </a:gridCol>
              </a:tblGrid>
              <a:tr h="369483">
                <a:tc>
                  <a:txBody>
                    <a:bodyPr/>
                    <a:lstStyle/>
                    <a:p>
                      <a:pPr algn="ctr"/>
                      <a:r>
                        <a:rPr lang="de-DE" sz="1200" dirty="0"/>
                        <a:t>Horizon</a:t>
                      </a:r>
                    </a:p>
                  </a:txBody>
                  <a:tcPr anchor="ctr">
                    <a:solidFill>
                      <a:srgbClr val="3C5C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/>
                        <a:t>1-2 Years</a:t>
                      </a:r>
                    </a:p>
                  </a:txBody>
                  <a:tcPr anchor="ctr">
                    <a:solidFill>
                      <a:srgbClr val="3C5C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/>
                        <a:t>3-4 Years</a:t>
                      </a:r>
                    </a:p>
                  </a:txBody>
                  <a:tcPr anchor="ctr">
                    <a:solidFill>
                      <a:srgbClr val="3C5C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/>
                        <a:t>5-8 Years</a:t>
                      </a:r>
                    </a:p>
                  </a:txBody>
                  <a:tcPr anchor="ctr">
                    <a:solidFill>
                      <a:srgbClr val="3C5C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200"/>
                        <a:t>12+ Years</a:t>
                      </a:r>
                    </a:p>
                  </a:txBody>
                  <a:tcPr anchor="ctr">
                    <a:solidFill>
                      <a:srgbClr val="3C5C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127078"/>
                  </a:ext>
                </a:extLst>
              </a:tr>
              <a:tr h="369483">
                <a:tc>
                  <a:txBody>
                    <a:bodyPr/>
                    <a:lstStyle/>
                    <a:p>
                      <a:r>
                        <a:rPr lang="de-DE" b="1"/>
                        <a:t>Transmission Rate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0%</a:t>
                      </a:r>
                      <a:endParaRPr lang="de-DE" sz="1200" b="1" dirty="0"/>
                    </a:p>
                  </a:txBody>
                  <a:tcPr anchor="ctr"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25%</a:t>
                      </a:r>
                      <a:endParaRPr lang="de-DE" sz="1200" b="1"/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2">
                            <a:tint val="66000"/>
                            <a:satMod val="160000"/>
                          </a:schemeClr>
                        </a:gs>
                        <a:gs pos="50000">
                          <a:schemeClr val="accent2">
                            <a:tint val="44500"/>
                            <a:satMod val="160000"/>
                          </a:schemeClr>
                        </a:gs>
                        <a:gs pos="100000">
                          <a:schemeClr val="accent2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40%</a:t>
                      </a:r>
                      <a:endParaRPr lang="de-DE" sz="1200" b="1"/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4">
                            <a:tint val="66000"/>
                            <a:satMod val="160000"/>
                          </a:schemeClr>
                        </a:gs>
                        <a:gs pos="50000">
                          <a:schemeClr val="accent4">
                            <a:tint val="44500"/>
                            <a:satMod val="160000"/>
                          </a:schemeClr>
                        </a:gs>
                        <a:gs pos="100000">
                          <a:schemeClr val="accent4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60%</a:t>
                      </a:r>
                      <a:endParaRPr lang="de-DE" sz="1200" b="1" dirty="0"/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6">
                            <a:tint val="66000"/>
                            <a:satMod val="160000"/>
                          </a:schemeClr>
                        </a:gs>
                        <a:gs pos="50000">
                          <a:schemeClr val="accent6">
                            <a:tint val="44500"/>
                            <a:satMod val="160000"/>
                          </a:schemeClr>
                        </a:gs>
                        <a:gs pos="100000">
                          <a:schemeClr val="accent6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053642396"/>
                  </a:ext>
                </a:extLst>
              </a:tr>
            </a:tbl>
          </a:graphicData>
        </a:graphic>
      </p:graphicFrame>
      <p:sp>
        <p:nvSpPr>
          <p:cNvPr id="9" name="TextBox 5">
            <a:extLst>
              <a:ext uri="{FF2B5EF4-FFF2-40B4-BE49-F238E27FC236}">
                <a16:creationId xmlns:a16="http://schemas.microsoft.com/office/drawing/2014/main" id="{20AAE4EA-C657-9E6C-533D-6BF70946EAE7}"/>
              </a:ext>
            </a:extLst>
          </p:cNvPr>
          <p:cNvSpPr txBox="1"/>
          <p:nvPr/>
        </p:nvSpPr>
        <p:spPr>
          <a:xfrm>
            <a:off x="863600" y="4162033"/>
            <a:ext cx="745331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350" b="1" i="1">
                <a:solidFill>
                  <a:srgbClr val="44546A"/>
                </a:solidFill>
              </a:rPr>
              <a:t>Cost of capital changes pass through to discount rates only gradually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ACCC02F-5B33-6EBC-7222-72DF30B7F1FD}"/>
              </a:ext>
            </a:extLst>
          </p:cNvPr>
          <p:cNvSpPr txBox="1"/>
          <p:nvPr/>
        </p:nvSpPr>
        <p:spPr>
          <a:xfrm>
            <a:off x="781050" y="2325454"/>
            <a:ext cx="7535863" cy="17170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GB" sz="1400" b="1">
                <a:solidFill>
                  <a:schemeClr val="tx2"/>
                </a:solidFill>
              </a:rPr>
              <a:t>Interpretation:</a:t>
            </a:r>
            <a:endParaRPr lang="en-GB" sz="1350">
              <a:ea typeface="Calibri"/>
              <a:cs typeface="Segoe UI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Calibri"/>
                <a:cs typeface="Segoe UI"/>
              </a:rPr>
              <a:t>A </a:t>
            </a:r>
            <a:r>
              <a:rPr lang="en-GB" sz="1350" b="1">
                <a:ea typeface="Calibri"/>
                <a:cs typeface="Segoe UI"/>
              </a:rPr>
              <a:t>1pp decrease </a:t>
            </a:r>
            <a:r>
              <a:rPr lang="en-GB" sz="1350">
                <a:ea typeface="Calibri"/>
                <a:cs typeface="Segoe UI"/>
              </a:rPr>
              <a:t>in cost of capital leads to no change in discount rates in the first 1-2 years </a:t>
            </a:r>
            <a:endParaRPr lang="en-GB" sz="1350">
              <a:ea typeface="+mn-lt"/>
              <a:cs typeface="Segoe UI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400"/>
              <a:t>Even </a:t>
            </a:r>
            <a:r>
              <a:rPr lang="en-GB" sz="1400" b="1"/>
              <a:t>after 12+ years</a:t>
            </a:r>
            <a:r>
              <a:rPr lang="en-GB" sz="1400"/>
              <a:t>, roughly 40% of the change remains unabsorbed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400"/>
              <a:t>Sharply contrast standard model assumptions of immediate, </a:t>
            </a:r>
            <a:r>
              <a:rPr lang="en-GB" sz="1400" b="1"/>
              <a:t>full pass-through (β = 1)</a:t>
            </a:r>
          </a:p>
        </p:txBody>
      </p:sp>
    </p:spTree>
    <p:extLst>
      <p:ext uri="{BB962C8B-B14F-4D97-AF65-F5344CB8AC3E}">
        <p14:creationId xmlns:p14="http://schemas.microsoft.com/office/powerpoint/2010/main" val="1077132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9382B-DCF0-F9B9-6B70-9A0105C19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FB7840BF-D645-A759-F8FA-F376988133AE}"/>
              </a:ext>
            </a:extLst>
          </p:cNvPr>
          <p:cNvSpPr txBox="1"/>
          <p:nvPr/>
        </p:nvSpPr>
        <p:spPr>
          <a:xfrm>
            <a:off x="781051" y="1395180"/>
            <a:ext cx="3773170" cy="25656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/>
              <a:t>Discount rate wedges increased by </a:t>
            </a:r>
            <a:r>
              <a:rPr lang="en-GB" sz="1350" b="1"/>
              <a:t>~2.5pp </a:t>
            </a:r>
            <a:r>
              <a:rPr lang="en-GB" sz="1350"/>
              <a:t>since 2002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 b="1"/>
              <a:t>Higher discount rate wedges </a:t>
            </a:r>
            <a:r>
              <a:rPr lang="en-GB" sz="1350"/>
              <a:t>predict lower future investment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Calibri"/>
                <a:cs typeface="Segoe UI"/>
              </a:rPr>
              <a:t>A 1pp increase in the wedge reduces next-year investment by </a:t>
            </a:r>
            <a:r>
              <a:rPr lang="en-GB" sz="1350" b="1">
                <a:ea typeface="Calibri"/>
                <a:cs typeface="Segoe UI"/>
              </a:rPr>
              <a:t>approx. 0.8pp</a:t>
            </a: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45118F87-0E88-12DB-DFD5-6C4CA5186A41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1CC37E5C-339B-0530-CEEB-E19F88127B32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Discount Rate Wedges Reduce Investment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A4E6C29-BCAC-AEDF-C205-F24AFBA27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782" y="1455737"/>
            <a:ext cx="3727132" cy="2885075"/>
          </a:xfrm>
          <a:prstGeom prst="rect">
            <a:avLst/>
          </a:prstGeom>
        </p:spPr>
      </p:pic>
      <p:sp>
        <p:nvSpPr>
          <p:cNvPr id="4" name="Right Arrow 3">
            <a:extLst>
              <a:ext uri="{FF2B5EF4-FFF2-40B4-BE49-F238E27FC236}">
                <a16:creationId xmlns:a16="http://schemas.microsoft.com/office/drawing/2014/main" id="{E97F0FAA-AB21-7498-E3B4-E391282EC53E}"/>
              </a:ext>
            </a:extLst>
          </p:cNvPr>
          <p:cNvSpPr/>
          <p:nvPr/>
        </p:nvSpPr>
        <p:spPr>
          <a:xfrm>
            <a:off x="1122122" y="4134685"/>
            <a:ext cx="937931" cy="192774"/>
          </a:xfrm>
          <a:prstGeom prst="rightArrow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9E2412-4EFF-E17F-914A-A7178117F0AD}"/>
              </a:ext>
            </a:extLst>
          </p:cNvPr>
          <p:cNvSpPr txBox="1"/>
          <p:nvPr/>
        </p:nvSpPr>
        <p:spPr>
          <a:xfrm>
            <a:off x="2068579" y="4081031"/>
            <a:ext cx="162205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350" b="1" i="1">
                <a:solidFill>
                  <a:srgbClr val="44546A"/>
                </a:solidFill>
              </a:rPr>
              <a:t>Missing investment</a:t>
            </a:r>
          </a:p>
        </p:txBody>
      </p:sp>
    </p:spTree>
    <p:extLst>
      <p:ext uri="{BB962C8B-B14F-4D97-AF65-F5344CB8AC3E}">
        <p14:creationId xmlns:p14="http://schemas.microsoft.com/office/powerpoint/2010/main" val="10396148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5D455-B6B0-78D6-BCA7-787DD138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A5D46B4B-C2D7-75C5-F58C-C09531FC82B8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342309F1-B76F-B1D7-EA37-33990C83B903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“Adjusted Q” resolves the missing Investment Puzzle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276C98A-8C0D-53ED-EB16-0FAC47F1A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55739"/>
            <a:ext cx="3744913" cy="2761612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2CF0C574-4057-948D-15DB-04CDA7B71F24}"/>
              </a:ext>
            </a:extLst>
          </p:cNvPr>
          <p:cNvSpPr txBox="1"/>
          <p:nvPr/>
        </p:nvSpPr>
        <p:spPr>
          <a:xfrm>
            <a:off x="781051" y="1395180"/>
            <a:ext cx="3773170" cy="25040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/>
              <a:t>Tobin’s Q predicts a large </a:t>
            </a:r>
            <a:r>
              <a:rPr lang="en-GB" sz="1350" b="1"/>
              <a:t>investment shortfall </a:t>
            </a:r>
            <a:r>
              <a:rPr lang="en-GB" sz="1350"/>
              <a:t>since 2002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 b="1"/>
              <a:t>Adjusting</a:t>
            </a:r>
            <a:r>
              <a:rPr lang="en-GB" sz="1350"/>
              <a:t> for discount rate wedges largely eliminates the gap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Calibri"/>
                <a:cs typeface="Segoe UI"/>
              </a:rPr>
              <a:t>Internal hurdle rates explain the </a:t>
            </a:r>
            <a:r>
              <a:rPr lang="en-GB" sz="1350" b="1">
                <a:ea typeface="Calibri"/>
                <a:cs typeface="Segoe UI"/>
              </a:rPr>
              <a:t>disconnect</a:t>
            </a:r>
            <a:r>
              <a:rPr lang="en-GB" sz="1350">
                <a:ea typeface="Calibri"/>
                <a:cs typeface="Segoe UI"/>
              </a:rPr>
              <a:t> between valuations and investment</a:t>
            </a:r>
          </a:p>
        </p:txBody>
      </p:sp>
    </p:spTree>
    <p:extLst>
      <p:ext uri="{BB962C8B-B14F-4D97-AF65-F5344CB8AC3E}">
        <p14:creationId xmlns:p14="http://schemas.microsoft.com/office/powerpoint/2010/main" val="24808522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922D8-6BA3-401D-5EAE-406F9745B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DF8C-2897-1EEB-43B6-383CF480A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75" y="3381521"/>
            <a:ext cx="8533699" cy="1965394"/>
          </a:xfrm>
        </p:spPr>
        <p:txBody>
          <a:bodyPr anchor="t"/>
          <a:lstStyle/>
          <a:p>
            <a:r>
              <a:rPr lang="en-GB"/>
              <a:t>EXTENSIONS &amp; RESEARCH IDEAS</a:t>
            </a:r>
          </a:p>
        </p:txBody>
      </p:sp>
    </p:spTree>
    <p:extLst>
      <p:ext uri="{BB962C8B-B14F-4D97-AF65-F5344CB8AC3E}">
        <p14:creationId xmlns:p14="http://schemas.microsoft.com/office/powerpoint/2010/main" val="2262671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4C1EF-8EBD-F97A-8E95-2303ED2F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FD5CD755-79C9-2EF5-2913-81398450A21D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4B02E192-DBA4-788D-6102-FD4F017B39FB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Drivers of Discount Rate Wedges: Market Power and Risk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034CE38-2951-332F-E915-DF426947FE2C}"/>
              </a:ext>
            </a:extLst>
          </p:cNvPr>
          <p:cNvGrpSpPr/>
          <p:nvPr/>
        </p:nvGrpSpPr>
        <p:grpSpPr>
          <a:xfrm>
            <a:off x="850898" y="1459556"/>
            <a:ext cx="2260600" cy="3068503"/>
            <a:chOff x="850898" y="1648749"/>
            <a:chExt cx="2260600" cy="3068503"/>
          </a:xfrm>
        </p:grpSpPr>
        <p:sp>
          <p:nvSpPr>
            <p:cNvPr id="2" name="Rechteck: abgerundete Ecken 5">
              <a:extLst>
                <a:ext uri="{FF2B5EF4-FFF2-40B4-BE49-F238E27FC236}">
                  <a16:creationId xmlns:a16="http://schemas.microsoft.com/office/drawing/2014/main" id="{0421CF11-15F0-94AC-77F5-CABFA4B28140}"/>
                </a:ext>
              </a:extLst>
            </p:cNvPr>
            <p:cNvSpPr/>
            <p:nvPr/>
          </p:nvSpPr>
          <p:spPr>
            <a:xfrm>
              <a:off x="850898" y="1648749"/>
              <a:ext cx="2260600" cy="306850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A14B8C78-5519-4C1A-737B-3692B172C3B3}"/>
                </a:ext>
              </a:extLst>
            </p:cNvPr>
            <p:cNvSpPr/>
            <p:nvPr/>
          </p:nvSpPr>
          <p:spPr>
            <a:xfrm>
              <a:off x="999197" y="1820970"/>
              <a:ext cx="1993900" cy="28962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350" b="1" u="sng">
                  <a:solidFill>
                    <a:schemeClr val="tx2"/>
                  </a:solidFill>
                </a:rPr>
                <a:t>The Role of Market Power</a:t>
              </a:r>
            </a:p>
            <a:p>
              <a:endParaRPr lang="en-GB" sz="1350" b="1" u="sng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GB" sz="1200">
                  <a:solidFill>
                    <a:sysClr val="windowText" lastClr="000000"/>
                  </a:solidFill>
                </a:rPr>
                <a:t>The secular increase in “wedges” since 2002 is primarily driven by firms with </a:t>
              </a:r>
              <a:r>
                <a:rPr lang="en-GB" sz="1200" b="1">
                  <a:solidFill>
                    <a:sysClr val="windowText" lastClr="000000"/>
                  </a:solidFill>
                </a:rPr>
                <a:t>high market power</a:t>
              </a:r>
            </a:p>
            <a:p>
              <a:pPr algn="ctr"/>
              <a:endParaRPr lang="en-GB" sz="120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GB" sz="1200">
                  <a:solidFill>
                    <a:sysClr val="windowText" lastClr="000000"/>
                  </a:solidFill>
                </a:rPr>
                <a:t>Firms with high markups have kept their </a:t>
              </a:r>
              <a:r>
                <a:rPr lang="en-GB" sz="1200" b="1">
                  <a:solidFill>
                    <a:sysClr val="windowText" lastClr="000000"/>
                  </a:solidFill>
                </a:rPr>
                <a:t>discount rates stable</a:t>
              </a:r>
              <a:r>
                <a:rPr lang="en-GB" sz="1200">
                  <a:solidFill>
                    <a:sysClr val="windowText" lastClr="000000"/>
                  </a:solidFill>
                </a:rPr>
                <a:t>, even as interest rates and financial costs of capital have declined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DCFA49C-1647-9DEC-1F58-8DCC91B3D193}"/>
              </a:ext>
            </a:extLst>
          </p:cNvPr>
          <p:cNvGrpSpPr/>
          <p:nvPr/>
        </p:nvGrpSpPr>
        <p:grpSpPr>
          <a:xfrm>
            <a:off x="3441700" y="1459556"/>
            <a:ext cx="2260600" cy="3068503"/>
            <a:chOff x="850898" y="1648749"/>
            <a:chExt cx="2260600" cy="3068503"/>
          </a:xfrm>
        </p:grpSpPr>
        <p:sp>
          <p:nvSpPr>
            <p:cNvPr id="13" name="Rechteck: abgerundete Ecken 5">
              <a:extLst>
                <a:ext uri="{FF2B5EF4-FFF2-40B4-BE49-F238E27FC236}">
                  <a16:creationId xmlns:a16="http://schemas.microsoft.com/office/drawing/2014/main" id="{66075872-92A6-9CA1-9039-26C319C1911E}"/>
                </a:ext>
              </a:extLst>
            </p:cNvPr>
            <p:cNvSpPr/>
            <p:nvPr/>
          </p:nvSpPr>
          <p:spPr>
            <a:xfrm>
              <a:off x="850898" y="1648749"/>
              <a:ext cx="2260600" cy="306850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2FBB5C86-690F-00C5-EFC9-4E7053964A3F}"/>
                </a:ext>
              </a:extLst>
            </p:cNvPr>
            <p:cNvSpPr/>
            <p:nvPr/>
          </p:nvSpPr>
          <p:spPr>
            <a:xfrm>
              <a:off x="999197" y="1820970"/>
              <a:ext cx="1993900" cy="28962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350" b="1" u="sng">
                  <a:solidFill>
                    <a:schemeClr val="tx2"/>
                  </a:solidFill>
                </a:rPr>
                <a:t>Discount Rate </a:t>
              </a:r>
            </a:p>
            <a:p>
              <a:pPr algn="ctr"/>
              <a:r>
                <a:rPr lang="en-GB" sz="1350" b="1" u="sng">
                  <a:solidFill>
                    <a:schemeClr val="tx2"/>
                  </a:solidFill>
                </a:rPr>
                <a:t>Rigidity</a:t>
              </a:r>
              <a:endParaRPr lang="en-GB" sz="1350" b="1" u="sng">
                <a:solidFill>
                  <a:sysClr val="windowText" lastClr="000000"/>
                </a:solidFill>
              </a:endParaRPr>
            </a:p>
            <a:p>
              <a:pPr algn="ctr"/>
              <a:endParaRPr lang="en-GB" sz="1350" b="1" u="sng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GB" sz="1200">
                  <a:solidFill>
                    <a:sysClr val="windowText" lastClr="000000"/>
                  </a:solidFill>
                </a:rPr>
                <a:t>Competitive forces in low-market-power firms compel them to </a:t>
              </a:r>
              <a:r>
                <a:rPr lang="en-GB" sz="1200" b="1">
                  <a:solidFill>
                    <a:sysClr val="windowText" lastClr="000000"/>
                  </a:solidFill>
                </a:rPr>
                <a:t>align</a:t>
              </a:r>
              <a:r>
                <a:rPr lang="en-GB" sz="1200">
                  <a:solidFill>
                    <a:sysClr val="windowText" lastClr="000000"/>
                  </a:solidFill>
                </a:rPr>
                <a:t> discount rates with market costs to survive</a:t>
              </a:r>
            </a:p>
            <a:p>
              <a:pPr algn="ctr"/>
              <a:endParaRPr lang="en-GB" sz="120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GB" sz="1200" b="1">
                  <a:solidFill>
                    <a:sysClr val="windowText" lastClr="000000"/>
                  </a:solidFill>
                </a:rPr>
                <a:t>However</a:t>
              </a:r>
              <a:r>
                <a:rPr lang="en-GB" sz="1200">
                  <a:solidFill>
                    <a:sysClr val="windowText" lastClr="000000"/>
                  </a:solidFill>
                </a:rPr>
                <a:t>, firms with market power face less pressure and can afford to maintain higher, “sticky” rates to signal </a:t>
              </a:r>
              <a:r>
                <a:rPr lang="en-GB" sz="1200" b="1">
                  <a:solidFill>
                    <a:sysClr val="windowText" lastClr="000000"/>
                  </a:solidFill>
                </a:rPr>
                <a:t>prudence </a:t>
              </a:r>
              <a:r>
                <a:rPr lang="en-GB" sz="1200">
                  <a:solidFill>
                    <a:sysClr val="windowText" lastClr="000000"/>
                  </a:solidFill>
                </a:rPr>
                <a:t>and</a:t>
              </a:r>
              <a:r>
                <a:rPr lang="en-GB" sz="1200" b="1">
                  <a:solidFill>
                    <a:sysClr val="windowText" lastClr="000000"/>
                  </a:solidFill>
                </a:rPr>
                <a:t> prevent “Empire Building” </a:t>
              </a:r>
              <a:r>
                <a:rPr lang="en-GB" sz="1200">
                  <a:solidFill>
                    <a:sysClr val="windowText" lastClr="000000"/>
                  </a:solidFill>
                </a:rPr>
                <a:t>etc.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E4F7DAF2-8179-A3DC-8FED-A100AB411029}"/>
              </a:ext>
            </a:extLst>
          </p:cNvPr>
          <p:cNvGrpSpPr/>
          <p:nvPr/>
        </p:nvGrpSpPr>
        <p:grpSpPr>
          <a:xfrm>
            <a:off x="6032502" y="1459556"/>
            <a:ext cx="2260600" cy="3068503"/>
            <a:chOff x="850898" y="1648749"/>
            <a:chExt cx="2260600" cy="3068503"/>
          </a:xfrm>
        </p:grpSpPr>
        <p:sp>
          <p:nvSpPr>
            <p:cNvPr id="16" name="Rechteck: abgerundete Ecken 5">
              <a:extLst>
                <a:ext uri="{FF2B5EF4-FFF2-40B4-BE49-F238E27FC236}">
                  <a16:creationId xmlns:a16="http://schemas.microsoft.com/office/drawing/2014/main" id="{A3AA8716-F68D-5F4D-0B5D-C81394153294}"/>
                </a:ext>
              </a:extLst>
            </p:cNvPr>
            <p:cNvSpPr/>
            <p:nvPr/>
          </p:nvSpPr>
          <p:spPr>
            <a:xfrm>
              <a:off x="850898" y="1648749"/>
              <a:ext cx="2260600" cy="3068503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F02CB947-4217-3A7F-373B-3F2B497770DF}"/>
                </a:ext>
              </a:extLst>
            </p:cNvPr>
            <p:cNvSpPr/>
            <p:nvPr/>
          </p:nvSpPr>
          <p:spPr>
            <a:xfrm>
              <a:off x="999197" y="1820970"/>
              <a:ext cx="1993900" cy="289628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350" b="1" u="sng">
                  <a:solidFill>
                    <a:schemeClr val="tx2"/>
                  </a:solidFill>
                </a:rPr>
                <a:t>Real Options and Irreversibility</a:t>
              </a:r>
            </a:p>
            <a:p>
              <a:endParaRPr lang="en-GB" sz="1350" b="1" u="sng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GB" sz="1200" b="1">
                  <a:solidFill>
                    <a:sysClr val="windowText" lastClr="000000"/>
                  </a:solidFill>
                </a:rPr>
                <a:t>Time-varying risk </a:t>
              </a:r>
              <a:r>
                <a:rPr lang="en-GB" sz="1200">
                  <a:solidFill>
                    <a:sysClr val="windowText" lastClr="000000"/>
                  </a:solidFill>
                </a:rPr>
                <a:t>is a significant driver of short-term wedge fluctuations</a:t>
              </a:r>
            </a:p>
            <a:p>
              <a:pPr algn="ctr"/>
              <a:endParaRPr lang="en-GB" sz="120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GB" sz="1200" b="1">
                  <a:solidFill>
                    <a:sysClr val="windowText" lastClr="000000"/>
                  </a:solidFill>
                </a:rPr>
                <a:t>Increases in risk </a:t>
              </a:r>
              <a:r>
                <a:rPr lang="en-GB" sz="1200">
                  <a:solidFill>
                    <a:sysClr val="windowText" lastClr="000000"/>
                  </a:solidFill>
                </a:rPr>
                <a:t>raise the discount rates of firms with irreversible assets</a:t>
              </a:r>
            </a:p>
            <a:p>
              <a:pPr algn="ctr"/>
              <a:endParaRPr lang="en-GB" sz="120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GB" sz="1200">
                  <a:solidFill>
                    <a:sysClr val="windowText" lastClr="000000"/>
                  </a:solidFill>
                </a:rPr>
                <a:t>Managers often add a </a:t>
              </a:r>
              <a:r>
                <a:rPr lang="en-GB" sz="1200" b="1">
                  <a:solidFill>
                    <a:sysClr val="windowText" lastClr="000000"/>
                  </a:solidFill>
                </a:rPr>
                <a:t>”buffer” </a:t>
              </a:r>
              <a:r>
                <a:rPr lang="en-GB" sz="1200">
                  <a:solidFill>
                    <a:sysClr val="windowText" lastClr="000000"/>
                  </a:solidFill>
                </a:rPr>
                <a:t>to market rates to account for uncertainty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4752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DD961-D22A-434D-17EA-BE50D96FD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AA8B5C96-D8BB-548A-3805-400FCB4AF219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CB90C294-C9E3-0362-E561-CF58FF4C2991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Social Debates: The Missing Investment Puzzle and Corporate Rents</a:t>
            </a:r>
          </a:p>
        </p:txBody>
      </p:sp>
      <p:cxnSp>
        <p:nvCxnSpPr>
          <p:cNvPr id="4" name="Gerade Verbindung 3">
            <a:extLst>
              <a:ext uri="{FF2B5EF4-FFF2-40B4-BE49-F238E27FC236}">
                <a16:creationId xmlns:a16="http://schemas.microsoft.com/office/drawing/2014/main" id="{E215004B-A30D-089B-F105-EE00FB7AC711}"/>
              </a:ext>
            </a:extLst>
          </p:cNvPr>
          <p:cNvCxnSpPr>
            <a:cxnSpLocks/>
          </p:cNvCxnSpPr>
          <p:nvPr/>
        </p:nvCxnSpPr>
        <p:spPr>
          <a:xfrm flipH="1" flipV="1">
            <a:off x="4567237" y="1455738"/>
            <a:ext cx="9526" cy="2974372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0E481297-6DC5-5459-A9E5-FDCD0E6084BA}"/>
              </a:ext>
            </a:extLst>
          </p:cNvPr>
          <p:cNvSpPr txBox="1"/>
          <p:nvPr/>
        </p:nvSpPr>
        <p:spPr>
          <a:xfrm>
            <a:off x="781050" y="1469469"/>
            <a:ext cx="363000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b="1" i="1">
                <a:solidFill>
                  <a:schemeClr val="tx2"/>
                </a:solidFill>
              </a:rPr>
              <a:t>Solving Missing Investment</a:t>
            </a:r>
          </a:p>
          <a:p>
            <a:endParaRPr lang="en-GB" sz="1350" b="1" i="1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350" b="1"/>
              <a:t>Standard Economic Theory (Tobin´s Q)</a:t>
            </a:r>
            <a:br>
              <a:rPr lang="en-GB" sz="1350" b="1"/>
            </a:br>
            <a:br>
              <a:rPr lang="en-GB" sz="1350" b="1"/>
            </a:br>
            <a:r>
              <a:rPr lang="en-GB" sz="1350"/>
              <a:t>US investment has been “missing” relative to high Q-values since the early 2000s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GB" sz="135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350" b="1"/>
              <a:t>“Adjusted Q” as Key Instrument</a:t>
            </a:r>
            <a:br>
              <a:rPr lang="en-GB" sz="1350" b="1"/>
            </a:br>
            <a:br>
              <a:rPr lang="en-GB" sz="1350" b="1"/>
            </a:br>
            <a:r>
              <a:rPr lang="en-GB" sz="1350"/>
              <a:t>Accounts for internal discount rate wedges and demonstrates that the observed increase in these wedges is large enough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DB5A7E6A-FC5C-AF4F-B93F-1E3B7620D296}"/>
              </a:ext>
            </a:extLst>
          </p:cNvPr>
          <p:cNvSpPr txBox="1"/>
          <p:nvPr/>
        </p:nvSpPr>
        <p:spPr>
          <a:xfrm>
            <a:off x="4732941" y="1469469"/>
            <a:ext cx="3628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50" b="1" i="1" dirty="0">
                <a:solidFill>
                  <a:schemeClr val="tx2"/>
                </a:solidFill>
              </a:rPr>
              <a:t>Rising Corporate Rents and Falling Labour Share</a:t>
            </a:r>
          </a:p>
          <a:p>
            <a:endParaRPr lang="en-GB" sz="1350" b="1" i="1" dirty="0">
              <a:solidFill>
                <a:schemeClr val="tx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350" b="1" dirty="0"/>
              <a:t>Persistent Discount Rate Wedges</a:t>
            </a:r>
            <a:br>
              <a:rPr lang="en-GB" sz="1350" b="1" dirty="0"/>
            </a:br>
            <a:br>
              <a:rPr lang="en-GB" sz="1350" b="1" dirty="0"/>
            </a:br>
            <a:r>
              <a:rPr lang="en-GB" sz="1350" dirty="0"/>
              <a:t>Stable discount rates amid declining costs of capital generate rising internal rent wedges</a:t>
            </a:r>
          </a:p>
          <a:p>
            <a:endParaRPr lang="en-GB" sz="135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350" b="1" dirty="0"/>
              <a:t>Macroeconomic Implication</a:t>
            </a:r>
            <a:br>
              <a:rPr lang="en-GB" sz="1350" b="1" dirty="0"/>
            </a:br>
            <a:br>
              <a:rPr lang="en-GB" sz="1350" b="1" dirty="0"/>
            </a:br>
            <a:r>
              <a:rPr lang="en-GB" sz="1350" dirty="0"/>
              <a:t>The accumulation of corporate rents reduces reinvestment and contributes to the long-run decline in the labour share</a:t>
            </a:r>
          </a:p>
        </p:txBody>
      </p:sp>
    </p:spTree>
    <p:extLst>
      <p:ext uri="{BB962C8B-B14F-4D97-AF65-F5344CB8AC3E}">
        <p14:creationId xmlns:p14="http://schemas.microsoft.com/office/powerpoint/2010/main" val="41564650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E61F6-1CE0-08DB-2145-ACEBF58F5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9A4C5F51-FF77-4B43-9BB9-1923A0740FBE}"/>
              </a:ext>
            </a:extLst>
          </p:cNvPr>
          <p:cNvSpPr txBox="1"/>
          <p:nvPr/>
        </p:nvSpPr>
        <p:spPr>
          <a:xfrm>
            <a:off x="781050" y="1219329"/>
            <a:ext cx="7535863" cy="33300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sz="1350" b="1">
                <a:solidFill>
                  <a:srgbClr val="44546A"/>
                </a:solidFill>
              </a:rPr>
              <a:t>Methodological</a:t>
            </a:r>
            <a:endParaRPr lang="en-GB" sz="1350" b="1">
              <a:ea typeface="+mn-lt"/>
              <a:cs typeface="Segoe UI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>
                <a:ea typeface="+mn-lt"/>
                <a:cs typeface="Segoe UI"/>
              </a:rPr>
              <a:t>Apply </a:t>
            </a:r>
            <a:r>
              <a:rPr lang="en-US" sz="1200" b="1">
                <a:ea typeface="+mn-lt"/>
                <a:cs typeface="Segoe UI"/>
              </a:rPr>
              <a:t>NLP/LLM methods </a:t>
            </a:r>
            <a:r>
              <a:rPr lang="en-US" sz="1200">
                <a:ea typeface="+mn-lt"/>
                <a:cs typeface="Segoe UI"/>
              </a:rPr>
              <a:t>to extract discount rate information more systematically from transcripts​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>
                <a:ea typeface="+mn-lt"/>
                <a:cs typeface="Segoe UI"/>
              </a:rPr>
              <a:t>Extend to international settings </a:t>
            </a:r>
            <a:r>
              <a:rPr lang="en-US" sz="1200" b="1">
                <a:ea typeface="+mn-lt"/>
                <a:cs typeface="Segoe UI"/>
              </a:rPr>
              <a:t>beyond US and Europe </a:t>
            </a:r>
            <a:r>
              <a:rPr lang="en-US" sz="1200">
                <a:ea typeface="+mn-lt"/>
                <a:cs typeface="Segoe UI"/>
              </a:rPr>
              <a:t>(e.g., emerging markets)​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>
                <a:ea typeface="+mn-lt"/>
                <a:cs typeface="Segoe UI"/>
              </a:rPr>
              <a:t>Use </a:t>
            </a:r>
            <a:r>
              <a:rPr lang="en-US" sz="1200" b="1">
                <a:ea typeface="+mn-lt"/>
                <a:cs typeface="Segoe UI"/>
              </a:rPr>
              <a:t>real-time data </a:t>
            </a:r>
            <a:r>
              <a:rPr lang="en-US" sz="1200">
                <a:ea typeface="+mn-lt"/>
                <a:cs typeface="Segoe UI"/>
              </a:rPr>
              <a:t>to study how quickly firms update discount rates after Fed announcements</a:t>
            </a:r>
          </a:p>
          <a:p>
            <a:pPr>
              <a:lnSpc>
                <a:spcPct val="150000"/>
              </a:lnSpc>
            </a:pPr>
            <a:endParaRPr lang="en-US" sz="100">
              <a:ea typeface="+mn-lt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GB" sz="1350" b="1">
                <a:solidFill>
                  <a:srgbClr val="44546A"/>
                </a:solidFill>
              </a:rPr>
              <a:t>Theoretical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>
                <a:ea typeface="+mn-lt"/>
                <a:cs typeface="Segoe UI"/>
              </a:rPr>
              <a:t>Model </a:t>
            </a:r>
            <a:r>
              <a:rPr lang="en-US" sz="1200" b="1">
                <a:ea typeface="+mn-lt"/>
                <a:cs typeface="Segoe UI"/>
              </a:rPr>
              <a:t>optimal wedge </a:t>
            </a:r>
            <a:r>
              <a:rPr lang="en-US" sz="1200">
                <a:ea typeface="+mn-lt"/>
                <a:cs typeface="Segoe UI"/>
              </a:rPr>
              <a:t>under rational inattention or menu costs​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>
                <a:ea typeface="+mn-lt"/>
                <a:cs typeface="Segoe UI"/>
              </a:rPr>
              <a:t>Welfare analysis: How much investment is </a:t>
            </a:r>
            <a:r>
              <a:rPr lang="en-US" sz="1200" b="1">
                <a:ea typeface="+mn-lt"/>
                <a:cs typeface="Segoe UI"/>
              </a:rPr>
              <a:t>"lost" </a:t>
            </a:r>
            <a:r>
              <a:rPr lang="en-US" sz="1200">
                <a:ea typeface="+mn-lt"/>
                <a:cs typeface="Segoe UI"/>
              </a:rPr>
              <a:t>due to sticky discount rates?​</a:t>
            </a:r>
          </a:p>
          <a:p>
            <a:pPr>
              <a:lnSpc>
                <a:spcPct val="150000"/>
              </a:lnSpc>
            </a:pPr>
            <a:endParaRPr lang="en-US" sz="100">
              <a:ea typeface="+mn-lt"/>
              <a:cs typeface="Segoe UI"/>
            </a:endParaRPr>
          </a:p>
          <a:p>
            <a:pPr>
              <a:lnSpc>
                <a:spcPct val="150000"/>
              </a:lnSpc>
            </a:pPr>
            <a:r>
              <a:rPr lang="en-GB" sz="1350" b="1">
                <a:solidFill>
                  <a:srgbClr val="44546A"/>
                </a:solidFill>
              </a:rPr>
              <a:t>Empirical Questions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>
                <a:ea typeface="+mn-lt"/>
                <a:cs typeface="Segoe UI"/>
              </a:rPr>
              <a:t>How do </a:t>
            </a:r>
            <a:r>
              <a:rPr lang="en-US" sz="1200" b="1">
                <a:ea typeface="+mn-lt"/>
                <a:cs typeface="Segoe UI"/>
              </a:rPr>
              <a:t>ESG considerations </a:t>
            </a:r>
            <a:r>
              <a:rPr lang="en-US" sz="1200">
                <a:ea typeface="+mn-lt"/>
                <a:cs typeface="Segoe UI"/>
              </a:rPr>
              <a:t>interact with corporate discount rates?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>
                <a:ea typeface="+mn-lt"/>
                <a:cs typeface="Segoe UI"/>
              </a:rPr>
              <a:t>Do firms with </a:t>
            </a:r>
            <a:r>
              <a:rPr lang="en-US" sz="1200" b="1">
                <a:ea typeface="+mn-lt"/>
                <a:cs typeface="Segoe UI"/>
              </a:rPr>
              <a:t>better governance </a:t>
            </a:r>
            <a:r>
              <a:rPr lang="en-US" sz="1200">
                <a:ea typeface="+mn-lt"/>
                <a:cs typeface="Segoe UI"/>
              </a:rPr>
              <a:t>have smaller wedges?​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>
                <a:ea typeface="+mn-lt"/>
                <a:cs typeface="Segoe UI"/>
              </a:rPr>
              <a:t>Can </a:t>
            </a:r>
            <a:r>
              <a:rPr lang="en-US" sz="1200" b="1">
                <a:ea typeface="+mn-lt"/>
                <a:cs typeface="Segoe UI"/>
              </a:rPr>
              <a:t>CEO/CFO characteristics </a:t>
            </a:r>
            <a:r>
              <a:rPr lang="en-US" sz="1200">
                <a:ea typeface="+mn-lt"/>
                <a:cs typeface="Segoe UI"/>
              </a:rPr>
              <a:t>predict discount rate stickiness?</a:t>
            </a:r>
            <a:endParaRPr lang="en-GB" sz="1200">
              <a:ea typeface="Calibri"/>
              <a:cs typeface="Segoe UI"/>
            </a:endParaRP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77F4D25A-E5E9-0508-86FB-AF439D297443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55F2CC3-19F7-8349-276F-8276BCF8544A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Potential Extensions &amp; Further Ideas</a:t>
            </a:r>
          </a:p>
        </p:txBody>
      </p:sp>
    </p:spTree>
    <p:extLst>
      <p:ext uri="{BB962C8B-B14F-4D97-AF65-F5344CB8AC3E}">
        <p14:creationId xmlns:p14="http://schemas.microsoft.com/office/powerpoint/2010/main" val="18731472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F64DF-DA4A-FC1D-FC56-419D624FF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A246B-663D-B372-F158-F940A6628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75" y="3381521"/>
            <a:ext cx="8533699" cy="1965394"/>
          </a:xfrm>
        </p:spPr>
        <p:txBody>
          <a:bodyPr/>
          <a:lstStyle/>
          <a:p>
            <a:r>
              <a:rPr lang="en-GB"/>
              <a:t>THANKS FOR </a:t>
            </a:r>
            <a:br>
              <a:rPr lang="en-GB"/>
            </a:br>
            <a:r>
              <a:rPr lang="en-GB"/>
              <a:t>YOUR ATTENTION</a:t>
            </a:r>
            <a:br>
              <a:rPr lang="en-GB"/>
            </a:b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9480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96AE7-1199-7E6B-36E5-79EFB91F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F54E2BF-31B6-686E-5F1F-142DC37B94BF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</a:rPr>
              <a:t>Quiz 1 – Motivation &amp; Contribution to Literature</a:t>
            </a: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6DE76A27-E8B8-B639-0A82-6572FB7DEDEE}"/>
              </a:ext>
            </a:extLst>
          </p:cNvPr>
          <p:cNvGrpSpPr/>
          <p:nvPr/>
        </p:nvGrpSpPr>
        <p:grpSpPr>
          <a:xfrm>
            <a:off x="863600" y="1138004"/>
            <a:ext cx="7453313" cy="1375101"/>
            <a:chOff x="863600" y="1138004"/>
            <a:chExt cx="7453313" cy="1375101"/>
          </a:xfrm>
        </p:grpSpPr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EEE49759-3C60-4622-D9A2-80C56DD5E2D0}"/>
                </a:ext>
              </a:extLst>
            </p:cNvPr>
            <p:cNvGrpSpPr/>
            <p:nvPr/>
          </p:nvGrpSpPr>
          <p:grpSpPr>
            <a:xfrm>
              <a:off x="957674" y="1484682"/>
              <a:ext cx="6988724" cy="1028423"/>
              <a:chOff x="862424" y="1287832"/>
              <a:chExt cx="6988724" cy="1028423"/>
            </a:xfrm>
          </p:grpSpPr>
          <p:sp>
            <p:nvSpPr>
              <p:cNvPr id="3" name="TextBox 12">
                <a:extLst>
                  <a:ext uri="{FF2B5EF4-FFF2-40B4-BE49-F238E27FC236}">
                    <a16:creationId xmlns:a16="http://schemas.microsoft.com/office/drawing/2014/main" id="{D43CEE71-5CC6-ABA5-B34F-BBBE87DA02F9}"/>
                  </a:ext>
                </a:extLst>
              </p:cNvPr>
              <p:cNvSpPr txBox="1"/>
              <p:nvPr/>
            </p:nvSpPr>
            <p:spPr>
              <a:xfrm>
                <a:off x="1042424" y="1287832"/>
                <a:ext cx="6808724" cy="1028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1350">
                    <a:ea typeface="Calibri"/>
                    <a:cs typeface="Calibri"/>
                  </a:rPr>
                  <a:t>SEC filings (10-K reports)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350"/>
                  <a:t>Earnings conference call transcripts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350">
                    <a:ea typeface="+mn-lt"/>
                    <a:cs typeface="+mn-lt"/>
                  </a:rPr>
                  <a:t>CFO surveys</a:t>
                </a:r>
                <a:endParaRPr lang="en-GB" sz="1350">
                  <a:ea typeface="Calibri"/>
                  <a:cs typeface="Calibri"/>
                </a:endParaRPr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61610178-B1CB-710A-EE6C-16403F7BD41F}"/>
                  </a:ext>
                </a:extLst>
              </p:cNvPr>
              <p:cNvSpPr/>
              <p:nvPr/>
            </p:nvSpPr>
            <p:spPr>
              <a:xfrm>
                <a:off x="862424" y="1420416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A</a:t>
                </a:r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F87E5EA7-ACA8-26B6-3B3B-5CC62F41A251}"/>
                  </a:ext>
                </a:extLst>
              </p:cNvPr>
              <p:cNvSpPr/>
              <p:nvPr/>
            </p:nvSpPr>
            <p:spPr>
              <a:xfrm>
                <a:off x="862424" y="1727640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B</a:t>
                </a:r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C7C89AEF-2E34-E462-3C59-014AF9E8149A}"/>
                  </a:ext>
                </a:extLst>
              </p:cNvPr>
              <p:cNvSpPr/>
              <p:nvPr/>
            </p:nvSpPr>
            <p:spPr>
              <a:xfrm>
                <a:off x="862679" y="203486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C</a:t>
                </a:r>
              </a:p>
            </p:txBody>
          </p:sp>
        </p:grpSp>
        <p:sp>
          <p:nvSpPr>
            <p:cNvPr id="31" name="TextBox 13">
              <a:extLst>
                <a:ext uri="{FF2B5EF4-FFF2-40B4-BE49-F238E27FC236}">
                  <a16:creationId xmlns:a16="http://schemas.microsoft.com/office/drawing/2014/main" id="{F61F45BD-F31B-69D4-189E-30B5A61A3198}"/>
                </a:ext>
              </a:extLst>
            </p:cNvPr>
            <p:cNvSpPr txBox="1"/>
            <p:nvPr/>
          </p:nvSpPr>
          <p:spPr>
            <a:xfrm>
              <a:off x="863600" y="1138004"/>
              <a:ext cx="7453313" cy="40036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600" b="1" i="1">
                  <a:solidFill>
                    <a:srgbClr val="44546A"/>
                  </a:solidFill>
                </a:rPr>
                <a:t>Q1: </a:t>
              </a:r>
              <a:r>
                <a:rPr lang="en-US" sz="1400" b="1" i="1">
                  <a:ea typeface="Calibri" panose="020F0502020204030204"/>
                  <a:cs typeface="Calibri" panose="020F0502020204030204"/>
                </a:rPr>
                <a:t>What is the primary data source used by Gormsen &amp; Huber?</a:t>
              </a:r>
              <a:endParaRPr lang="en-GB" sz="1350" b="1" i="1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7B038E52-F821-3BED-654A-D19CD53B2F6A}"/>
              </a:ext>
            </a:extLst>
          </p:cNvPr>
          <p:cNvGrpSpPr/>
          <p:nvPr/>
        </p:nvGrpSpPr>
        <p:grpSpPr>
          <a:xfrm>
            <a:off x="863600" y="2551836"/>
            <a:ext cx="7453313" cy="712096"/>
            <a:chOff x="875122" y="2420682"/>
            <a:chExt cx="7453313" cy="712096"/>
          </a:xfrm>
        </p:grpSpPr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F96891A8-9135-D672-A1F7-DBC32893CB34}"/>
                </a:ext>
              </a:extLst>
            </p:cNvPr>
            <p:cNvGrpSpPr/>
            <p:nvPr/>
          </p:nvGrpSpPr>
          <p:grpSpPr>
            <a:xfrm>
              <a:off x="969196" y="2761010"/>
              <a:ext cx="1936750" cy="371768"/>
              <a:chOff x="969196" y="2761010"/>
              <a:chExt cx="1936750" cy="371768"/>
            </a:xfrm>
          </p:grpSpPr>
          <p:sp>
            <p:nvSpPr>
              <p:cNvPr id="48" name="TextBox 12">
                <a:extLst>
                  <a:ext uri="{FF2B5EF4-FFF2-40B4-BE49-F238E27FC236}">
                    <a16:creationId xmlns:a16="http://schemas.microsoft.com/office/drawing/2014/main" id="{D90E7A64-B537-9EE6-23FF-434373C13E64}"/>
                  </a:ext>
                </a:extLst>
              </p:cNvPr>
              <p:cNvSpPr txBox="1"/>
              <p:nvPr/>
            </p:nvSpPr>
            <p:spPr>
              <a:xfrm>
                <a:off x="1149196" y="2761010"/>
                <a:ext cx="1756750" cy="37176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1350">
                    <a:ea typeface="Calibri"/>
                    <a:cs typeface="Calibri"/>
                  </a:rPr>
                  <a:t>Factor of 2</a:t>
                </a:r>
              </a:p>
            </p:txBody>
          </p:sp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F23DA343-DF57-1A24-CC3B-64CB4A39EFEE}"/>
                  </a:ext>
                </a:extLst>
              </p:cNvPr>
              <p:cNvSpPr/>
              <p:nvPr/>
            </p:nvSpPr>
            <p:spPr>
              <a:xfrm>
                <a:off x="969196" y="289994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A</a:t>
                </a:r>
              </a:p>
            </p:txBody>
          </p:sp>
        </p:grpSp>
        <p:sp>
          <p:nvSpPr>
            <p:cNvPr id="47" name="TextBox 13">
              <a:extLst>
                <a:ext uri="{FF2B5EF4-FFF2-40B4-BE49-F238E27FC236}">
                  <a16:creationId xmlns:a16="http://schemas.microsoft.com/office/drawing/2014/main" id="{8D64B2A6-6B0A-E990-F4B5-457EF2BDC35D}"/>
                </a:ext>
              </a:extLst>
            </p:cNvPr>
            <p:cNvSpPr txBox="1"/>
            <p:nvPr/>
          </p:nvSpPr>
          <p:spPr>
            <a:xfrm>
              <a:off x="875122" y="2420682"/>
              <a:ext cx="7453313" cy="40036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600" b="1" i="1">
                  <a:solidFill>
                    <a:srgbClr val="44546A"/>
                  </a:solidFill>
                </a:rPr>
                <a:t>Q2: </a:t>
              </a:r>
              <a:r>
                <a:rPr lang="en-US" sz="1400" b="1" i="1">
                  <a:ea typeface="Calibri" panose="020F0502020204030204"/>
                  <a:cs typeface="Calibri" panose="020F0502020204030204"/>
                </a:rPr>
                <a:t>How sensitive is investment to financial conditions compared to theory?</a:t>
              </a:r>
              <a:endParaRPr lang="en-GB" sz="1350" b="1" i="1">
                <a:ea typeface="Calibri" panose="020F0502020204030204"/>
                <a:cs typeface="Calibri" panose="020F0502020204030204"/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637064CA-030E-4CF0-910F-3BF3090C2522}"/>
                </a:ext>
              </a:extLst>
            </p:cNvPr>
            <p:cNvGrpSpPr/>
            <p:nvPr/>
          </p:nvGrpSpPr>
          <p:grpSpPr>
            <a:xfrm>
              <a:off x="2499547" y="2761010"/>
              <a:ext cx="1936748" cy="371768"/>
              <a:chOff x="2905946" y="2761010"/>
              <a:chExt cx="1936748" cy="371768"/>
            </a:xfrm>
          </p:grpSpPr>
          <p:sp>
            <p:nvSpPr>
              <p:cNvPr id="53" name="TextBox 12">
                <a:extLst>
                  <a:ext uri="{FF2B5EF4-FFF2-40B4-BE49-F238E27FC236}">
                    <a16:creationId xmlns:a16="http://schemas.microsoft.com/office/drawing/2014/main" id="{8A89F09A-F2A4-87DC-A84C-6CCDCC8ECAFC}"/>
                  </a:ext>
                </a:extLst>
              </p:cNvPr>
              <p:cNvSpPr txBox="1"/>
              <p:nvPr/>
            </p:nvSpPr>
            <p:spPr>
              <a:xfrm>
                <a:off x="3085945" y="2761010"/>
                <a:ext cx="1756749" cy="37176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1350">
                    <a:ea typeface="Calibri"/>
                    <a:cs typeface="Calibri"/>
                  </a:rPr>
                  <a:t>Roughly the same</a:t>
                </a:r>
              </a:p>
            </p:txBody>
          </p:sp>
          <p:sp>
            <p:nvSpPr>
              <p:cNvPr id="54" name="Rechteck 53">
                <a:extLst>
                  <a:ext uri="{FF2B5EF4-FFF2-40B4-BE49-F238E27FC236}">
                    <a16:creationId xmlns:a16="http://schemas.microsoft.com/office/drawing/2014/main" id="{D719B7A6-48BC-6B64-CAB5-B2993B8B0310}"/>
                  </a:ext>
                </a:extLst>
              </p:cNvPr>
              <p:cNvSpPr/>
              <p:nvPr/>
            </p:nvSpPr>
            <p:spPr>
              <a:xfrm>
                <a:off x="2905946" y="289994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B</a:t>
                </a:r>
              </a:p>
            </p:txBody>
          </p:sp>
        </p:grpSp>
        <p:grpSp>
          <p:nvGrpSpPr>
            <p:cNvPr id="60" name="Gruppieren 59">
              <a:extLst>
                <a:ext uri="{FF2B5EF4-FFF2-40B4-BE49-F238E27FC236}">
                  <a16:creationId xmlns:a16="http://schemas.microsoft.com/office/drawing/2014/main" id="{78BFB629-C495-3297-BD4E-B99A6DC951F2}"/>
                </a:ext>
              </a:extLst>
            </p:cNvPr>
            <p:cNvGrpSpPr/>
            <p:nvPr/>
          </p:nvGrpSpPr>
          <p:grpSpPr>
            <a:xfrm>
              <a:off x="4515532" y="2761010"/>
              <a:ext cx="1936800" cy="371768"/>
              <a:chOff x="4080696" y="2761010"/>
              <a:chExt cx="1908000" cy="371768"/>
            </a:xfrm>
          </p:grpSpPr>
          <p:sp>
            <p:nvSpPr>
              <p:cNvPr id="55" name="TextBox 12">
                <a:extLst>
                  <a:ext uri="{FF2B5EF4-FFF2-40B4-BE49-F238E27FC236}">
                    <a16:creationId xmlns:a16="http://schemas.microsoft.com/office/drawing/2014/main" id="{859CF331-3845-93C8-38DB-2BF9257AE420}"/>
                  </a:ext>
                </a:extLst>
              </p:cNvPr>
              <p:cNvSpPr txBox="1"/>
              <p:nvPr/>
            </p:nvSpPr>
            <p:spPr>
              <a:xfrm>
                <a:off x="4260696" y="2761010"/>
                <a:ext cx="1728000" cy="37176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1350">
                    <a:ea typeface="Calibri"/>
                    <a:cs typeface="Calibri"/>
                  </a:rPr>
                  <a:t>Factor of 10</a:t>
                </a:r>
              </a:p>
            </p:txBody>
          </p:sp>
          <p:sp>
            <p:nvSpPr>
              <p:cNvPr id="56" name="Rechteck 55">
                <a:extLst>
                  <a:ext uri="{FF2B5EF4-FFF2-40B4-BE49-F238E27FC236}">
                    <a16:creationId xmlns:a16="http://schemas.microsoft.com/office/drawing/2014/main" id="{8A86A781-1EBD-7D3A-7D5F-DC0DCF2CC487}"/>
                  </a:ext>
                </a:extLst>
              </p:cNvPr>
              <p:cNvSpPr/>
              <p:nvPr/>
            </p:nvSpPr>
            <p:spPr>
              <a:xfrm>
                <a:off x="4080696" y="289994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C</a:t>
                </a:r>
              </a:p>
            </p:txBody>
          </p:sp>
        </p:grp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E4180B0-58C7-95AA-89EB-6B27C914B62D}"/>
              </a:ext>
            </a:extLst>
          </p:cNvPr>
          <p:cNvGrpSpPr/>
          <p:nvPr/>
        </p:nvGrpSpPr>
        <p:grpSpPr>
          <a:xfrm>
            <a:off x="863600" y="3302663"/>
            <a:ext cx="7453313" cy="1375101"/>
            <a:chOff x="863600" y="1138004"/>
            <a:chExt cx="7453313" cy="1375101"/>
          </a:xfrm>
        </p:grpSpPr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83788825-6CFA-5E1A-58EC-2C94CF511C3C}"/>
                </a:ext>
              </a:extLst>
            </p:cNvPr>
            <p:cNvGrpSpPr/>
            <p:nvPr/>
          </p:nvGrpSpPr>
          <p:grpSpPr>
            <a:xfrm>
              <a:off x="957674" y="1484682"/>
              <a:ext cx="6988724" cy="1028423"/>
              <a:chOff x="862424" y="1287832"/>
              <a:chExt cx="6988724" cy="1028423"/>
            </a:xfrm>
          </p:grpSpPr>
          <p:sp>
            <p:nvSpPr>
              <p:cNvPr id="64" name="TextBox 12">
                <a:extLst>
                  <a:ext uri="{FF2B5EF4-FFF2-40B4-BE49-F238E27FC236}">
                    <a16:creationId xmlns:a16="http://schemas.microsoft.com/office/drawing/2014/main" id="{C1B71F14-0995-5887-B575-702AAB213AA4}"/>
                  </a:ext>
                </a:extLst>
              </p:cNvPr>
              <p:cNvSpPr txBox="1"/>
              <p:nvPr/>
            </p:nvSpPr>
            <p:spPr>
              <a:xfrm>
                <a:off x="1042424" y="1287832"/>
                <a:ext cx="6808724" cy="1028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1350">
                    <a:ea typeface="Calibri"/>
                    <a:cs typeface="Calibri"/>
                  </a:rPr>
                  <a:t>The cost of capital increased despite falling interest rates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350"/>
                  <a:t>Investment remained low despite high Tobin´s Q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350">
                    <a:ea typeface="+mn-lt"/>
                    <a:cs typeface="+mn-lt"/>
                  </a:rPr>
                  <a:t>Firms stopped using hurdle rates in capital budgeting</a:t>
                </a:r>
                <a:endParaRPr lang="en-GB" sz="1350">
                  <a:ea typeface="Calibri"/>
                  <a:cs typeface="Calibri"/>
                </a:endParaRPr>
              </a:p>
            </p:txBody>
          </p:sp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7A770AF1-1EDC-465A-1BFC-BAAF91BF9015}"/>
                  </a:ext>
                </a:extLst>
              </p:cNvPr>
              <p:cNvSpPr/>
              <p:nvPr/>
            </p:nvSpPr>
            <p:spPr>
              <a:xfrm>
                <a:off x="862424" y="1420416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A</a:t>
                </a:r>
              </a:p>
            </p:txBody>
          </p: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C8487914-48FB-7637-A22B-20D76E4E6EC8}"/>
                  </a:ext>
                </a:extLst>
              </p:cNvPr>
              <p:cNvSpPr/>
              <p:nvPr/>
            </p:nvSpPr>
            <p:spPr>
              <a:xfrm>
                <a:off x="862424" y="1727640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B</a:t>
                </a:r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8033EED6-7C55-2C58-CB2C-CE945BDC1503}"/>
                  </a:ext>
                </a:extLst>
              </p:cNvPr>
              <p:cNvSpPr/>
              <p:nvPr/>
            </p:nvSpPr>
            <p:spPr>
              <a:xfrm>
                <a:off x="862679" y="203486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C</a:t>
                </a:r>
              </a:p>
            </p:txBody>
          </p:sp>
        </p:grpSp>
        <p:sp>
          <p:nvSpPr>
            <p:cNvPr id="63" name="TextBox 13">
              <a:extLst>
                <a:ext uri="{FF2B5EF4-FFF2-40B4-BE49-F238E27FC236}">
                  <a16:creationId xmlns:a16="http://schemas.microsoft.com/office/drawing/2014/main" id="{8A7265B3-54A5-CAE5-9E28-DA7CB728204E}"/>
                </a:ext>
              </a:extLst>
            </p:cNvPr>
            <p:cNvSpPr txBox="1"/>
            <p:nvPr/>
          </p:nvSpPr>
          <p:spPr>
            <a:xfrm>
              <a:off x="863600" y="1138004"/>
              <a:ext cx="7453313" cy="40036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600" b="1" i="1">
                  <a:solidFill>
                    <a:srgbClr val="44546A"/>
                  </a:solidFill>
                </a:rPr>
                <a:t>Q3: </a:t>
              </a:r>
              <a:r>
                <a:rPr lang="en-US" sz="1400" b="1" i="1">
                  <a:ea typeface="Calibri" panose="020F0502020204030204"/>
                  <a:cs typeface="Calibri" panose="020F0502020204030204"/>
                </a:rPr>
                <a:t>What is the core “missing investment” puzzle since the early 2000s?</a:t>
              </a:r>
              <a:endParaRPr lang="en-GB" sz="1350" b="1" i="1">
                <a:ea typeface="Calibri" panose="020F0502020204030204"/>
                <a:cs typeface="Calibri" panose="020F0502020204030204"/>
              </a:endParaRPr>
            </a:p>
          </p:txBody>
        </p:sp>
      </p:grpSp>
      <p:cxnSp>
        <p:nvCxnSpPr>
          <p:cNvPr id="69" name="Gerade Verbindung 4">
            <a:extLst>
              <a:ext uri="{FF2B5EF4-FFF2-40B4-BE49-F238E27FC236}">
                <a16:creationId xmlns:a16="http://schemas.microsoft.com/office/drawing/2014/main" id="{2411A857-D190-1BCB-C460-84208B5E552C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95072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6597C-9825-1F0A-4A66-E3E74F30E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0B1DB2F-984E-57AE-D7D9-2294834C8A71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</a:rPr>
              <a:t>Quiz 1 – Motivation &amp; Contribution to Literature</a:t>
            </a: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A9D00203-6559-8885-95DE-AC757A82AC24}"/>
              </a:ext>
            </a:extLst>
          </p:cNvPr>
          <p:cNvGrpSpPr/>
          <p:nvPr/>
        </p:nvGrpSpPr>
        <p:grpSpPr>
          <a:xfrm>
            <a:off x="863600" y="1138004"/>
            <a:ext cx="7453313" cy="1375101"/>
            <a:chOff x="863600" y="1138004"/>
            <a:chExt cx="7453313" cy="1375101"/>
          </a:xfrm>
        </p:grpSpPr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4E4AC5F0-61FD-BA53-347B-7C4B16FDA202}"/>
                </a:ext>
              </a:extLst>
            </p:cNvPr>
            <p:cNvGrpSpPr/>
            <p:nvPr/>
          </p:nvGrpSpPr>
          <p:grpSpPr>
            <a:xfrm>
              <a:off x="957674" y="1484682"/>
              <a:ext cx="6988724" cy="1028423"/>
              <a:chOff x="862424" y="1287832"/>
              <a:chExt cx="6988724" cy="1028423"/>
            </a:xfrm>
          </p:grpSpPr>
          <p:sp>
            <p:nvSpPr>
              <p:cNvPr id="3" name="TextBox 12">
                <a:extLst>
                  <a:ext uri="{FF2B5EF4-FFF2-40B4-BE49-F238E27FC236}">
                    <a16:creationId xmlns:a16="http://schemas.microsoft.com/office/drawing/2014/main" id="{60C84A75-A502-481A-C69C-7AC7175AF15C}"/>
                  </a:ext>
                </a:extLst>
              </p:cNvPr>
              <p:cNvSpPr txBox="1"/>
              <p:nvPr/>
            </p:nvSpPr>
            <p:spPr>
              <a:xfrm>
                <a:off x="1042424" y="1287832"/>
                <a:ext cx="6808724" cy="1028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1350">
                    <a:ea typeface="Calibri"/>
                    <a:cs typeface="Calibri"/>
                  </a:rPr>
                  <a:t>SEC filings (10-K reports)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350"/>
                  <a:t>Earnings conference call transcripts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350">
                    <a:ea typeface="+mn-lt"/>
                    <a:cs typeface="+mn-lt"/>
                  </a:rPr>
                  <a:t>CFO surveys</a:t>
                </a:r>
                <a:endParaRPr lang="en-GB" sz="1350">
                  <a:ea typeface="Calibri"/>
                  <a:cs typeface="Calibri"/>
                </a:endParaRPr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3880D65E-2A42-3C76-E633-EF892E3D1EDA}"/>
                  </a:ext>
                </a:extLst>
              </p:cNvPr>
              <p:cNvSpPr/>
              <p:nvPr/>
            </p:nvSpPr>
            <p:spPr>
              <a:xfrm>
                <a:off x="862424" y="1420416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A</a:t>
                </a:r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3885561D-E25E-DF94-DB66-67BF81689EC1}"/>
                  </a:ext>
                </a:extLst>
              </p:cNvPr>
              <p:cNvSpPr/>
              <p:nvPr/>
            </p:nvSpPr>
            <p:spPr>
              <a:xfrm>
                <a:off x="862424" y="1727640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00B050"/>
                    </a:solidFill>
                  </a:rPr>
                  <a:t>B</a:t>
                </a:r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0FCA23A8-477C-8FA7-DE7F-DDF8914C2322}"/>
                  </a:ext>
                </a:extLst>
              </p:cNvPr>
              <p:cNvSpPr/>
              <p:nvPr/>
            </p:nvSpPr>
            <p:spPr>
              <a:xfrm>
                <a:off x="862679" y="203486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C</a:t>
                </a:r>
              </a:p>
            </p:txBody>
          </p:sp>
        </p:grpSp>
        <p:sp>
          <p:nvSpPr>
            <p:cNvPr id="31" name="TextBox 13">
              <a:extLst>
                <a:ext uri="{FF2B5EF4-FFF2-40B4-BE49-F238E27FC236}">
                  <a16:creationId xmlns:a16="http://schemas.microsoft.com/office/drawing/2014/main" id="{77487D8F-789F-3D3B-D511-68FDBEB08C0B}"/>
                </a:ext>
              </a:extLst>
            </p:cNvPr>
            <p:cNvSpPr txBox="1"/>
            <p:nvPr/>
          </p:nvSpPr>
          <p:spPr>
            <a:xfrm>
              <a:off x="863600" y="1138004"/>
              <a:ext cx="7453313" cy="40036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600" b="1" i="1">
                  <a:solidFill>
                    <a:srgbClr val="44546A"/>
                  </a:solidFill>
                </a:rPr>
                <a:t>Q1: </a:t>
              </a:r>
              <a:r>
                <a:rPr lang="en-US" sz="1400" b="1" i="1">
                  <a:ea typeface="Calibri" panose="020F0502020204030204"/>
                  <a:cs typeface="Calibri" panose="020F0502020204030204"/>
                </a:rPr>
                <a:t>What is the primary data source used by Gormsen &amp; Huber?</a:t>
              </a:r>
              <a:endParaRPr lang="en-GB" sz="1350" b="1" i="1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CC0D1C47-B445-7730-A056-CB88AB9F0BE1}"/>
              </a:ext>
            </a:extLst>
          </p:cNvPr>
          <p:cNvGrpSpPr/>
          <p:nvPr/>
        </p:nvGrpSpPr>
        <p:grpSpPr>
          <a:xfrm>
            <a:off x="863600" y="2551836"/>
            <a:ext cx="7453313" cy="712096"/>
            <a:chOff x="875122" y="2420682"/>
            <a:chExt cx="7453313" cy="712096"/>
          </a:xfrm>
        </p:grpSpPr>
        <p:grpSp>
          <p:nvGrpSpPr>
            <p:cNvPr id="57" name="Gruppieren 56">
              <a:extLst>
                <a:ext uri="{FF2B5EF4-FFF2-40B4-BE49-F238E27FC236}">
                  <a16:creationId xmlns:a16="http://schemas.microsoft.com/office/drawing/2014/main" id="{CEC57E3D-6ED7-78FF-821A-E5FAC7E68017}"/>
                </a:ext>
              </a:extLst>
            </p:cNvPr>
            <p:cNvGrpSpPr/>
            <p:nvPr/>
          </p:nvGrpSpPr>
          <p:grpSpPr>
            <a:xfrm>
              <a:off x="969196" y="2761010"/>
              <a:ext cx="1936750" cy="371768"/>
              <a:chOff x="969196" y="2761010"/>
              <a:chExt cx="1936750" cy="371768"/>
            </a:xfrm>
          </p:grpSpPr>
          <p:sp>
            <p:nvSpPr>
              <p:cNvPr id="48" name="TextBox 12">
                <a:extLst>
                  <a:ext uri="{FF2B5EF4-FFF2-40B4-BE49-F238E27FC236}">
                    <a16:creationId xmlns:a16="http://schemas.microsoft.com/office/drawing/2014/main" id="{2FD8A6D0-03FB-DE69-5B48-C93E2D8F7739}"/>
                  </a:ext>
                </a:extLst>
              </p:cNvPr>
              <p:cNvSpPr txBox="1"/>
              <p:nvPr/>
            </p:nvSpPr>
            <p:spPr>
              <a:xfrm>
                <a:off x="1149196" y="2761010"/>
                <a:ext cx="1756750" cy="37176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1350">
                    <a:ea typeface="Calibri"/>
                    <a:cs typeface="Calibri"/>
                  </a:rPr>
                  <a:t>Factor of 2</a:t>
                </a:r>
              </a:p>
            </p:txBody>
          </p:sp>
          <p:sp>
            <p:nvSpPr>
              <p:cNvPr id="49" name="Rechteck 48">
                <a:extLst>
                  <a:ext uri="{FF2B5EF4-FFF2-40B4-BE49-F238E27FC236}">
                    <a16:creationId xmlns:a16="http://schemas.microsoft.com/office/drawing/2014/main" id="{B169DFB3-6601-4805-E75C-BD4170D9A66D}"/>
                  </a:ext>
                </a:extLst>
              </p:cNvPr>
              <p:cNvSpPr/>
              <p:nvPr/>
            </p:nvSpPr>
            <p:spPr>
              <a:xfrm>
                <a:off x="969196" y="289994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A</a:t>
                </a:r>
              </a:p>
            </p:txBody>
          </p:sp>
        </p:grpSp>
        <p:sp>
          <p:nvSpPr>
            <p:cNvPr id="47" name="TextBox 13">
              <a:extLst>
                <a:ext uri="{FF2B5EF4-FFF2-40B4-BE49-F238E27FC236}">
                  <a16:creationId xmlns:a16="http://schemas.microsoft.com/office/drawing/2014/main" id="{5FF7B525-BEB0-4C7B-0F8B-124F1ADEEC5C}"/>
                </a:ext>
              </a:extLst>
            </p:cNvPr>
            <p:cNvSpPr txBox="1"/>
            <p:nvPr/>
          </p:nvSpPr>
          <p:spPr>
            <a:xfrm>
              <a:off x="875122" y="2420682"/>
              <a:ext cx="7453313" cy="40036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600" b="1" i="1">
                  <a:solidFill>
                    <a:srgbClr val="44546A"/>
                  </a:solidFill>
                </a:rPr>
                <a:t>Q2: </a:t>
              </a:r>
              <a:r>
                <a:rPr lang="en-US" sz="1400" b="1" i="1">
                  <a:ea typeface="Calibri" panose="020F0502020204030204"/>
                  <a:cs typeface="Calibri" panose="020F0502020204030204"/>
                </a:rPr>
                <a:t>How sensitive is investment to financial conditions compared to theory?</a:t>
              </a:r>
              <a:endParaRPr lang="en-GB" sz="1350" b="1" i="1">
                <a:ea typeface="Calibri" panose="020F0502020204030204"/>
                <a:cs typeface="Calibri" panose="020F0502020204030204"/>
              </a:endParaRPr>
            </a:p>
          </p:txBody>
        </p:sp>
        <p:grpSp>
          <p:nvGrpSpPr>
            <p:cNvPr id="58" name="Gruppieren 57">
              <a:extLst>
                <a:ext uri="{FF2B5EF4-FFF2-40B4-BE49-F238E27FC236}">
                  <a16:creationId xmlns:a16="http://schemas.microsoft.com/office/drawing/2014/main" id="{8B36FA75-5F46-777C-A87B-7397AFA1E4B9}"/>
                </a:ext>
              </a:extLst>
            </p:cNvPr>
            <p:cNvGrpSpPr/>
            <p:nvPr/>
          </p:nvGrpSpPr>
          <p:grpSpPr>
            <a:xfrm>
              <a:off x="2499547" y="2761010"/>
              <a:ext cx="1936748" cy="371768"/>
              <a:chOff x="2905946" y="2761010"/>
              <a:chExt cx="1936748" cy="371768"/>
            </a:xfrm>
          </p:grpSpPr>
          <p:sp>
            <p:nvSpPr>
              <p:cNvPr id="53" name="TextBox 12">
                <a:extLst>
                  <a:ext uri="{FF2B5EF4-FFF2-40B4-BE49-F238E27FC236}">
                    <a16:creationId xmlns:a16="http://schemas.microsoft.com/office/drawing/2014/main" id="{3F96D72C-C6CE-3055-5B96-3BD32E4D9D34}"/>
                  </a:ext>
                </a:extLst>
              </p:cNvPr>
              <p:cNvSpPr txBox="1"/>
              <p:nvPr/>
            </p:nvSpPr>
            <p:spPr>
              <a:xfrm>
                <a:off x="3085945" y="2761010"/>
                <a:ext cx="1756749" cy="37176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1350">
                    <a:ea typeface="Calibri"/>
                    <a:cs typeface="Calibri"/>
                  </a:rPr>
                  <a:t>Roughly the same</a:t>
                </a:r>
              </a:p>
            </p:txBody>
          </p:sp>
          <p:sp>
            <p:nvSpPr>
              <p:cNvPr id="54" name="Rechteck 53">
                <a:extLst>
                  <a:ext uri="{FF2B5EF4-FFF2-40B4-BE49-F238E27FC236}">
                    <a16:creationId xmlns:a16="http://schemas.microsoft.com/office/drawing/2014/main" id="{15132593-3DAA-AE6F-1AA2-18D9B7A16AB4}"/>
                  </a:ext>
                </a:extLst>
              </p:cNvPr>
              <p:cNvSpPr/>
              <p:nvPr/>
            </p:nvSpPr>
            <p:spPr>
              <a:xfrm>
                <a:off x="2905946" y="289994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B</a:t>
                </a:r>
              </a:p>
            </p:txBody>
          </p:sp>
        </p:grpSp>
        <p:grpSp>
          <p:nvGrpSpPr>
            <p:cNvPr id="60" name="Gruppieren 59">
              <a:extLst>
                <a:ext uri="{FF2B5EF4-FFF2-40B4-BE49-F238E27FC236}">
                  <a16:creationId xmlns:a16="http://schemas.microsoft.com/office/drawing/2014/main" id="{2D8C7E29-A5FD-E73E-C1C3-ACA5A4EB09FA}"/>
                </a:ext>
              </a:extLst>
            </p:cNvPr>
            <p:cNvGrpSpPr/>
            <p:nvPr/>
          </p:nvGrpSpPr>
          <p:grpSpPr>
            <a:xfrm>
              <a:off x="4515532" y="2761010"/>
              <a:ext cx="1936800" cy="371768"/>
              <a:chOff x="4080696" y="2761010"/>
              <a:chExt cx="1908000" cy="371768"/>
            </a:xfrm>
          </p:grpSpPr>
          <p:sp>
            <p:nvSpPr>
              <p:cNvPr id="55" name="TextBox 12">
                <a:extLst>
                  <a:ext uri="{FF2B5EF4-FFF2-40B4-BE49-F238E27FC236}">
                    <a16:creationId xmlns:a16="http://schemas.microsoft.com/office/drawing/2014/main" id="{060E7963-3E97-7682-497E-22AFB47CBD08}"/>
                  </a:ext>
                </a:extLst>
              </p:cNvPr>
              <p:cNvSpPr txBox="1"/>
              <p:nvPr/>
            </p:nvSpPr>
            <p:spPr>
              <a:xfrm>
                <a:off x="4260696" y="2761010"/>
                <a:ext cx="1728000" cy="37176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1350">
                    <a:ea typeface="Calibri"/>
                    <a:cs typeface="Calibri"/>
                  </a:rPr>
                  <a:t>Factor of 10</a:t>
                </a:r>
              </a:p>
            </p:txBody>
          </p:sp>
          <p:sp>
            <p:nvSpPr>
              <p:cNvPr id="56" name="Rechteck 55">
                <a:extLst>
                  <a:ext uri="{FF2B5EF4-FFF2-40B4-BE49-F238E27FC236}">
                    <a16:creationId xmlns:a16="http://schemas.microsoft.com/office/drawing/2014/main" id="{52CCBCFE-FCC9-5CA0-CC32-0D5489D9DFE2}"/>
                  </a:ext>
                </a:extLst>
              </p:cNvPr>
              <p:cNvSpPr/>
              <p:nvPr/>
            </p:nvSpPr>
            <p:spPr>
              <a:xfrm>
                <a:off x="4080696" y="289994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00B050"/>
                    </a:solidFill>
                  </a:rPr>
                  <a:t>C</a:t>
                </a:r>
              </a:p>
            </p:txBody>
          </p:sp>
        </p:grp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56D3E28E-5144-76B4-915D-8BCE084A3802}"/>
              </a:ext>
            </a:extLst>
          </p:cNvPr>
          <p:cNvGrpSpPr/>
          <p:nvPr/>
        </p:nvGrpSpPr>
        <p:grpSpPr>
          <a:xfrm>
            <a:off x="863600" y="3302663"/>
            <a:ext cx="7453313" cy="1375101"/>
            <a:chOff x="863600" y="1138004"/>
            <a:chExt cx="7453313" cy="1375101"/>
          </a:xfrm>
        </p:grpSpPr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83621AE4-99F1-B42D-0055-0AE7FACB4CF6}"/>
                </a:ext>
              </a:extLst>
            </p:cNvPr>
            <p:cNvGrpSpPr/>
            <p:nvPr/>
          </p:nvGrpSpPr>
          <p:grpSpPr>
            <a:xfrm>
              <a:off x="957674" y="1484682"/>
              <a:ext cx="6988724" cy="1028423"/>
              <a:chOff x="862424" y="1287832"/>
              <a:chExt cx="6988724" cy="1028423"/>
            </a:xfrm>
          </p:grpSpPr>
          <p:sp>
            <p:nvSpPr>
              <p:cNvPr id="64" name="TextBox 12">
                <a:extLst>
                  <a:ext uri="{FF2B5EF4-FFF2-40B4-BE49-F238E27FC236}">
                    <a16:creationId xmlns:a16="http://schemas.microsoft.com/office/drawing/2014/main" id="{5BA5C1D4-1E06-D2FB-C11E-EA56F12ED840}"/>
                  </a:ext>
                </a:extLst>
              </p:cNvPr>
              <p:cNvSpPr txBox="1"/>
              <p:nvPr/>
            </p:nvSpPr>
            <p:spPr>
              <a:xfrm>
                <a:off x="1042424" y="1287832"/>
                <a:ext cx="6808724" cy="1028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1350">
                    <a:ea typeface="Calibri"/>
                    <a:cs typeface="Calibri"/>
                  </a:rPr>
                  <a:t>The cost of capital increased despite falling interest rates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350"/>
                  <a:t>Investment remained low despite high Tobin´s Q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350">
                    <a:ea typeface="+mn-lt"/>
                    <a:cs typeface="+mn-lt"/>
                  </a:rPr>
                  <a:t>Firms stopped using hurdle rates in capital budgeting</a:t>
                </a:r>
                <a:endParaRPr lang="en-GB" sz="1350">
                  <a:ea typeface="Calibri"/>
                  <a:cs typeface="Calibri"/>
                </a:endParaRPr>
              </a:p>
            </p:txBody>
          </p:sp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3411EF58-B6A6-3FCD-F9AD-00ED7851B2F3}"/>
                  </a:ext>
                </a:extLst>
              </p:cNvPr>
              <p:cNvSpPr/>
              <p:nvPr/>
            </p:nvSpPr>
            <p:spPr>
              <a:xfrm>
                <a:off x="862424" y="1420416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A</a:t>
                </a:r>
              </a:p>
            </p:txBody>
          </p: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0A3B041C-14BA-4AD9-DB77-835B63E1239F}"/>
                  </a:ext>
                </a:extLst>
              </p:cNvPr>
              <p:cNvSpPr/>
              <p:nvPr/>
            </p:nvSpPr>
            <p:spPr>
              <a:xfrm>
                <a:off x="862424" y="1727640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00B050"/>
                    </a:solidFill>
                  </a:rPr>
                  <a:t>B</a:t>
                </a:r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FBD84C9F-F9F2-D86F-8A84-2E4033939176}"/>
                  </a:ext>
                </a:extLst>
              </p:cNvPr>
              <p:cNvSpPr/>
              <p:nvPr/>
            </p:nvSpPr>
            <p:spPr>
              <a:xfrm>
                <a:off x="862679" y="203486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C</a:t>
                </a:r>
              </a:p>
            </p:txBody>
          </p:sp>
        </p:grpSp>
        <p:sp>
          <p:nvSpPr>
            <p:cNvPr id="63" name="TextBox 13">
              <a:extLst>
                <a:ext uri="{FF2B5EF4-FFF2-40B4-BE49-F238E27FC236}">
                  <a16:creationId xmlns:a16="http://schemas.microsoft.com/office/drawing/2014/main" id="{F2E9BD53-C170-2CD2-9AB8-5138D2F63C54}"/>
                </a:ext>
              </a:extLst>
            </p:cNvPr>
            <p:cNvSpPr txBox="1"/>
            <p:nvPr/>
          </p:nvSpPr>
          <p:spPr>
            <a:xfrm>
              <a:off x="863600" y="1138004"/>
              <a:ext cx="7453313" cy="40036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600" b="1" i="1">
                  <a:solidFill>
                    <a:srgbClr val="44546A"/>
                  </a:solidFill>
                </a:rPr>
                <a:t>Q3: </a:t>
              </a:r>
              <a:r>
                <a:rPr lang="en-US" sz="1400" b="1" i="1">
                  <a:ea typeface="Calibri" panose="020F0502020204030204"/>
                  <a:cs typeface="Calibri" panose="020F0502020204030204"/>
                </a:rPr>
                <a:t>What is the core “missing investment” puzzle since the early 2000s?</a:t>
              </a:r>
              <a:endParaRPr lang="en-GB" sz="1350" b="1" i="1">
                <a:ea typeface="Calibri" panose="020F0502020204030204"/>
                <a:cs typeface="Calibri" panose="020F0502020204030204"/>
              </a:endParaRPr>
            </a:p>
          </p:txBody>
        </p:sp>
      </p:grpSp>
      <p:cxnSp>
        <p:nvCxnSpPr>
          <p:cNvPr id="69" name="Gerade Verbindung 4">
            <a:extLst>
              <a:ext uri="{FF2B5EF4-FFF2-40B4-BE49-F238E27FC236}">
                <a16:creationId xmlns:a16="http://schemas.microsoft.com/office/drawing/2014/main" id="{34B8590F-D5F7-13B5-68D4-F6431AC5AB49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9762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40F9B-A8CC-9FF9-5E0D-3009CFFA5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90CDCAA-AD2F-481C-F5CE-9BCC7E75705F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</a:rPr>
              <a:t>Quiz 2 – Data and Methodology &amp; Findings </a:t>
            </a: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AEA160A8-65DB-E96F-B0E7-8DA278F5896F}"/>
              </a:ext>
            </a:extLst>
          </p:cNvPr>
          <p:cNvGrpSpPr/>
          <p:nvPr/>
        </p:nvGrpSpPr>
        <p:grpSpPr>
          <a:xfrm>
            <a:off x="863600" y="1138004"/>
            <a:ext cx="7453313" cy="1341694"/>
            <a:chOff x="863600" y="1138004"/>
            <a:chExt cx="7453313" cy="1341694"/>
          </a:xfrm>
        </p:grpSpPr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CE1299B7-A5B9-6285-F87C-5D7CE9497464}"/>
                </a:ext>
              </a:extLst>
            </p:cNvPr>
            <p:cNvGrpSpPr/>
            <p:nvPr/>
          </p:nvGrpSpPr>
          <p:grpSpPr>
            <a:xfrm>
              <a:off x="957674" y="1484682"/>
              <a:ext cx="6988724" cy="995016"/>
              <a:chOff x="862424" y="1287832"/>
              <a:chExt cx="6988724" cy="995016"/>
            </a:xfrm>
          </p:grpSpPr>
          <p:sp>
            <p:nvSpPr>
              <p:cNvPr id="3" name="TextBox 12">
                <a:extLst>
                  <a:ext uri="{FF2B5EF4-FFF2-40B4-BE49-F238E27FC236}">
                    <a16:creationId xmlns:a16="http://schemas.microsoft.com/office/drawing/2014/main" id="{0B1A6DCF-7187-ECBA-0DF5-CEF369C1380C}"/>
                  </a:ext>
                </a:extLst>
              </p:cNvPr>
              <p:cNvSpPr txBox="1"/>
              <p:nvPr/>
            </p:nvSpPr>
            <p:spPr>
              <a:xfrm>
                <a:off x="1042424" y="1287832"/>
                <a:ext cx="6808724" cy="99501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350">
                    <a:ea typeface="Calibri"/>
                    <a:cs typeface="Calibri"/>
                  </a:rPr>
                  <a:t>The difference between the financial cost of capital and the risk-free rate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350"/>
                  <a:t>The difference between a firm’s discount rate and its perceived cost of capital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350">
                    <a:ea typeface="+mn-lt"/>
                    <a:cs typeface="+mn-lt"/>
                  </a:rPr>
                  <a:t>The difference between Tobin’s Q and the marginal profitability of capital</a:t>
                </a:r>
                <a:endParaRPr lang="en-GB" sz="1350">
                  <a:ea typeface="Calibri"/>
                  <a:cs typeface="Calibri"/>
                </a:endParaRPr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42B01A34-E894-456B-651D-E532A9109397}"/>
                  </a:ext>
                </a:extLst>
              </p:cNvPr>
              <p:cNvSpPr/>
              <p:nvPr/>
            </p:nvSpPr>
            <p:spPr>
              <a:xfrm>
                <a:off x="862424" y="1420416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A</a:t>
                </a:r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E3496CC3-CDAE-2327-B495-3707C075303C}"/>
                  </a:ext>
                </a:extLst>
              </p:cNvPr>
              <p:cNvSpPr/>
              <p:nvPr/>
            </p:nvSpPr>
            <p:spPr>
              <a:xfrm>
                <a:off x="862424" y="1727640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B</a:t>
                </a:r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F331327D-57A6-47A0-B226-9F0DCFC50299}"/>
                  </a:ext>
                </a:extLst>
              </p:cNvPr>
              <p:cNvSpPr/>
              <p:nvPr/>
            </p:nvSpPr>
            <p:spPr>
              <a:xfrm>
                <a:off x="862679" y="203486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C</a:t>
                </a:r>
              </a:p>
            </p:txBody>
          </p:sp>
        </p:grpSp>
        <p:sp>
          <p:nvSpPr>
            <p:cNvPr id="31" name="TextBox 13">
              <a:extLst>
                <a:ext uri="{FF2B5EF4-FFF2-40B4-BE49-F238E27FC236}">
                  <a16:creationId xmlns:a16="http://schemas.microsoft.com/office/drawing/2014/main" id="{18B5107E-AD85-3C5E-31F8-5B015206ECC3}"/>
                </a:ext>
              </a:extLst>
            </p:cNvPr>
            <p:cNvSpPr txBox="1"/>
            <p:nvPr/>
          </p:nvSpPr>
          <p:spPr>
            <a:xfrm>
              <a:off x="863600" y="1138004"/>
              <a:ext cx="7453313" cy="40036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600" b="1" i="1">
                  <a:solidFill>
                    <a:srgbClr val="44546A"/>
                  </a:solidFill>
                </a:rPr>
                <a:t>Q4: </a:t>
              </a:r>
              <a:r>
                <a:rPr lang="en-US" sz="1400" b="1" i="1">
                  <a:cs typeface="Calibri" panose="020F0502020204030204"/>
                </a:rPr>
                <a:t>What is the discount rate “wedge” composed of?</a:t>
              </a:r>
              <a:endParaRPr lang="en-GB" sz="1350" b="1" i="1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B92C733D-4450-6891-0F01-899A3370B586}"/>
              </a:ext>
            </a:extLst>
          </p:cNvPr>
          <p:cNvGrpSpPr/>
          <p:nvPr/>
        </p:nvGrpSpPr>
        <p:grpSpPr>
          <a:xfrm>
            <a:off x="957674" y="2892164"/>
            <a:ext cx="1936750" cy="371768"/>
            <a:chOff x="969196" y="2761010"/>
            <a:chExt cx="1936750" cy="371768"/>
          </a:xfrm>
        </p:grpSpPr>
        <p:sp>
          <p:nvSpPr>
            <p:cNvPr id="48" name="TextBox 12">
              <a:extLst>
                <a:ext uri="{FF2B5EF4-FFF2-40B4-BE49-F238E27FC236}">
                  <a16:creationId xmlns:a16="http://schemas.microsoft.com/office/drawing/2014/main" id="{35A6CD0D-08AB-D45F-95DA-782ED2904325}"/>
                </a:ext>
              </a:extLst>
            </p:cNvPr>
            <p:cNvSpPr txBox="1"/>
            <p:nvPr/>
          </p:nvSpPr>
          <p:spPr>
            <a:xfrm>
              <a:off x="1149196" y="2761010"/>
              <a:ext cx="1756750" cy="37176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350">
                  <a:ea typeface="Calibri"/>
                  <a:cs typeface="Calibri"/>
                </a:rPr>
                <a:t>0.5pp</a:t>
              </a:r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876C3840-85B7-F027-7733-FE15B4A1FEF1}"/>
                </a:ext>
              </a:extLst>
            </p:cNvPr>
            <p:cNvSpPr/>
            <p:nvPr/>
          </p:nvSpPr>
          <p:spPr>
            <a:xfrm>
              <a:off x="969196" y="2899944"/>
              <a:ext cx="180000" cy="180000"/>
            </a:xfrm>
            <a:prstGeom prst="rect">
              <a:avLst/>
            </a:prstGeom>
            <a:noFill/>
            <a:ln w="19050">
              <a:solidFill>
                <a:srgbClr val="4454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>
                  <a:solidFill>
                    <a:srgbClr val="44546A"/>
                  </a:solidFill>
                </a:rPr>
                <a:t>A</a:t>
              </a:r>
            </a:p>
          </p:txBody>
        </p:sp>
      </p:grpSp>
      <p:sp>
        <p:nvSpPr>
          <p:cNvPr id="47" name="TextBox 13">
            <a:extLst>
              <a:ext uri="{FF2B5EF4-FFF2-40B4-BE49-F238E27FC236}">
                <a16:creationId xmlns:a16="http://schemas.microsoft.com/office/drawing/2014/main" id="{70C02D7F-7A59-6DF0-98D2-EC3BA8BF6060}"/>
              </a:ext>
            </a:extLst>
          </p:cNvPr>
          <p:cNvSpPr txBox="1"/>
          <p:nvPr/>
        </p:nvSpPr>
        <p:spPr>
          <a:xfrm>
            <a:off x="863600" y="2551836"/>
            <a:ext cx="7453313" cy="400366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i="1">
                <a:solidFill>
                  <a:srgbClr val="44546A"/>
                </a:solidFill>
              </a:rPr>
              <a:t>Q5: </a:t>
            </a:r>
            <a:r>
              <a:rPr lang="en-US" sz="1400" b="1" i="1">
                <a:ea typeface="Calibri" panose="020F0502020204030204"/>
                <a:cs typeface="Calibri" panose="020F0502020204030204"/>
              </a:rPr>
              <a:t>By how many percentage points did the wedge increase in the US from 2002–2021?​</a:t>
            </a:r>
            <a:endParaRPr lang="en-GB" sz="1350" b="1" i="1"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56E389BE-2AA0-630B-8FA1-228E36AE1A55}"/>
              </a:ext>
            </a:extLst>
          </p:cNvPr>
          <p:cNvGrpSpPr/>
          <p:nvPr/>
        </p:nvGrpSpPr>
        <p:grpSpPr>
          <a:xfrm>
            <a:off x="2546693" y="2892164"/>
            <a:ext cx="1936748" cy="371768"/>
            <a:chOff x="2905946" y="2761010"/>
            <a:chExt cx="1936748" cy="371768"/>
          </a:xfrm>
        </p:grpSpPr>
        <p:sp>
          <p:nvSpPr>
            <p:cNvPr id="53" name="TextBox 12">
              <a:extLst>
                <a:ext uri="{FF2B5EF4-FFF2-40B4-BE49-F238E27FC236}">
                  <a16:creationId xmlns:a16="http://schemas.microsoft.com/office/drawing/2014/main" id="{13469ACF-B019-6700-814D-7FB3B8193021}"/>
                </a:ext>
              </a:extLst>
            </p:cNvPr>
            <p:cNvSpPr txBox="1"/>
            <p:nvPr/>
          </p:nvSpPr>
          <p:spPr>
            <a:xfrm>
              <a:off x="3085945" y="2761010"/>
              <a:ext cx="1756749" cy="37176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350">
                  <a:ea typeface="Calibri"/>
                  <a:cs typeface="Calibri"/>
                </a:rPr>
                <a:t>2.5pp</a:t>
              </a: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A31E2E3C-0E63-2788-012E-A9E5DA4C8D76}"/>
                </a:ext>
              </a:extLst>
            </p:cNvPr>
            <p:cNvSpPr/>
            <p:nvPr/>
          </p:nvSpPr>
          <p:spPr>
            <a:xfrm>
              <a:off x="2905946" y="2899944"/>
              <a:ext cx="180000" cy="180000"/>
            </a:xfrm>
            <a:prstGeom prst="rect">
              <a:avLst/>
            </a:prstGeom>
            <a:noFill/>
            <a:ln w="19050">
              <a:solidFill>
                <a:srgbClr val="4454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>
                  <a:solidFill>
                    <a:srgbClr val="44546A"/>
                  </a:solidFill>
                </a:rPr>
                <a:t>B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5F634D97-D7F0-9E21-DF72-EBCA6E74966A}"/>
              </a:ext>
            </a:extLst>
          </p:cNvPr>
          <p:cNvGrpSpPr/>
          <p:nvPr/>
        </p:nvGrpSpPr>
        <p:grpSpPr>
          <a:xfrm>
            <a:off x="4135710" y="2892164"/>
            <a:ext cx="1936800" cy="371768"/>
            <a:chOff x="4080696" y="2761010"/>
            <a:chExt cx="1908000" cy="371768"/>
          </a:xfrm>
        </p:grpSpPr>
        <p:sp>
          <p:nvSpPr>
            <p:cNvPr id="55" name="TextBox 12">
              <a:extLst>
                <a:ext uri="{FF2B5EF4-FFF2-40B4-BE49-F238E27FC236}">
                  <a16:creationId xmlns:a16="http://schemas.microsoft.com/office/drawing/2014/main" id="{746416A5-324B-6D01-D9C8-89EB635F526A}"/>
                </a:ext>
              </a:extLst>
            </p:cNvPr>
            <p:cNvSpPr txBox="1"/>
            <p:nvPr/>
          </p:nvSpPr>
          <p:spPr>
            <a:xfrm>
              <a:off x="4260696" y="2761010"/>
              <a:ext cx="1728000" cy="37176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350">
                  <a:ea typeface="Calibri"/>
                  <a:cs typeface="Calibri"/>
                </a:rPr>
                <a:t>5.0pp</a:t>
              </a: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8C8FFAFA-56E4-C7F6-1CB7-56C27C190568}"/>
                </a:ext>
              </a:extLst>
            </p:cNvPr>
            <p:cNvSpPr/>
            <p:nvPr/>
          </p:nvSpPr>
          <p:spPr>
            <a:xfrm>
              <a:off x="4080696" y="2899944"/>
              <a:ext cx="180000" cy="180000"/>
            </a:xfrm>
            <a:prstGeom prst="rect">
              <a:avLst/>
            </a:prstGeom>
            <a:noFill/>
            <a:ln w="19050">
              <a:solidFill>
                <a:srgbClr val="4454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>
                  <a:solidFill>
                    <a:srgbClr val="44546A"/>
                  </a:solidFill>
                </a:rPr>
                <a:t>C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04751D5-5CE0-953E-AD38-4DFF0B88A99A}"/>
              </a:ext>
            </a:extLst>
          </p:cNvPr>
          <p:cNvGrpSpPr/>
          <p:nvPr/>
        </p:nvGrpSpPr>
        <p:grpSpPr>
          <a:xfrm>
            <a:off x="863600" y="3302663"/>
            <a:ext cx="7453313" cy="1375101"/>
            <a:chOff x="863600" y="1138004"/>
            <a:chExt cx="7453313" cy="1375101"/>
          </a:xfrm>
        </p:grpSpPr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BE347CE2-B8A3-0883-D6CF-8E926BE0A98A}"/>
                </a:ext>
              </a:extLst>
            </p:cNvPr>
            <p:cNvGrpSpPr/>
            <p:nvPr/>
          </p:nvGrpSpPr>
          <p:grpSpPr>
            <a:xfrm>
              <a:off x="957674" y="1484682"/>
              <a:ext cx="6988724" cy="1028423"/>
              <a:chOff x="862424" y="1287832"/>
              <a:chExt cx="6988724" cy="1028423"/>
            </a:xfrm>
          </p:grpSpPr>
          <p:sp>
            <p:nvSpPr>
              <p:cNvPr id="64" name="TextBox 12">
                <a:extLst>
                  <a:ext uri="{FF2B5EF4-FFF2-40B4-BE49-F238E27FC236}">
                    <a16:creationId xmlns:a16="http://schemas.microsoft.com/office/drawing/2014/main" id="{472A11CC-F0E2-0AB9-9A3B-4BD0F5016AD4}"/>
                  </a:ext>
                </a:extLst>
              </p:cNvPr>
              <p:cNvSpPr txBox="1"/>
              <p:nvPr/>
            </p:nvSpPr>
            <p:spPr>
              <a:xfrm>
                <a:off x="1042424" y="1287832"/>
                <a:ext cx="6808724" cy="1028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350">
                    <a:ea typeface="Calibri"/>
                    <a:cs typeface="Calibri"/>
                  </a:rPr>
                  <a:t>It was faster to complete within the 2.5 year timeframe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350"/>
                  <a:t>Context and background are essential for identifying discount rates in transcript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350">
                    <a:ea typeface="+mn-lt"/>
                    <a:cs typeface="+mn-lt"/>
                  </a:rPr>
                  <a:t>Thomson One database does not allow for algorithmic searching</a:t>
                </a:r>
              </a:p>
            </p:txBody>
          </p:sp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19C69D6C-F4BA-E5E8-F3A3-28379BE94D65}"/>
                  </a:ext>
                </a:extLst>
              </p:cNvPr>
              <p:cNvSpPr/>
              <p:nvPr/>
            </p:nvSpPr>
            <p:spPr>
              <a:xfrm>
                <a:off x="862424" y="1420416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A</a:t>
                </a:r>
              </a:p>
            </p:txBody>
          </p: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D3DCF09C-1602-091A-F872-13866A558D7E}"/>
                  </a:ext>
                </a:extLst>
              </p:cNvPr>
              <p:cNvSpPr/>
              <p:nvPr/>
            </p:nvSpPr>
            <p:spPr>
              <a:xfrm>
                <a:off x="862424" y="1727640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B</a:t>
                </a:r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94375152-1EF8-DA19-BED6-5C636BDFA24D}"/>
                  </a:ext>
                </a:extLst>
              </p:cNvPr>
              <p:cNvSpPr/>
              <p:nvPr/>
            </p:nvSpPr>
            <p:spPr>
              <a:xfrm>
                <a:off x="862679" y="203486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C</a:t>
                </a:r>
              </a:p>
            </p:txBody>
          </p:sp>
        </p:grpSp>
        <p:sp>
          <p:nvSpPr>
            <p:cNvPr id="63" name="TextBox 13">
              <a:extLst>
                <a:ext uri="{FF2B5EF4-FFF2-40B4-BE49-F238E27FC236}">
                  <a16:creationId xmlns:a16="http://schemas.microsoft.com/office/drawing/2014/main" id="{2D970D32-B5E1-AE75-B355-5AE9D7B5B87B}"/>
                </a:ext>
              </a:extLst>
            </p:cNvPr>
            <p:cNvSpPr txBox="1"/>
            <p:nvPr/>
          </p:nvSpPr>
          <p:spPr>
            <a:xfrm>
              <a:off x="863600" y="1138004"/>
              <a:ext cx="7453313" cy="40036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600" b="1" i="1">
                  <a:solidFill>
                    <a:srgbClr val="44546A"/>
                  </a:solidFill>
                </a:rPr>
                <a:t>Q6: </a:t>
              </a:r>
              <a:r>
                <a:rPr lang="en-US" sz="1400" b="1" i="1">
                  <a:ea typeface="Calibri" panose="020F0502020204030204"/>
                  <a:cs typeface="Calibri" panose="020F0502020204030204"/>
                </a:rPr>
                <a:t>Why did the authors choose manual data entry over an automated algorithm?</a:t>
              </a:r>
              <a:endParaRPr lang="en-GB" sz="1350" b="1" i="1">
                <a:ea typeface="Calibri" panose="020F0502020204030204"/>
                <a:cs typeface="Calibri" panose="020F0502020204030204"/>
              </a:endParaRPr>
            </a:p>
          </p:txBody>
        </p:sp>
      </p:grpSp>
      <p:cxnSp>
        <p:nvCxnSpPr>
          <p:cNvPr id="69" name="Gerade Verbindung 4">
            <a:extLst>
              <a:ext uri="{FF2B5EF4-FFF2-40B4-BE49-F238E27FC236}">
                <a16:creationId xmlns:a16="http://schemas.microsoft.com/office/drawing/2014/main" id="{BD43248C-A11B-66C2-F648-704AD6A128EA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6598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0A301-DB55-090E-B853-644891648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85FDA73-D694-D540-4385-B72F57FFB487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</a:rPr>
              <a:t>Quiz 2 – Data and Methodology &amp; Findings </a:t>
            </a: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7677B3D2-2B97-7511-A903-397E7436E804}"/>
              </a:ext>
            </a:extLst>
          </p:cNvPr>
          <p:cNvGrpSpPr/>
          <p:nvPr/>
        </p:nvGrpSpPr>
        <p:grpSpPr>
          <a:xfrm>
            <a:off x="863600" y="1138004"/>
            <a:ext cx="7453313" cy="1341694"/>
            <a:chOff x="863600" y="1138004"/>
            <a:chExt cx="7453313" cy="1341694"/>
          </a:xfrm>
        </p:grpSpPr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7A33D9F4-A4A2-8AD1-D180-D56FD90A74F4}"/>
                </a:ext>
              </a:extLst>
            </p:cNvPr>
            <p:cNvGrpSpPr/>
            <p:nvPr/>
          </p:nvGrpSpPr>
          <p:grpSpPr>
            <a:xfrm>
              <a:off x="957674" y="1484682"/>
              <a:ext cx="6988724" cy="995016"/>
              <a:chOff x="862424" y="1287832"/>
              <a:chExt cx="6988724" cy="995016"/>
            </a:xfrm>
          </p:grpSpPr>
          <p:sp>
            <p:nvSpPr>
              <p:cNvPr id="3" name="TextBox 12">
                <a:extLst>
                  <a:ext uri="{FF2B5EF4-FFF2-40B4-BE49-F238E27FC236}">
                    <a16:creationId xmlns:a16="http://schemas.microsoft.com/office/drawing/2014/main" id="{22CC8D5F-AB17-F2E5-D73F-C654D3EA7AD3}"/>
                  </a:ext>
                </a:extLst>
              </p:cNvPr>
              <p:cNvSpPr txBox="1"/>
              <p:nvPr/>
            </p:nvSpPr>
            <p:spPr>
              <a:xfrm>
                <a:off x="1042424" y="1287832"/>
                <a:ext cx="6808724" cy="99501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350">
                    <a:ea typeface="Calibri"/>
                    <a:cs typeface="Calibri"/>
                  </a:rPr>
                  <a:t>The difference between the financial cost of capital and the risk-free rate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350"/>
                  <a:t>The difference between a firm’s discount rate and its perceived cost of capital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350">
                    <a:ea typeface="+mn-lt"/>
                    <a:cs typeface="+mn-lt"/>
                  </a:rPr>
                  <a:t>The difference between Tobin’s Q and the marginal profitability of capital</a:t>
                </a:r>
                <a:endParaRPr lang="en-GB" sz="1350">
                  <a:ea typeface="Calibri"/>
                  <a:cs typeface="Calibri"/>
                </a:endParaRPr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A8CD95CC-7D35-0A55-727D-C99A48DB65A2}"/>
                  </a:ext>
                </a:extLst>
              </p:cNvPr>
              <p:cNvSpPr/>
              <p:nvPr/>
            </p:nvSpPr>
            <p:spPr>
              <a:xfrm>
                <a:off x="862424" y="1420416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A</a:t>
                </a:r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15136E1F-9969-F90A-338F-68026A87D927}"/>
                  </a:ext>
                </a:extLst>
              </p:cNvPr>
              <p:cNvSpPr/>
              <p:nvPr/>
            </p:nvSpPr>
            <p:spPr>
              <a:xfrm>
                <a:off x="862424" y="1727640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00B050"/>
                    </a:solidFill>
                  </a:rPr>
                  <a:t>B</a:t>
                </a:r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AB9F526E-7101-CF8F-C1E4-AE0AF2785177}"/>
                  </a:ext>
                </a:extLst>
              </p:cNvPr>
              <p:cNvSpPr/>
              <p:nvPr/>
            </p:nvSpPr>
            <p:spPr>
              <a:xfrm>
                <a:off x="862679" y="203486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C</a:t>
                </a:r>
              </a:p>
            </p:txBody>
          </p:sp>
        </p:grpSp>
        <p:sp>
          <p:nvSpPr>
            <p:cNvPr id="31" name="TextBox 13">
              <a:extLst>
                <a:ext uri="{FF2B5EF4-FFF2-40B4-BE49-F238E27FC236}">
                  <a16:creationId xmlns:a16="http://schemas.microsoft.com/office/drawing/2014/main" id="{4E0414C1-AA14-8FFD-B842-A060486F25EE}"/>
                </a:ext>
              </a:extLst>
            </p:cNvPr>
            <p:cNvSpPr txBox="1"/>
            <p:nvPr/>
          </p:nvSpPr>
          <p:spPr>
            <a:xfrm>
              <a:off x="863600" y="1138004"/>
              <a:ext cx="7453313" cy="40036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600" b="1" i="1">
                  <a:solidFill>
                    <a:srgbClr val="44546A"/>
                  </a:solidFill>
                </a:rPr>
                <a:t>Q4: </a:t>
              </a:r>
              <a:r>
                <a:rPr lang="en-US" sz="1400" b="1" i="1">
                  <a:cs typeface="Calibri" panose="020F0502020204030204"/>
                </a:rPr>
                <a:t>What is the discount rate “wedge” composed of?</a:t>
              </a:r>
              <a:endParaRPr lang="en-GB" sz="1350" b="1" i="1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4BC37973-C60E-9828-4BCC-61B1395ACD54}"/>
              </a:ext>
            </a:extLst>
          </p:cNvPr>
          <p:cNvGrpSpPr/>
          <p:nvPr/>
        </p:nvGrpSpPr>
        <p:grpSpPr>
          <a:xfrm>
            <a:off x="957674" y="2892164"/>
            <a:ext cx="1936750" cy="371768"/>
            <a:chOff x="969196" y="2761010"/>
            <a:chExt cx="1936750" cy="371768"/>
          </a:xfrm>
        </p:grpSpPr>
        <p:sp>
          <p:nvSpPr>
            <p:cNvPr id="48" name="TextBox 12">
              <a:extLst>
                <a:ext uri="{FF2B5EF4-FFF2-40B4-BE49-F238E27FC236}">
                  <a16:creationId xmlns:a16="http://schemas.microsoft.com/office/drawing/2014/main" id="{D35B981F-B003-08D3-5904-048E1F84B930}"/>
                </a:ext>
              </a:extLst>
            </p:cNvPr>
            <p:cNvSpPr txBox="1"/>
            <p:nvPr/>
          </p:nvSpPr>
          <p:spPr>
            <a:xfrm>
              <a:off x="1149196" y="2761010"/>
              <a:ext cx="1756750" cy="37176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350">
                  <a:ea typeface="Calibri"/>
                  <a:cs typeface="Calibri"/>
                </a:rPr>
                <a:t>0.5pp</a:t>
              </a:r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BE071BF7-85B6-13EB-D19C-CFD97D42188E}"/>
                </a:ext>
              </a:extLst>
            </p:cNvPr>
            <p:cNvSpPr/>
            <p:nvPr/>
          </p:nvSpPr>
          <p:spPr>
            <a:xfrm>
              <a:off x="969196" y="2899944"/>
              <a:ext cx="180000" cy="180000"/>
            </a:xfrm>
            <a:prstGeom prst="rect">
              <a:avLst/>
            </a:prstGeom>
            <a:noFill/>
            <a:ln w="19050">
              <a:solidFill>
                <a:srgbClr val="4454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>
                  <a:solidFill>
                    <a:srgbClr val="44546A"/>
                  </a:solidFill>
                </a:rPr>
                <a:t>A</a:t>
              </a:r>
            </a:p>
          </p:txBody>
        </p:sp>
      </p:grpSp>
      <p:sp>
        <p:nvSpPr>
          <p:cNvPr id="47" name="TextBox 13">
            <a:extLst>
              <a:ext uri="{FF2B5EF4-FFF2-40B4-BE49-F238E27FC236}">
                <a16:creationId xmlns:a16="http://schemas.microsoft.com/office/drawing/2014/main" id="{337BC381-F1F1-3744-D62A-28B4E2250937}"/>
              </a:ext>
            </a:extLst>
          </p:cNvPr>
          <p:cNvSpPr txBox="1"/>
          <p:nvPr/>
        </p:nvSpPr>
        <p:spPr>
          <a:xfrm>
            <a:off x="863600" y="2551836"/>
            <a:ext cx="7453313" cy="400366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i="1">
                <a:solidFill>
                  <a:srgbClr val="44546A"/>
                </a:solidFill>
              </a:rPr>
              <a:t>Q5: </a:t>
            </a:r>
            <a:r>
              <a:rPr lang="en-US" sz="1400" b="1" i="1">
                <a:ea typeface="Calibri" panose="020F0502020204030204"/>
                <a:cs typeface="Calibri" panose="020F0502020204030204"/>
              </a:rPr>
              <a:t>By how many percentage points did the wedge increase in the US from 2002–2021?​</a:t>
            </a:r>
            <a:endParaRPr lang="en-GB" sz="1350" b="1" i="1"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89C928DF-7601-13EC-771C-53049EFB99AF}"/>
              </a:ext>
            </a:extLst>
          </p:cNvPr>
          <p:cNvGrpSpPr/>
          <p:nvPr/>
        </p:nvGrpSpPr>
        <p:grpSpPr>
          <a:xfrm>
            <a:off x="2546693" y="2892164"/>
            <a:ext cx="1936748" cy="371768"/>
            <a:chOff x="2905946" y="2761010"/>
            <a:chExt cx="1936748" cy="371768"/>
          </a:xfrm>
        </p:grpSpPr>
        <p:sp>
          <p:nvSpPr>
            <p:cNvPr id="53" name="TextBox 12">
              <a:extLst>
                <a:ext uri="{FF2B5EF4-FFF2-40B4-BE49-F238E27FC236}">
                  <a16:creationId xmlns:a16="http://schemas.microsoft.com/office/drawing/2014/main" id="{BD6C8796-84B2-8A42-8241-9F9F3927C43F}"/>
                </a:ext>
              </a:extLst>
            </p:cNvPr>
            <p:cNvSpPr txBox="1"/>
            <p:nvPr/>
          </p:nvSpPr>
          <p:spPr>
            <a:xfrm>
              <a:off x="3085945" y="2761010"/>
              <a:ext cx="1756749" cy="37176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350">
                  <a:ea typeface="Calibri"/>
                  <a:cs typeface="Calibri"/>
                </a:rPr>
                <a:t>2.5pp</a:t>
              </a: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25C2C1C7-D792-6819-1253-79504027B900}"/>
                </a:ext>
              </a:extLst>
            </p:cNvPr>
            <p:cNvSpPr/>
            <p:nvPr/>
          </p:nvSpPr>
          <p:spPr>
            <a:xfrm>
              <a:off x="2905946" y="2899944"/>
              <a:ext cx="180000" cy="18000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>
                  <a:solidFill>
                    <a:srgbClr val="00B050"/>
                  </a:solidFill>
                </a:rPr>
                <a:t>B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D6F3ED05-936F-61F4-63E9-54AC830E0E23}"/>
              </a:ext>
            </a:extLst>
          </p:cNvPr>
          <p:cNvGrpSpPr/>
          <p:nvPr/>
        </p:nvGrpSpPr>
        <p:grpSpPr>
          <a:xfrm>
            <a:off x="4135710" y="2892164"/>
            <a:ext cx="1936800" cy="371768"/>
            <a:chOff x="4080696" y="2761010"/>
            <a:chExt cx="1908000" cy="371768"/>
          </a:xfrm>
        </p:grpSpPr>
        <p:sp>
          <p:nvSpPr>
            <p:cNvPr id="55" name="TextBox 12">
              <a:extLst>
                <a:ext uri="{FF2B5EF4-FFF2-40B4-BE49-F238E27FC236}">
                  <a16:creationId xmlns:a16="http://schemas.microsoft.com/office/drawing/2014/main" id="{8A3C016A-72C5-40BF-38D9-9577DB418AF4}"/>
                </a:ext>
              </a:extLst>
            </p:cNvPr>
            <p:cNvSpPr txBox="1"/>
            <p:nvPr/>
          </p:nvSpPr>
          <p:spPr>
            <a:xfrm>
              <a:off x="4260696" y="2761010"/>
              <a:ext cx="1728000" cy="37176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350">
                  <a:ea typeface="Calibri"/>
                  <a:cs typeface="Calibri"/>
                </a:rPr>
                <a:t>5.0pp</a:t>
              </a: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01DB3B3D-575E-C1BB-AB67-34AAAB637752}"/>
                </a:ext>
              </a:extLst>
            </p:cNvPr>
            <p:cNvSpPr/>
            <p:nvPr/>
          </p:nvSpPr>
          <p:spPr>
            <a:xfrm>
              <a:off x="4080696" y="2899944"/>
              <a:ext cx="180000" cy="180000"/>
            </a:xfrm>
            <a:prstGeom prst="rect">
              <a:avLst/>
            </a:prstGeom>
            <a:noFill/>
            <a:ln w="19050">
              <a:solidFill>
                <a:srgbClr val="4454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>
                  <a:solidFill>
                    <a:srgbClr val="44546A"/>
                  </a:solidFill>
                </a:rPr>
                <a:t>C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BDB53419-7C89-FCF6-C584-40BE0F7AEC29}"/>
              </a:ext>
            </a:extLst>
          </p:cNvPr>
          <p:cNvGrpSpPr/>
          <p:nvPr/>
        </p:nvGrpSpPr>
        <p:grpSpPr>
          <a:xfrm>
            <a:off x="863600" y="3302663"/>
            <a:ext cx="7453313" cy="1375101"/>
            <a:chOff x="863600" y="1138004"/>
            <a:chExt cx="7453313" cy="1375101"/>
          </a:xfrm>
        </p:grpSpPr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0136434A-4362-EBF1-A577-4993AC8BB3F4}"/>
                </a:ext>
              </a:extLst>
            </p:cNvPr>
            <p:cNvGrpSpPr/>
            <p:nvPr/>
          </p:nvGrpSpPr>
          <p:grpSpPr>
            <a:xfrm>
              <a:off x="957674" y="1484682"/>
              <a:ext cx="6988724" cy="1028423"/>
              <a:chOff x="862424" y="1287832"/>
              <a:chExt cx="6988724" cy="1028423"/>
            </a:xfrm>
          </p:grpSpPr>
          <p:sp>
            <p:nvSpPr>
              <p:cNvPr id="64" name="TextBox 12">
                <a:extLst>
                  <a:ext uri="{FF2B5EF4-FFF2-40B4-BE49-F238E27FC236}">
                    <a16:creationId xmlns:a16="http://schemas.microsoft.com/office/drawing/2014/main" id="{CEBAEBD0-D732-7AFF-97A8-3B2B343F5D70}"/>
                  </a:ext>
                </a:extLst>
              </p:cNvPr>
              <p:cNvSpPr txBox="1"/>
              <p:nvPr/>
            </p:nvSpPr>
            <p:spPr>
              <a:xfrm>
                <a:off x="1042424" y="1287832"/>
                <a:ext cx="6808724" cy="1028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350">
                    <a:ea typeface="Calibri"/>
                    <a:cs typeface="Calibri"/>
                  </a:rPr>
                  <a:t>It was faster to complete within the 2.5 year timeframe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350"/>
                  <a:t>Context and background are essential for identifying discount rates in transcript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350">
                    <a:ea typeface="+mn-lt"/>
                    <a:cs typeface="+mn-lt"/>
                  </a:rPr>
                  <a:t>Thomson One database does not allow for algorithmic searching</a:t>
                </a:r>
              </a:p>
            </p:txBody>
          </p:sp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6FDC4073-9431-ED37-FDF4-89B717BC9F0F}"/>
                  </a:ext>
                </a:extLst>
              </p:cNvPr>
              <p:cNvSpPr/>
              <p:nvPr/>
            </p:nvSpPr>
            <p:spPr>
              <a:xfrm>
                <a:off x="862424" y="1420416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A</a:t>
                </a:r>
              </a:p>
            </p:txBody>
          </p: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5BF93D53-A58D-BF31-803A-B7D9E02CF3F6}"/>
                  </a:ext>
                </a:extLst>
              </p:cNvPr>
              <p:cNvSpPr/>
              <p:nvPr/>
            </p:nvSpPr>
            <p:spPr>
              <a:xfrm>
                <a:off x="862424" y="1727640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00B050"/>
                    </a:solidFill>
                  </a:rPr>
                  <a:t>B</a:t>
                </a:r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733A40E1-E438-F339-FCFE-4F4679DA49FF}"/>
                  </a:ext>
                </a:extLst>
              </p:cNvPr>
              <p:cNvSpPr/>
              <p:nvPr/>
            </p:nvSpPr>
            <p:spPr>
              <a:xfrm>
                <a:off x="862679" y="203486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C</a:t>
                </a:r>
              </a:p>
            </p:txBody>
          </p:sp>
        </p:grpSp>
        <p:sp>
          <p:nvSpPr>
            <p:cNvPr id="63" name="TextBox 13">
              <a:extLst>
                <a:ext uri="{FF2B5EF4-FFF2-40B4-BE49-F238E27FC236}">
                  <a16:creationId xmlns:a16="http://schemas.microsoft.com/office/drawing/2014/main" id="{85A057A1-1691-549E-6499-FC3840DECC00}"/>
                </a:ext>
              </a:extLst>
            </p:cNvPr>
            <p:cNvSpPr txBox="1"/>
            <p:nvPr/>
          </p:nvSpPr>
          <p:spPr>
            <a:xfrm>
              <a:off x="863600" y="1138004"/>
              <a:ext cx="7453313" cy="40036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600" b="1" i="1">
                  <a:solidFill>
                    <a:srgbClr val="44546A"/>
                  </a:solidFill>
                </a:rPr>
                <a:t>Q6: </a:t>
              </a:r>
              <a:r>
                <a:rPr lang="en-US" sz="1400" b="1" i="1">
                  <a:ea typeface="Calibri" panose="020F0502020204030204"/>
                  <a:cs typeface="Calibri" panose="020F0502020204030204"/>
                </a:rPr>
                <a:t>Why did the authors choose manual data entry over an automated algorithm?</a:t>
              </a:r>
              <a:endParaRPr lang="en-GB" sz="1350" b="1" i="1">
                <a:ea typeface="Calibri" panose="020F0502020204030204"/>
                <a:cs typeface="Calibri" panose="020F0502020204030204"/>
              </a:endParaRPr>
            </a:p>
          </p:txBody>
        </p:sp>
      </p:grpSp>
      <p:cxnSp>
        <p:nvCxnSpPr>
          <p:cNvPr id="69" name="Gerade Verbindung 4">
            <a:extLst>
              <a:ext uri="{FF2B5EF4-FFF2-40B4-BE49-F238E27FC236}">
                <a16:creationId xmlns:a16="http://schemas.microsoft.com/office/drawing/2014/main" id="{F78AC256-CD8C-C720-4549-8AC9F9FC0997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380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2A0B4-7977-4ABC-D396-6757D3301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252F7FD-C1CF-9E13-1764-A17F4F71451F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</a:rPr>
              <a:t>Quiz 3 – Extensions &amp; Research </a:t>
            </a: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115E1A1F-AAD7-A633-C0FB-E5F5135FA12F}"/>
              </a:ext>
            </a:extLst>
          </p:cNvPr>
          <p:cNvGrpSpPr/>
          <p:nvPr/>
        </p:nvGrpSpPr>
        <p:grpSpPr>
          <a:xfrm>
            <a:off x="863600" y="1138004"/>
            <a:ext cx="7453313" cy="1341694"/>
            <a:chOff x="863600" y="1138004"/>
            <a:chExt cx="7453313" cy="1341694"/>
          </a:xfrm>
        </p:grpSpPr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91F173F4-2988-2D5C-9323-628EFB6FD29F}"/>
                </a:ext>
              </a:extLst>
            </p:cNvPr>
            <p:cNvGrpSpPr/>
            <p:nvPr/>
          </p:nvGrpSpPr>
          <p:grpSpPr>
            <a:xfrm>
              <a:off x="957674" y="1484682"/>
              <a:ext cx="6988724" cy="995016"/>
              <a:chOff x="862424" y="1287832"/>
              <a:chExt cx="6988724" cy="995016"/>
            </a:xfrm>
          </p:grpSpPr>
          <p:sp>
            <p:nvSpPr>
              <p:cNvPr id="3" name="TextBox 12">
                <a:extLst>
                  <a:ext uri="{FF2B5EF4-FFF2-40B4-BE49-F238E27FC236}">
                    <a16:creationId xmlns:a16="http://schemas.microsoft.com/office/drawing/2014/main" id="{332C9A03-DE23-1054-1D27-B666EE098460}"/>
                  </a:ext>
                </a:extLst>
              </p:cNvPr>
              <p:cNvSpPr txBox="1"/>
              <p:nvPr/>
            </p:nvSpPr>
            <p:spPr>
              <a:xfrm>
                <a:off x="1042424" y="1287832"/>
                <a:ext cx="6808724" cy="99501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350">
                    <a:ea typeface="Calibri"/>
                    <a:cs typeface="Calibri"/>
                  </a:rPr>
                  <a:t>Firms with market power maintain stable high discount rates, regardless of cost of capital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350"/>
                  <a:t>Market power reduces the number of investment opportunities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350">
                    <a:ea typeface="+mn-lt"/>
                    <a:cs typeface="+mn-lt"/>
                  </a:rPr>
                  <a:t>Firms with higher market power face higher financing costs</a:t>
                </a:r>
                <a:endParaRPr lang="en-GB" sz="1350">
                  <a:ea typeface="Calibri"/>
                  <a:cs typeface="Calibri"/>
                </a:endParaRPr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CC51506E-BD53-2CAF-C7BB-D31896DB958F}"/>
                  </a:ext>
                </a:extLst>
              </p:cNvPr>
              <p:cNvSpPr/>
              <p:nvPr/>
            </p:nvSpPr>
            <p:spPr>
              <a:xfrm>
                <a:off x="862424" y="1420416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A</a:t>
                </a:r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8485B0B2-5362-89CB-2105-2F4FA178EC15}"/>
                  </a:ext>
                </a:extLst>
              </p:cNvPr>
              <p:cNvSpPr/>
              <p:nvPr/>
            </p:nvSpPr>
            <p:spPr>
              <a:xfrm>
                <a:off x="862424" y="1727640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B</a:t>
                </a:r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D9E5A15D-669D-1B07-8828-976E67AF6A4C}"/>
                  </a:ext>
                </a:extLst>
              </p:cNvPr>
              <p:cNvSpPr/>
              <p:nvPr/>
            </p:nvSpPr>
            <p:spPr>
              <a:xfrm>
                <a:off x="862679" y="203486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C</a:t>
                </a:r>
              </a:p>
            </p:txBody>
          </p:sp>
        </p:grpSp>
        <p:sp>
          <p:nvSpPr>
            <p:cNvPr id="31" name="TextBox 13">
              <a:extLst>
                <a:ext uri="{FF2B5EF4-FFF2-40B4-BE49-F238E27FC236}">
                  <a16:creationId xmlns:a16="http://schemas.microsoft.com/office/drawing/2014/main" id="{A05762CB-D1F6-F8DB-6325-68B318E40867}"/>
                </a:ext>
              </a:extLst>
            </p:cNvPr>
            <p:cNvSpPr txBox="1"/>
            <p:nvPr/>
          </p:nvSpPr>
          <p:spPr>
            <a:xfrm>
              <a:off x="863600" y="1138004"/>
              <a:ext cx="7453313" cy="40036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600" b="1" i="1">
                  <a:solidFill>
                    <a:srgbClr val="44546A"/>
                  </a:solidFill>
                </a:rPr>
                <a:t>Q7: </a:t>
              </a:r>
              <a:r>
                <a:rPr lang="en-US" sz="1400" b="1" i="1">
                  <a:cs typeface="Calibri" panose="020F0502020204030204"/>
                </a:rPr>
                <a:t>Why does market power lead to higher wedges?</a:t>
              </a:r>
              <a:endParaRPr lang="en-GB" sz="1350" b="1" i="1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D239FF7-D83C-2CBA-024D-94EAC37E786A}"/>
              </a:ext>
            </a:extLst>
          </p:cNvPr>
          <p:cNvGrpSpPr/>
          <p:nvPr/>
        </p:nvGrpSpPr>
        <p:grpSpPr>
          <a:xfrm>
            <a:off x="957674" y="2892164"/>
            <a:ext cx="1936750" cy="371768"/>
            <a:chOff x="969196" y="2761010"/>
            <a:chExt cx="1936750" cy="371768"/>
          </a:xfrm>
        </p:grpSpPr>
        <p:sp>
          <p:nvSpPr>
            <p:cNvPr id="48" name="TextBox 12">
              <a:extLst>
                <a:ext uri="{FF2B5EF4-FFF2-40B4-BE49-F238E27FC236}">
                  <a16:creationId xmlns:a16="http://schemas.microsoft.com/office/drawing/2014/main" id="{31158376-88B9-DB78-B7A4-30BFBE3157F1}"/>
                </a:ext>
              </a:extLst>
            </p:cNvPr>
            <p:cNvSpPr txBox="1"/>
            <p:nvPr/>
          </p:nvSpPr>
          <p:spPr>
            <a:xfrm>
              <a:off x="1149196" y="2761010"/>
              <a:ext cx="1756750" cy="37176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350">
                  <a:ea typeface="Calibri"/>
                  <a:cs typeface="Calibri"/>
                </a:rPr>
                <a:t>After 2008</a:t>
              </a:r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3E39BA8D-1332-4243-2AE6-213549E50122}"/>
                </a:ext>
              </a:extLst>
            </p:cNvPr>
            <p:cNvSpPr/>
            <p:nvPr/>
          </p:nvSpPr>
          <p:spPr>
            <a:xfrm>
              <a:off x="969196" y="2899944"/>
              <a:ext cx="180000" cy="180000"/>
            </a:xfrm>
            <a:prstGeom prst="rect">
              <a:avLst/>
            </a:prstGeom>
            <a:noFill/>
            <a:ln w="19050">
              <a:solidFill>
                <a:srgbClr val="4454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>
                  <a:solidFill>
                    <a:srgbClr val="44546A"/>
                  </a:solidFill>
                </a:rPr>
                <a:t>A</a:t>
              </a:r>
            </a:p>
          </p:txBody>
        </p:sp>
      </p:grpSp>
      <p:sp>
        <p:nvSpPr>
          <p:cNvPr id="47" name="TextBox 13">
            <a:extLst>
              <a:ext uri="{FF2B5EF4-FFF2-40B4-BE49-F238E27FC236}">
                <a16:creationId xmlns:a16="http://schemas.microsoft.com/office/drawing/2014/main" id="{62883C1D-7FBB-7C78-4545-865C21944DE3}"/>
              </a:ext>
            </a:extLst>
          </p:cNvPr>
          <p:cNvSpPr txBox="1"/>
          <p:nvPr/>
        </p:nvSpPr>
        <p:spPr>
          <a:xfrm>
            <a:off x="863600" y="2551836"/>
            <a:ext cx="7453313" cy="400366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i="1">
                <a:solidFill>
                  <a:srgbClr val="44546A"/>
                </a:solidFill>
              </a:rPr>
              <a:t>Q8: </a:t>
            </a:r>
            <a:r>
              <a:rPr lang="en-US" sz="1400" b="1" i="1">
                <a:cs typeface="Calibri" panose="020F0502020204030204"/>
              </a:rPr>
              <a:t>Since when have US investments been ”missing”? </a:t>
            </a:r>
            <a:endParaRPr lang="en-GB" sz="1400" b="1" i="1">
              <a:cs typeface="Calibri" panose="020F0502020204030204"/>
            </a:endParaRPr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B6554D94-681B-A9BA-2124-3BE48C3330D9}"/>
              </a:ext>
            </a:extLst>
          </p:cNvPr>
          <p:cNvGrpSpPr/>
          <p:nvPr/>
        </p:nvGrpSpPr>
        <p:grpSpPr>
          <a:xfrm>
            <a:off x="2546693" y="2892164"/>
            <a:ext cx="1936748" cy="371768"/>
            <a:chOff x="2905946" y="2761010"/>
            <a:chExt cx="1936748" cy="371768"/>
          </a:xfrm>
        </p:grpSpPr>
        <p:sp>
          <p:nvSpPr>
            <p:cNvPr id="53" name="TextBox 12">
              <a:extLst>
                <a:ext uri="{FF2B5EF4-FFF2-40B4-BE49-F238E27FC236}">
                  <a16:creationId xmlns:a16="http://schemas.microsoft.com/office/drawing/2014/main" id="{627E4D59-6C55-0584-A32D-6F84BDACE0DD}"/>
                </a:ext>
              </a:extLst>
            </p:cNvPr>
            <p:cNvSpPr txBox="1"/>
            <p:nvPr/>
          </p:nvSpPr>
          <p:spPr>
            <a:xfrm>
              <a:off x="3085945" y="2761010"/>
              <a:ext cx="1756749" cy="37176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350">
                  <a:ea typeface="Calibri"/>
                  <a:cs typeface="Calibri"/>
                </a:rPr>
                <a:t>Before 1990s</a:t>
              </a: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E280B442-8203-9CE4-8433-45C177E5574D}"/>
                </a:ext>
              </a:extLst>
            </p:cNvPr>
            <p:cNvSpPr/>
            <p:nvPr/>
          </p:nvSpPr>
          <p:spPr>
            <a:xfrm>
              <a:off x="2905946" y="2899944"/>
              <a:ext cx="180000" cy="180000"/>
            </a:xfrm>
            <a:prstGeom prst="rect">
              <a:avLst/>
            </a:prstGeom>
            <a:noFill/>
            <a:ln w="19050">
              <a:solidFill>
                <a:srgbClr val="4454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>
                  <a:solidFill>
                    <a:srgbClr val="44546A"/>
                  </a:solidFill>
                </a:rPr>
                <a:t>B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08A703F5-2D50-0970-B779-7ACC884BA884}"/>
              </a:ext>
            </a:extLst>
          </p:cNvPr>
          <p:cNvGrpSpPr/>
          <p:nvPr/>
        </p:nvGrpSpPr>
        <p:grpSpPr>
          <a:xfrm>
            <a:off x="4135710" y="2892164"/>
            <a:ext cx="1936800" cy="371768"/>
            <a:chOff x="4080696" y="2761010"/>
            <a:chExt cx="1908000" cy="371768"/>
          </a:xfrm>
        </p:grpSpPr>
        <p:sp>
          <p:nvSpPr>
            <p:cNvPr id="55" name="TextBox 12">
              <a:extLst>
                <a:ext uri="{FF2B5EF4-FFF2-40B4-BE49-F238E27FC236}">
                  <a16:creationId xmlns:a16="http://schemas.microsoft.com/office/drawing/2014/main" id="{E768DC9E-CA07-86F6-895A-CCB237EB45A5}"/>
                </a:ext>
              </a:extLst>
            </p:cNvPr>
            <p:cNvSpPr txBox="1"/>
            <p:nvPr/>
          </p:nvSpPr>
          <p:spPr>
            <a:xfrm>
              <a:off x="4260696" y="2761010"/>
              <a:ext cx="1728000" cy="37176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350">
                  <a:ea typeface="Calibri"/>
                  <a:cs typeface="Calibri"/>
                </a:rPr>
                <a:t>Since the early 2000s</a:t>
              </a: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3767F30D-2760-C89A-80C3-37B687775FC6}"/>
                </a:ext>
              </a:extLst>
            </p:cNvPr>
            <p:cNvSpPr/>
            <p:nvPr/>
          </p:nvSpPr>
          <p:spPr>
            <a:xfrm>
              <a:off x="4080696" y="2899944"/>
              <a:ext cx="180000" cy="180000"/>
            </a:xfrm>
            <a:prstGeom prst="rect">
              <a:avLst/>
            </a:prstGeom>
            <a:noFill/>
            <a:ln w="19050">
              <a:solidFill>
                <a:srgbClr val="4454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>
                  <a:solidFill>
                    <a:srgbClr val="44546A"/>
                  </a:solidFill>
                </a:rPr>
                <a:t>C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9EF2B5E6-DA8C-52DA-AF92-A997C142C3C0}"/>
              </a:ext>
            </a:extLst>
          </p:cNvPr>
          <p:cNvGrpSpPr/>
          <p:nvPr/>
        </p:nvGrpSpPr>
        <p:grpSpPr>
          <a:xfrm>
            <a:off x="863600" y="3302663"/>
            <a:ext cx="7453313" cy="1375101"/>
            <a:chOff x="863600" y="1138004"/>
            <a:chExt cx="7453313" cy="1375101"/>
          </a:xfrm>
        </p:grpSpPr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C9CC93EB-0C4A-99CD-DE17-3D20A3988EC6}"/>
                </a:ext>
              </a:extLst>
            </p:cNvPr>
            <p:cNvGrpSpPr/>
            <p:nvPr/>
          </p:nvGrpSpPr>
          <p:grpSpPr>
            <a:xfrm>
              <a:off x="957674" y="1484682"/>
              <a:ext cx="6988724" cy="1028423"/>
              <a:chOff x="862424" y="1287832"/>
              <a:chExt cx="6988724" cy="1028423"/>
            </a:xfrm>
          </p:grpSpPr>
          <p:sp>
            <p:nvSpPr>
              <p:cNvPr id="64" name="TextBox 12">
                <a:extLst>
                  <a:ext uri="{FF2B5EF4-FFF2-40B4-BE49-F238E27FC236}">
                    <a16:creationId xmlns:a16="http://schemas.microsoft.com/office/drawing/2014/main" id="{D5D9BDF5-37E4-8DAC-912B-BABCB7D76BDB}"/>
                  </a:ext>
                </a:extLst>
              </p:cNvPr>
              <p:cNvSpPr txBox="1"/>
              <p:nvPr/>
            </p:nvSpPr>
            <p:spPr>
              <a:xfrm>
                <a:off x="1042424" y="1287832"/>
                <a:ext cx="6808724" cy="1028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1350">
                    <a:ea typeface="Calibri"/>
                    <a:cs typeface="Calibri"/>
                  </a:rPr>
                  <a:t>Market power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350"/>
                  <a:t>Empire Building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350">
                    <a:ea typeface="+mn-lt"/>
                    <a:cs typeface="+mn-lt"/>
                  </a:rPr>
                  <a:t>Financial Constraints</a:t>
                </a:r>
                <a:endParaRPr lang="en-GB" sz="1350">
                  <a:ea typeface="Calibri"/>
                  <a:cs typeface="Calibri"/>
                </a:endParaRPr>
              </a:p>
            </p:txBody>
          </p:sp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504911D3-9D6B-5962-F1CB-C6568F36DDDC}"/>
                  </a:ext>
                </a:extLst>
              </p:cNvPr>
              <p:cNvSpPr/>
              <p:nvPr/>
            </p:nvSpPr>
            <p:spPr>
              <a:xfrm>
                <a:off x="862424" y="1420416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A</a:t>
                </a:r>
              </a:p>
            </p:txBody>
          </p: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1D4750C5-E142-F3AF-9AC9-AB9BBAC23216}"/>
                  </a:ext>
                </a:extLst>
              </p:cNvPr>
              <p:cNvSpPr/>
              <p:nvPr/>
            </p:nvSpPr>
            <p:spPr>
              <a:xfrm>
                <a:off x="862424" y="1727640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B</a:t>
                </a:r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4C01C23C-BA91-427C-0B8E-51623B3EA55A}"/>
                  </a:ext>
                </a:extLst>
              </p:cNvPr>
              <p:cNvSpPr/>
              <p:nvPr/>
            </p:nvSpPr>
            <p:spPr>
              <a:xfrm>
                <a:off x="862679" y="203486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C</a:t>
                </a:r>
              </a:p>
            </p:txBody>
          </p:sp>
        </p:grpSp>
        <p:sp>
          <p:nvSpPr>
            <p:cNvPr id="63" name="TextBox 13">
              <a:extLst>
                <a:ext uri="{FF2B5EF4-FFF2-40B4-BE49-F238E27FC236}">
                  <a16:creationId xmlns:a16="http://schemas.microsoft.com/office/drawing/2014/main" id="{20F360AB-384C-A9FB-CB07-58D6D141A3CD}"/>
                </a:ext>
              </a:extLst>
            </p:cNvPr>
            <p:cNvSpPr txBox="1"/>
            <p:nvPr/>
          </p:nvSpPr>
          <p:spPr>
            <a:xfrm>
              <a:off x="863600" y="1138004"/>
              <a:ext cx="7453313" cy="40036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600" b="1" i="1">
                  <a:solidFill>
                    <a:srgbClr val="44546A"/>
                  </a:solidFill>
                </a:rPr>
                <a:t>Q9: </a:t>
              </a:r>
              <a:r>
                <a:rPr lang="en-US" sz="1400" b="1" i="1">
                  <a:ea typeface="Calibri" panose="020F0502020204030204"/>
                  <a:cs typeface="Calibri" panose="020F0502020204030204"/>
                </a:rPr>
                <a:t>Which of the following is NOT identified as a driver of the wedge?​</a:t>
              </a:r>
              <a:endParaRPr lang="en-GB" sz="1350" b="1" i="1">
                <a:ea typeface="Calibri" panose="020F0502020204030204"/>
                <a:cs typeface="Calibri" panose="020F0502020204030204"/>
              </a:endParaRPr>
            </a:p>
          </p:txBody>
        </p:sp>
      </p:grpSp>
      <p:cxnSp>
        <p:nvCxnSpPr>
          <p:cNvPr id="69" name="Gerade Verbindung 4">
            <a:extLst>
              <a:ext uri="{FF2B5EF4-FFF2-40B4-BE49-F238E27FC236}">
                <a16:creationId xmlns:a16="http://schemas.microsoft.com/office/drawing/2014/main" id="{2B8F8804-BCCF-C73C-1E8A-87E477604954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6397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A50C6-869C-4AB3-BE6A-B3337CC8A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F956A8B-1B62-70FC-C880-38E1D1803298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</a:rPr>
              <a:t>Quiz 3 – Extensions &amp; Research </a:t>
            </a:r>
          </a:p>
        </p:txBody>
      </p: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D714EDB2-8D7A-D215-6A16-ECA81E824C3C}"/>
              </a:ext>
            </a:extLst>
          </p:cNvPr>
          <p:cNvGrpSpPr/>
          <p:nvPr/>
        </p:nvGrpSpPr>
        <p:grpSpPr>
          <a:xfrm>
            <a:off x="863600" y="1138004"/>
            <a:ext cx="7453313" cy="1341694"/>
            <a:chOff x="863600" y="1138004"/>
            <a:chExt cx="7453313" cy="1341694"/>
          </a:xfrm>
        </p:grpSpPr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19FF7A6F-B1BD-0015-A36B-2FE192F716E1}"/>
                </a:ext>
              </a:extLst>
            </p:cNvPr>
            <p:cNvGrpSpPr/>
            <p:nvPr/>
          </p:nvGrpSpPr>
          <p:grpSpPr>
            <a:xfrm>
              <a:off x="957674" y="1484682"/>
              <a:ext cx="6988724" cy="995016"/>
              <a:chOff x="862424" y="1287832"/>
              <a:chExt cx="6988724" cy="995016"/>
            </a:xfrm>
          </p:grpSpPr>
          <p:sp>
            <p:nvSpPr>
              <p:cNvPr id="3" name="TextBox 12">
                <a:extLst>
                  <a:ext uri="{FF2B5EF4-FFF2-40B4-BE49-F238E27FC236}">
                    <a16:creationId xmlns:a16="http://schemas.microsoft.com/office/drawing/2014/main" id="{709072A3-2B95-5C3A-AC0D-DFF47455221F}"/>
                  </a:ext>
                </a:extLst>
              </p:cNvPr>
              <p:cNvSpPr txBox="1"/>
              <p:nvPr/>
            </p:nvSpPr>
            <p:spPr>
              <a:xfrm>
                <a:off x="1042424" y="1287832"/>
                <a:ext cx="6808724" cy="99501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1350">
                    <a:ea typeface="Calibri"/>
                    <a:cs typeface="Calibri"/>
                  </a:rPr>
                  <a:t>Firms with market power maintain stable high discount rates, regardless of cost of capital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350"/>
                  <a:t>Market power reduces the number of investment opportunities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350">
                    <a:ea typeface="+mn-lt"/>
                    <a:cs typeface="+mn-lt"/>
                  </a:rPr>
                  <a:t>Firms with higher market power face higher financing costs</a:t>
                </a:r>
                <a:endParaRPr lang="en-GB" sz="1350">
                  <a:ea typeface="Calibri"/>
                  <a:cs typeface="Calibri"/>
                </a:endParaRPr>
              </a:p>
            </p:txBody>
          </p:sp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F59BCD0B-C60B-0244-6D7E-A519CB80BD79}"/>
                  </a:ext>
                </a:extLst>
              </p:cNvPr>
              <p:cNvSpPr/>
              <p:nvPr/>
            </p:nvSpPr>
            <p:spPr>
              <a:xfrm>
                <a:off x="862424" y="1420416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00B050"/>
                    </a:solidFill>
                  </a:rPr>
                  <a:t>A</a:t>
                </a:r>
              </a:p>
            </p:txBody>
          </p:sp>
          <p:sp>
            <p:nvSpPr>
              <p:cNvPr id="23" name="Rechteck 22">
                <a:extLst>
                  <a:ext uri="{FF2B5EF4-FFF2-40B4-BE49-F238E27FC236}">
                    <a16:creationId xmlns:a16="http://schemas.microsoft.com/office/drawing/2014/main" id="{1654518C-ABE9-064D-8EB4-D04086ED52AE}"/>
                  </a:ext>
                </a:extLst>
              </p:cNvPr>
              <p:cNvSpPr/>
              <p:nvPr/>
            </p:nvSpPr>
            <p:spPr>
              <a:xfrm>
                <a:off x="862424" y="1727640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B</a:t>
                </a:r>
              </a:p>
            </p:txBody>
          </p:sp>
          <p:sp>
            <p:nvSpPr>
              <p:cNvPr id="27" name="Rechteck 26">
                <a:extLst>
                  <a:ext uri="{FF2B5EF4-FFF2-40B4-BE49-F238E27FC236}">
                    <a16:creationId xmlns:a16="http://schemas.microsoft.com/office/drawing/2014/main" id="{CB1195A9-EC9A-8EAB-0ED8-737494C444B0}"/>
                  </a:ext>
                </a:extLst>
              </p:cNvPr>
              <p:cNvSpPr/>
              <p:nvPr/>
            </p:nvSpPr>
            <p:spPr>
              <a:xfrm>
                <a:off x="862679" y="203486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C</a:t>
                </a:r>
              </a:p>
            </p:txBody>
          </p:sp>
        </p:grpSp>
        <p:sp>
          <p:nvSpPr>
            <p:cNvPr id="31" name="TextBox 13">
              <a:extLst>
                <a:ext uri="{FF2B5EF4-FFF2-40B4-BE49-F238E27FC236}">
                  <a16:creationId xmlns:a16="http://schemas.microsoft.com/office/drawing/2014/main" id="{82128C29-DF08-15FE-7BDF-CEDB204352C8}"/>
                </a:ext>
              </a:extLst>
            </p:cNvPr>
            <p:cNvSpPr txBox="1"/>
            <p:nvPr/>
          </p:nvSpPr>
          <p:spPr>
            <a:xfrm>
              <a:off x="863600" y="1138004"/>
              <a:ext cx="7453313" cy="40036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600" b="1" i="1">
                  <a:solidFill>
                    <a:srgbClr val="44546A"/>
                  </a:solidFill>
                </a:rPr>
                <a:t>Q7: </a:t>
              </a:r>
              <a:r>
                <a:rPr lang="en-US" sz="1400" b="1" i="1">
                  <a:cs typeface="Calibri" panose="020F0502020204030204"/>
                </a:rPr>
                <a:t>Why does market power lead to higher wedges?</a:t>
              </a:r>
              <a:endParaRPr lang="en-GB" sz="1350" b="1" i="1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78BF489C-39E4-4F3D-DD88-28F548A00E36}"/>
              </a:ext>
            </a:extLst>
          </p:cNvPr>
          <p:cNvGrpSpPr/>
          <p:nvPr/>
        </p:nvGrpSpPr>
        <p:grpSpPr>
          <a:xfrm>
            <a:off x="957674" y="2892164"/>
            <a:ext cx="1936750" cy="371768"/>
            <a:chOff x="969196" y="2761010"/>
            <a:chExt cx="1936750" cy="371768"/>
          </a:xfrm>
        </p:grpSpPr>
        <p:sp>
          <p:nvSpPr>
            <p:cNvPr id="48" name="TextBox 12">
              <a:extLst>
                <a:ext uri="{FF2B5EF4-FFF2-40B4-BE49-F238E27FC236}">
                  <a16:creationId xmlns:a16="http://schemas.microsoft.com/office/drawing/2014/main" id="{AD4F54BE-6AB1-8713-7A59-785674CDA8BF}"/>
                </a:ext>
              </a:extLst>
            </p:cNvPr>
            <p:cNvSpPr txBox="1"/>
            <p:nvPr/>
          </p:nvSpPr>
          <p:spPr>
            <a:xfrm>
              <a:off x="1149196" y="2761010"/>
              <a:ext cx="1756750" cy="37176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350">
                  <a:ea typeface="Calibri"/>
                  <a:cs typeface="Calibri"/>
                </a:rPr>
                <a:t>After 2008</a:t>
              </a:r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F09BD34A-CFCA-36B2-058A-97EC1BDD1915}"/>
                </a:ext>
              </a:extLst>
            </p:cNvPr>
            <p:cNvSpPr/>
            <p:nvPr/>
          </p:nvSpPr>
          <p:spPr>
            <a:xfrm>
              <a:off x="969196" y="2899944"/>
              <a:ext cx="180000" cy="180000"/>
            </a:xfrm>
            <a:prstGeom prst="rect">
              <a:avLst/>
            </a:prstGeom>
            <a:noFill/>
            <a:ln w="19050">
              <a:solidFill>
                <a:srgbClr val="4454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>
                  <a:solidFill>
                    <a:srgbClr val="44546A"/>
                  </a:solidFill>
                </a:rPr>
                <a:t>A</a:t>
              </a:r>
            </a:p>
          </p:txBody>
        </p:sp>
      </p:grpSp>
      <p:sp>
        <p:nvSpPr>
          <p:cNvPr id="47" name="TextBox 13">
            <a:extLst>
              <a:ext uri="{FF2B5EF4-FFF2-40B4-BE49-F238E27FC236}">
                <a16:creationId xmlns:a16="http://schemas.microsoft.com/office/drawing/2014/main" id="{046BDF01-81DA-A28C-ACBF-C08722F667EF}"/>
              </a:ext>
            </a:extLst>
          </p:cNvPr>
          <p:cNvSpPr txBox="1"/>
          <p:nvPr/>
        </p:nvSpPr>
        <p:spPr>
          <a:xfrm>
            <a:off x="863600" y="2551836"/>
            <a:ext cx="7453313" cy="400366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i="1">
                <a:solidFill>
                  <a:srgbClr val="44546A"/>
                </a:solidFill>
              </a:rPr>
              <a:t>Q8: </a:t>
            </a:r>
            <a:r>
              <a:rPr lang="en-US" sz="1400" b="1" i="1">
                <a:cs typeface="Calibri" panose="020F0502020204030204"/>
              </a:rPr>
              <a:t>Since when have US investments been ”missing”? </a:t>
            </a:r>
            <a:endParaRPr lang="en-GB" sz="1400" b="1" i="1">
              <a:cs typeface="Calibri" panose="020F0502020204030204"/>
            </a:endParaRPr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E73E9BE5-136E-A551-D33A-5F62541E8F67}"/>
              </a:ext>
            </a:extLst>
          </p:cNvPr>
          <p:cNvGrpSpPr/>
          <p:nvPr/>
        </p:nvGrpSpPr>
        <p:grpSpPr>
          <a:xfrm>
            <a:off x="2546693" y="2892164"/>
            <a:ext cx="1936748" cy="371768"/>
            <a:chOff x="2905946" y="2761010"/>
            <a:chExt cx="1936748" cy="371768"/>
          </a:xfrm>
        </p:grpSpPr>
        <p:sp>
          <p:nvSpPr>
            <p:cNvPr id="53" name="TextBox 12">
              <a:extLst>
                <a:ext uri="{FF2B5EF4-FFF2-40B4-BE49-F238E27FC236}">
                  <a16:creationId xmlns:a16="http://schemas.microsoft.com/office/drawing/2014/main" id="{7ACF462D-3E6B-8772-2C74-8680F887E47C}"/>
                </a:ext>
              </a:extLst>
            </p:cNvPr>
            <p:cNvSpPr txBox="1"/>
            <p:nvPr/>
          </p:nvSpPr>
          <p:spPr>
            <a:xfrm>
              <a:off x="3085945" y="2761010"/>
              <a:ext cx="1756749" cy="37176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350">
                  <a:ea typeface="Calibri"/>
                  <a:cs typeface="Calibri"/>
                </a:rPr>
                <a:t>Before 1990s</a:t>
              </a: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8A6633AE-54DF-FA21-FBE0-BD012FC072DB}"/>
                </a:ext>
              </a:extLst>
            </p:cNvPr>
            <p:cNvSpPr/>
            <p:nvPr/>
          </p:nvSpPr>
          <p:spPr>
            <a:xfrm>
              <a:off x="2905946" y="2899944"/>
              <a:ext cx="180000" cy="180000"/>
            </a:xfrm>
            <a:prstGeom prst="rect">
              <a:avLst/>
            </a:prstGeom>
            <a:noFill/>
            <a:ln w="19050">
              <a:solidFill>
                <a:srgbClr val="4454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>
                  <a:solidFill>
                    <a:srgbClr val="44546A"/>
                  </a:solidFill>
                </a:rPr>
                <a:t>B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20ED3925-7A7F-7D80-BD79-1040E78F078E}"/>
              </a:ext>
            </a:extLst>
          </p:cNvPr>
          <p:cNvGrpSpPr/>
          <p:nvPr/>
        </p:nvGrpSpPr>
        <p:grpSpPr>
          <a:xfrm>
            <a:off x="4135710" y="2892164"/>
            <a:ext cx="1936800" cy="371768"/>
            <a:chOff x="4080696" y="2761010"/>
            <a:chExt cx="1908000" cy="371768"/>
          </a:xfrm>
        </p:grpSpPr>
        <p:sp>
          <p:nvSpPr>
            <p:cNvPr id="55" name="TextBox 12">
              <a:extLst>
                <a:ext uri="{FF2B5EF4-FFF2-40B4-BE49-F238E27FC236}">
                  <a16:creationId xmlns:a16="http://schemas.microsoft.com/office/drawing/2014/main" id="{A5BD0994-D1BB-2BEA-61AE-D4BDC126B71A}"/>
                </a:ext>
              </a:extLst>
            </p:cNvPr>
            <p:cNvSpPr txBox="1"/>
            <p:nvPr/>
          </p:nvSpPr>
          <p:spPr>
            <a:xfrm>
              <a:off x="4260696" y="2761010"/>
              <a:ext cx="1728000" cy="37176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350">
                  <a:ea typeface="Calibri"/>
                  <a:cs typeface="Calibri"/>
                </a:rPr>
                <a:t>Since the early 2000s</a:t>
              </a: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F19E379E-D462-C8E5-0883-DFDD7A4FA398}"/>
                </a:ext>
              </a:extLst>
            </p:cNvPr>
            <p:cNvSpPr/>
            <p:nvPr/>
          </p:nvSpPr>
          <p:spPr>
            <a:xfrm>
              <a:off x="4080696" y="2899944"/>
              <a:ext cx="180000" cy="180000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400" b="1">
                  <a:solidFill>
                    <a:srgbClr val="00B050"/>
                  </a:solidFill>
                </a:rPr>
                <a:t>C</a:t>
              </a:r>
            </a:p>
          </p:txBody>
        </p:sp>
      </p:grpSp>
      <p:grpSp>
        <p:nvGrpSpPr>
          <p:cNvPr id="61" name="Gruppieren 60">
            <a:extLst>
              <a:ext uri="{FF2B5EF4-FFF2-40B4-BE49-F238E27FC236}">
                <a16:creationId xmlns:a16="http://schemas.microsoft.com/office/drawing/2014/main" id="{CBA1F490-1810-FE57-AEC1-D195E0BB6D5E}"/>
              </a:ext>
            </a:extLst>
          </p:cNvPr>
          <p:cNvGrpSpPr/>
          <p:nvPr/>
        </p:nvGrpSpPr>
        <p:grpSpPr>
          <a:xfrm>
            <a:off x="863600" y="3302663"/>
            <a:ext cx="7453313" cy="1375101"/>
            <a:chOff x="863600" y="1138004"/>
            <a:chExt cx="7453313" cy="1375101"/>
          </a:xfrm>
        </p:grpSpPr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B3840908-0C8D-7E46-2D3B-A7309F921C00}"/>
                </a:ext>
              </a:extLst>
            </p:cNvPr>
            <p:cNvGrpSpPr/>
            <p:nvPr/>
          </p:nvGrpSpPr>
          <p:grpSpPr>
            <a:xfrm>
              <a:off x="957674" y="1484682"/>
              <a:ext cx="6988724" cy="1028423"/>
              <a:chOff x="862424" y="1287832"/>
              <a:chExt cx="6988724" cy="1028423"/>
            </a:xfrm>
          </p:grpSpPr>
          <p:sp>
            <p:nvSpPr>
              <p:cNvPr id="64" name="TextBox 12">
                <a:extLst>
                  <a:ext uri="{FF2B5EF4-FFF2-40B4-BE49-F238E27FC236}">
                    <a16:creationId xmlns:a16="http://schemas.microsoft.com/office/drawing/2014/main" id="{E548221A-97A4-2796-FB3E-1209EF4DCF17}"/>
                  </a:ext>
                </a:extLst>
              </p:cNvPr>
              <p:cNvSpPr txBox="1"/>
              <p:nvPr/>
            </p:nvSpPr>
            <p:spPr>
              <a:xfrm>
                <a:off x="1042424" y="1287832"/>
                <a:ext cx="6808724" cy="1028423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sz="1350">
                    <a:ea typeface="Calibri"/>
                    <a:cs typeface="Calibri"/>
                  </a:rPr>
                  <a:t>Market power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sz="1350"/>
                  <a:t>Empire Building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350">
                    <a:ea typeface="+mn-lt"/>
                    <a:cs typeface="+mn-lt"/>
                  </a:rPr>
                  <a:t>Financial Constraints</a:t>
                </a:r>
                <a:endParaRPr lang="en-GB" sz="1350">
                  <a:ea typeface="Calibri"/>
                  <a:cs typeface="Calibri"/>
                </a:endParaRPr>
              </a:p>
            </p:txBody>
          </p:sp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D96DE15F-5901-E189-7111-E940B1951A93}"/>
                  </a:ext>
                </a:extLst>
              </p:cNvPr>
              <p:cNvSpPr/>
              <p:nvPr/>
            </p:nvSpPr>
            <p:spPr>
              <a:xfrm>
                <a:off x="862424" y="1420416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A</a:t>
                </a:r>
              </a:p>
            </p:txBody>
          </p:sp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97664A85-AA3D-E824-040A-48ACBDFE06C4}"/>
                  </a:ext>
                </a:extLst>
              </p:cNvPr>
              <p:cNvSpPr/>
              <p:nvPr/>
            </p:nvSpPr>
            <p:spPr>
              <a:xfrm>
                <a:off x="862424" y="1727640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00B050"/>
                    </a:solidFill>
                  </a:rPr>
                  <a:t>B</a:t>
                </a:r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E72F62DF-56E3-ECE5-9B9A-9FB2692E29BE}"/>
                  </a:ext>
                </a:extLst>
              </p:cNvPr>
              <p:cNvSpPr/>
              <p:nvPr/>
            </p:nvSpPr>
            <p:spPr>
              <a:xfrm>
                <a:off x="862679" y="2034864"/>
                <a:ext cx="180000" cy="180000"/>
              </a:xfrm>
              <a:prstGeom prst="rect">
                <a:avLst/>
              </a:prstGeom>
              <a:noFill/>
              <a:ln w="19050">
                <a:solidFill>
                  <a:srgbClr val="44546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b="1">
                    <a:solidFill>
                      <a:srgbClr val="44546A"/>
                    </a:solidFill>
                  </a:rPr>
                  <a:t>C</a:t>
                </a:r>
              </a:p>
            </p:txBody>
          </p:sp>
        </p:grpSp>
        <p:sp>
          <p:nvSpPr>
            <p:cNvPr id="63" name="TextBox 13">
              <a:extLst>
                <a:ext uri="{FF2B5EF4-FFF2-40B4-BE49-F238E27FC236}">
                  <a16:creationId xmlns:a16="http://schemas.microsoft.com/office/drawing/2014/main" id="{3D4A0EC0-1FC5-E90D-16D4-C6CE965CB3E2}"/>
                </a:ext>
              </a:extLst>
            </p:cNvPr>
            <p:cNvSpPr txBox="1"/>
            <p:nvPr/>
          </p:nvSpPr>
          <p:spPr>
            <a:xfrm>
              <a:off x="863600" y="1138004"/>
              <a:ext cx="7453313" cy="40036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GB" sz="1600" b="1" i="1">
                  <a:solidFill>
                    <a:srgbClr val="44546A"/>
                  </a:solidFill>
                </a:rPr>
                <a:t>Q9: </a:t>
              </a:r>
              <a:r>
                <a:rPr lang="en-US" sz="1400" b="1" i="1">
                  <a:ea typeface="Calibri" panose="020F0502020204030204"/>
                  <a:cs typeface="Calibri" panose="020F0502020204030204"/>
                </a:rPr>
                <a:t>Which of the following is NOT identified as a driver of the wedge?​</a:t>
              </a:r>
              <a:endParaRPr lang="en-GB" sz="1350" b="1" i="1">
                <a:ea typeface="Calibri" panose="020F0502020204030204"/>
                <a:cs typeface="Calibri" panose="020F0502020204030204"/>
              </a:endParaRPr>
            </a:p>
          </p:txBody>
        </p:sp>
      </p:grpSp>
      <p:cxnSp>
        <p:nvCxnSpPr>
          <p:cNvPr id="69" name="Gerade Verbindung 4">
            <a:extLst>
              <a:ext uri="{FF2B5EF4-FFF2-40B4-BE49-F238E27FC236}">
                <a16:creationId xmlns:a16="http://schemas.microsoft.com/office/drawing/2014/main" id="{37CD1D08-2D14-6F57-CAB6-84BA5458A79E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7081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5A6B8-FF78-3725-B7B0-0B32D9D0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C21CC27-813A-31A1-8E45-06112FC9706B}"/>
              </a:ext>
            </a:extLst>
          </p:cNvPr>
          <p:cNvSpPr txBox="1"/>
          <p:nvPr/>
        </p:nvSpPr>
        <p:spPr>
          <a:xfrm>
            <a:off x="760476" y="1420416"/>
            <a:ext cx="7907274" cy="19808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/>
                <a:cs typeface="Calibri"/>
              </a:rPr>
              <a:t>Gormsen, N. J., &amp; Huber, K. “Corporate Discount Rates.”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/>
                <a:cs typeface="Calibri"/>
              </a:rPr>
              <a:t>AER, 115(6), 2001–2049, American Economic Association, 2025.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Calibri"/>
                <a:cs typeface="Calibri"/>
                <a:hlinkClick r:id="rId3"/>
              </a:rPr>
              <a:t>https://doi.org/10.1257/aer.20231246</a:t>
            </a: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Calibri"/>
              <a:cs typeface="Calibri"/>
            </a:endParaRPr>
          </a:p>
          <a:p>
            <a:pPr>
              <a:lnSpc>
                <a:spcPct val="200000"/>
              </a:lnSpc>
            </a:pPr>
            <a:endParaRPr lang="en-GB" sz="1600">
              <a:solidFill>
                <a:schemeClr val="tx2"/>
              </a:solidFill>
            </a:endParaRPr>
          </a:p>
          <a:p>
            <a:pPr>
              <a:lnSpc>
                <a:spcPct val="200000"/>
              </a:lnSpc>
            </a:pPr>
            <a:r>
              <a:rPr lang="en-GB" sz="1350">
                <a:ea typeface="Calibri"/>
                <a:cs typeface="Calibri"/>
              </a:rPr>
              <a:t>	</a:t>
            </a: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C88DA3B7-624A-74DF-0F74-2CB851959725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3CBA24A-67DA-96EC-4EE2-8D5A7EB4ED67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</a:rPr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26920273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4CECF3B-2827-F9F6-AD04-D80943E00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5022-3E20-0373-1138-C4DFB5B6D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75" y="3381521"/>
            <a:ext cx="8533699" cy="1965394"/>
          </a:xfrm>
        </p:spPr>
        <p:txBody>
          <a:bodyPr anchor="t"/>
          <a:lstStyle/>
          <a:p>
            <a:r>
              <a:rPr lang="en-GB">
                <a:solidFill>
                  <a:srgbClr val="FF0000"/>
                </a:solidFill>
              </a:rPr>
              <a:t>V1 ARCHIV</a:t>
            </a:r>
          </a:p>
        </p:txBody>
      </p:sp>
    </p:spTree>
    <p:extLst>
      <p:ext uri="{BB962C8B-B14F-4D97-AF65-F5344CB8AC3E}">
        <p14:creationId xmlns:p14="http://schemas.microsoft.com/office/powerpoint/2010/main" val="11862814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4C4B27C-9236-219D-5F30-92BD6B996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1C4A9-60B4-ABB0-4059-1D0AE43FD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575" y="3381521"/>
            <a:ext cx="8533699" cy="1965394"/>
          </a:xfrm>
        </p:spPr>
        <p:txBody>
          <a:bodyPr anchor="t"/>
          <a:lstStyle/>
          <a:p>
            <a:r>
              <a:rPr lang="en-GB">
                <a:solidFill>
                  <a:srgbClr val="FF0000"/>
                </a:solidFill>
              </a:rPr>
              <a:t>Podcast notes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F80FBE8-7717-CF76-1585-358588F308A2}"/>
              </a:ext>
            </a:extLst>
          </p:cNvPr>
          <p:cNvSpPr/>
          <p:nvPr/>
        </p:nvSpPr>
        <p:spPr>
          <a:xfrm>
            <a:off x="332487" y="109319"/>
            <a:ext cx="8479026" cy="31148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e-DE" sz="900" b="1" u="sng" err="1">
                <a:solidFill>
                  <a:schemeClr val="bg1"/>
                </a:solidFill>
              </a:rPr>
              <a:t>Important</a:t>
            </a:r>
            <a:r>
              <a:rPr lang="de-DE" sz="900" b="1" u="sng">
                <a:solidFill>
                  <a:schemeClr val="bg1"/>
                </a:solidFill>
              </a:rPr>
              <a:t> Storytelling … (René Notes):</a:t>
            </a:r>
          </a:p>
          <a:p>
            <a:endParaRPr lang="de-DE" sz="900">
              <a:solidFill>
                <a:schemeClr val="bg1"/>
              </a:solidFill>
            </a:endParaRPr>
          </a:p>
          <a:p>
            <a:r>
              <a:rPr lang="de-DE" sz="900">
                <a:solidFill>
                  <a:schemeClr val="bg1"/>
                </a:solidFill>
              </a:rPr>
              <a:t>… warum wenige Investitionen trotz niedriger Zinsen / Kapitalkosten? -&gt; Logik der Vorstandsetagen als Mittelpunkt des Papers! -&gt; </a:t>
            </a:r>
            <a:r>
              <a:rPr lang="de-DE" sz="900" b="1">
                <a:solidFill>
                  <a:schemeClr val="bg1"/>
                </a:solidFill>
              </a:rPr>
              <a:t>Investoren vs. Manager</a:t>
            </a:r>
          </a:p>
          <a:p>
            <a:endParaRPr lang="de-DE" sz="900">
              <a:solidFill>
                <a:schemeClr val="bg1"/>
              </a:solidFill>
            </a:endParaRPr>
          </a:p>
          <a:p>
            <a:r>
              <a:rPr lang="de-DE" sz="900">
                <a:solidFill>
                  <a:schemeClr val="bg1"/>
                </a:solidFill>
              </a:rPr>
              <a:t>Hier geht es um </a:t>
            </a:r>
            <a:r>
              <a:rPr lang="de-DE" sz="900" b="1" err="1">
                <a:solidFill>
                  <a:schemeClr val="bg1"/>
                </a:solidFill>
              </a:rPr>
              <a:t>Investigativrecherche</a:t>
            </a:r>
            <a:r>
              <a:rPr lang="de-DE" sz="900">
                <a:solidFill>
                  <a:schemeClr val="bg1"/>
                </a:solidFill>
              </a:rPr>
              <a:t> um Management Entscheidungen zu verstehen (entlarven)</a:t>
            </a:r>
          </a:p>
          <a:p>
            <a:endParaRPr lang="de-DE" sz="900">
              <a:solidFill>
                <a:schemeClr val="bg1"/>
              </a:solidFill>
            </a:endParaRPr>
          </a:p>
          <a:p>
            <a:r>
              <a:rPr lang="de-DE" sz="900">
                <a:solidFill>
                  <a:schemeClr val="bg1"/>
                </a:solidFill>
              </a:rPr>
              <a:t>Storytelling geht in die Richtung Abkehr von Standardtheorien der allgemeinen Wirtschaftspolitik … -&gt; </a:t>
            </a:r>
            <a:r>
              <a:rPr lang="de-DE" sz="900" b="1" err="1">
                <a:solidFill>
                  <a:schemeClr val="bg1"/>
                </a:solidFill>
              </a:rPr>
              <a:t>Investing</a:t>
            </a:r>
            <a:r>
              <a:rPr lang="de-DE" sz="900" b="1">
                <a:solidFill>
                  <a:schemeClr val="bg1"/>
                </a:solidFill>
              </a:rPr>
              <a:t> wenn NPV positiv</a:t>
            </a:r>
            <a:r>
              <a:rPr lang="de-DE" sz="900">
                <a:solidFill>
                  <a:schemeClr val="bg1"/>
                </a:solidFill>
              </a:rPr>
              <a:t>, Discount oder </a:t>
            </a:r>
            <a:r>
              <a:rPr lang="de-DE" sz="900" err="1">
                <a:solidFill>
                  <a:schemeClr val="bg1"/>
                </a:solidFill>
              </a:rPr>
              <a:t>Hurdle</a:t>
            </a:r>
            <a:r>
              <a:rPr lang="de-DE" sz="900">
                <a:solidFill>
                  <a:schemeClr val="bg1"/>
                </a:solidFill>
              </a:rPr>
              <a:t> Rate sollte im Gleichschritt mit dem Kapitalmarkt gehen … so die Theorie …</a:t>
            </a:r>
          </a:p>
          <a:p>
            <a:endParaRPr lang="de-DE" sz="900">
              <a:solidFill>
                <a:schemeClr val="bg1"/>
              </a:solidFill>
            </a:endParaRPr>
          </a:p>
          <a:p>
            <a:pPr marL="228600" indent="-228600">
              <a:buAutoNum type="arabicParenR"/>
            </a:pPr>
            <a:r>
              <a:rPr lang="de-DE" sz="900" b="1" err="1">
                <a:solidFill>
                  <a:schemeClr val="bg1"/>
                </a:solidFill>
              </a:rPr>
              <a:t>Perceived</a:t>
            </a:r>
            <a:r>
              <a:rPr lang="de-DE" sz="900" b="1">
                <a:solidFill>
                  <a:schemeClr val="bg1"/>
                </a:solidFill>
              </a:rPr>
              <a:t> </a:t>
            </a:r>
            <a:r>
              <a:rPr lang="de-DE" sz="900" b="1" err="1">
                <a:solidFill>
                  <a:schemeClr val="bg1"/>
                </a:solidFill>
              </a:rPr>
              <a:t>Cost</a:t>
            </a:r>
            <a:r>
              <a:rPr lang="de-DE" sz="900" b="1">
                <a:solidFill>
                  <a:schemeClr val="bg1"/>
                </a:solidFill>
              </a:rPr>
              <a:t> </a:t>
            </a:r>
            <a:r>
              <a:rPr lang="de-DE" sz="900" b="1" err="1">
                <a:solidFill>
                  <a:schemeClr val="bg1"/>
                </a:solidFill>
              </a:rPr>
              <a:t>of</a:t>
            </a:r>
            <a:r>
              <a:rPr lang="de-DE" sz="900" b="1">
                <a:solidFill>
                  <a:schemeClr val="bg1"/>
                </a:solidFill>
              </a:rPr>
              <a:t> Capital und 2) Discount Rate </a:t>
            </a:r>
            <a:r>
              <a:rPr lang="de-DE" sz="900">
                <a:solidFill>
                  <a:schemeClr val="bg1"/>
                </a:solidFill>
              </a:rPr>
              <a:t>wurden untersucht … Entscheidend ist diese Diskrepanz „Wedge“</a:t>
            </a:r>
          </a:p>
          <a:p>
            <a:pPr marL="228600" indent="-228600">
              <a:buAutoNum type="arabicParenR"/>
            </a:pPr>
            <a:endParaRPr lang="de-DE" sz="900">
              <a:solidFill>
                <a:schemeClr val="bg1"/>
              </a:solidFill>
            </a:endParaRPr>
          </a:p>
          <a:p>
            <a:r>
              <a:rPr lang="de-DE" sz="900" b="1" err="1">
                <a:solidFill>
                  <a:schemeClr val="bg1"/>
                </a:solidFill>
              </a:rPr>
              <a:t>Finding</a:t>
            </a:r>
            <a:r>
              <a:rPr lang="de-DE" sz="900" b="1">
                <a:solidFill>
                  <a:schemeClr val="bg1"/>
                </a:solidFill>
              </a:rPr>
              <a:t>: </a:t>
            </a:r>
            <a:r>
              <a:rPr lang="de-DE" sz="900">
                <a:solidFill>
                  <a:schemeClr val="bg1"/>
                </a:solidFill>
              </a:rPr>
              <a:t>Kein Zusammenhang Realität und Theorie! -&gt; Raten sind sehr starr, </a:t>
            </a:r>
            <a:r>
              <a:rPr lang="de-DE" sz="900" b="1">
                <a:solidFill>
                  <a:schemeClr val="bg1"/>
                </a:solidFill>
              </a:rPr>
              <a:t>nur in Long-Run nah am Lehrbuch!</a:t>
            </a:r>
          </a:p>
          <a:p>
            <a:endParaRPr lang="de-DE" sz="900">
              <a:solidFill>
                <a:schemeClr val="bg1"/>
              </a:solidFill>
            </a:endParaRPr>
          </a:p>
          <a:p>
            <a:r>
              <a:rPr lang="de-DE" sz="900">
                <a:solidFill>
                  <a:schemeClr val="bg1"/>
                </a:solidFill>
              </a:rPr>
              <a:t>Insbesondere für große Unternehmen (</a:t>
            </a:r>
            <a:r>
              <a:rPr lang="de-DE" sz="900" b="1" err="1">
                <a:solidFill>
                  <a:schemeClr val="bg1"/>
                </a:solidFill>
              </a:rPr>
              <a:t>Sticky</a:t>
            </a:r>
            <a:r>
              <a:rPr lang="de-DE" sz="900" b="1">
                <a:solidFill>
                  <a:schemeClr val="bg1"/>
                </a:solidFill>
              </a:rPr>
              <a:t> Rates</a:t>
            </a:r>
            <a:r>
              <a:rPr lang="de-DE" sz="900">
                <a:solidFill>
                  <a:schemeClr val="bg1"/>
                </a:solidFill>
              </a:rPr>
              <a:t>), da diese sich den Wedge leisten können und gleichzeitig Empire Building verhindern …</a:t>
            </a:r>
          </a:p>
          <a:p>
            <a:endParaRPr lang="de-DE" sz="900">
              <a:solidFill>
                <a:schemeClr val="bg1"/>
              </a:solidFill>
            </a:endParaRPr>
          </a:p>
          <a:p>
            <a:r>
              <a:rPr lang="de-DE" sz="900" b="1">
                <a:solidFill>
                  <a:schemeClr val="bg1"/>
                </a:solidFill>
              </a:rPr>
              <a:t>„Wedge“ </a:t>
            </a:r>
            <a:r>
              <a:rPr lang="de-DE" sz="900">
                <a:solidFill>
                  <a:schemeClr val="bg1"/>
                </a:solidFill>
              </a:rPr>
              <a:t>blockiert Investitionen … Blackbox der Investitionen verhindert … Tobins Q ist falsch (basiert auf niedrigen </a:t>
            </a:r>
            <a:r>
              <a:rPr lang="de-DE" sz="900" err="1">
                <a:solidFill>
                  <a:schemeClr val="bg1"/>
                </a:solidFill>
              </a:rPr>
              <a:t>Cost</a:t>
            </a:r>
            <a:r>
              <a:rPr lang="de-DE" sz="900">
                <a:solidFill>
                  <a:schemeClr val="bg1"/>
                </a:solidFill>
              </a:rPr>
              <a:t> </a:t>
            </a:r>
            <a:r>
              <a:rPr lang="de-DE" sz="900" err="1">
                <a:solidFill>
                  <a:schemeClr val="bg1"/>
                </a:solidFill>
              </a:rPr>
              <a:t>of</a:t>
            </a:r>
            <a:r>
              <a:rPr lang="de-DE" sz="900">
                <a:solidFill>
                  <a:schemeClr val="bg1"/>
                </a:solidFill>
              </a:rPr>
              <a:t> Capital des Marktes), </a:t>
            </a:r>
            <a:r>
              <a:rPr lang="de-DE" sz="900" err="1">
                <a:solidFill>
                  <a:schemeClr val="bg1"/>
                </a:solidFill>
              </a:rPr>
              <a:t>Adjusted</a:t>
            </a:r>
            <a:r>
              <a:rPr lang="de-DE" sz="900">
                <a:solidFill>
                  <a:schemeClr val="bg1"/>
                </a:solidFill>
              </a:rPr>
              <a:t> Q als Ergebnis vom Paper (bereinigt um den Wedge, psychologische Realität) -&gt; Das Rätsel löst sich auf</a:t>
            </a:r>
          </a:p>
          <a:p>
            <a:endParaRPr lang="de-DE" sz="900">
              <a:solidFill>
                <a:schemeClr val="bg1"/>
              </a:solidFill>
            </a:endParaRPr>
          </a:p>
          <a:p>
            <a:r>
              <a:rPr lang="de-DE" sz="900" b="1">
                <a:solidFill>
                  <a:schemeClr val="bg1"/>
                </a:solidFill>
              </a:rPr>
              <a:t>„Arrogante Abkopplung von der Finanzwelt“ </a:t>
            </a:r>
            <a:r>
              <a:rPr lang="de-DE" sz="900">
                <a:solidFill>
                  <a:schemeClr val="bg1"/>
                </a:solidFill>
              </a:rPr>
              <a:t>„Zinsen können Achterbahn fahren, </a:t>
            </a:r>
            <a:r>
              <a:rPr lang="de-DE" sz="900" err="1">
                <a:solidFill>
                  <a:schemeClr val="bg1"/>
                </a:solidFill>
              </a:rPr>
              <a:t>does</a:t>
            </a:r>
            <a:r>
              <a:rPr lang="de-DE" sz="900">
                <a:solidFill>
                  <a:schemeClr val="bg1"/>
                </a:solidFill>
              </a:rPr>
              <a:t> not matter to </a:t>
            </a:r>
            <a:r>
              <a:rPr lang="de-DE" sz="900" err="1">
                <a:solidFill>
                  <a:schemeClr val="bg1"/>
                </a:solidFill>
              </a:rPr>
              <a:t>us</a:t>
            </a:r>
            <a:r>
              <a:rPr lang="de-DE" sz="900">
                <a:solidFill>
                  <a:schemeClr val="bg1"/>
                </a:solidFill>
              </a:rPr>
              <a:t>“</a:t>
            </a:r>
            <a:r>
              <a:rPr lang="de-DE" sz="900" b="1">
                <a:solidFill>
                  <a:schemeClr val="bg1"/>
                </a:solidFill>
              </a:rPr>
              <a:t> -&gt; Wirksamkeit von Geldpolitik wenn keine Wirkung auf Realwirtschaft?</a:t>
            </a:r>
          </a:p>
          <a:p>
            <a:endParaRPr lang="de-DE" sz="900">
              <a:solidFill>
                <a:schemeClr val="bg1"/>
              </a:solidFill>
            </a:endParaRPr>
          </a:p>
          <a:p>
            <a:r>
              <a:rPr lang="de-DE" sz="900" b="1">
                <a:solidFill>
                  <a:schemeClr val="bg1"/>
                </a:solidFill>
              </a:rPr>
              <a:t>Übergang in </a:t>
            </a:r>
            <a:r>
              <a:rPr lang="de-DE" sz="900" b="1" err="1">
                <a:solidFill>
                  <a:schemeClr val="bg1"/>
                </a:solidFill>
              </a:rPr>
              <a:t>Unternehmenspychologie</a:t>
            </a:r>
            <a:r>
              <a:rPr lang="de-DE" sz="900" b="1">
                <a:solidFill>
                  <a:schemeClr val="bg1"/>
                </a:solidFill>
              </a:rPr>
              <a:t>: </a:t>
            </a:r>
            <a:r>
              <a:rPr lang="de-DE" sz="900">
                <a:solidFill>
                  <a:schemeClr val="bg1"/>
                </a:solidFill>
              </a:rPr>
              <a:t>Schutzmechanismen wie </a:t>
            </a:r>
            <a:r>
              <a:rPr lang="de-DE" sz="900" b="1">
                <a:solidFill>
                  <a:schemeClr val="bg1"/>
                </a:solidFill>
              </a:rPr>
              <a:t>„Empire Building“ </a:t>
            </a:r>
            <a:r>
              <a:rPr lang="de-DE" sz="900">
                <a:solidFill>
                  <a:schemeClr val="bg1"/>
                </a:solidFill>
              </a:rPr>
              <a:t>erhöhen den Wedge und verhindern Investitionen (unfreiwillig) … darauf aufbauen …</a:t>
            </a:r>
          </a:p>
          <a:p>
            <a:endParaRPr lang="de-DE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5783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E638292-A683-7FCB-34BB-42EB009EC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A22D26E9-18C7-A4B6-BEAF-9632E19E6D07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75708DBA-0F66-E6DC-0DFD-2E459228A9C3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Drivers and Macroeconomic Implications of Discount Rate Wedges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9FFD51-1905-9274-23ED-D35E046BE461}"/>
              </a:ext>
            </a:extLst>
          </p:cNvPr>
          <p:cNvSpPr txBox="1"/>
          <p:nvPr/>
        </p:nvSpPr>
        <p:spPr>
          <a:xfrm>
            <a:off x="781050" y="1219329"/>
            <a:ext cx="8033039" cy="21501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/>
              <a:t>Managers </a:t>
            </a:r>
            <a:r>
              <a:rPr lang="en-GB" sz="1350" b="1"/>
              <a:t>maintain stable hurdle rates </a:t>
            </a:r>
            <a:r>
              <a:rPr lang="en-GB" sz="1350"/>
              <a:t>as a form of governance device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/>
              <a:t>Market power enables firms to </a:t>
            </a:r>
            <a:r>
              <a:rPr lang="en-GB" sz="1350" b="1"/>
              <a:t>sustain</a:t>
            </a:r>
            <a:r>
              <a:rPr lang="en-GB" sz="1350"/>
              <a:t> elevated wedges </a:t>
            </a:r>
            <a:r>
              <a:rPr lang="en-GB" sz="1350" b="1"/>
              <a:t>without competitive pressure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/>
              <a:t>Investment is </a:t>
            </a:r>
            <a:r>
              <a:rPr lang="en-GB" sz="1350" b="1"/>
              <a:t>10x less responsive </a:t>
            </a:r>
            <a:r>
              <a:rPr lang="en-GB" sz="1350"/>
              <a:t>to financial conditions than theory predicts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/>
              <a:t>Central bank interest rate cuts become </a:t>
            </a:r>
            <a:r>
              <a:rPr lang="en-GB" sz="1350" b="1"/>
              <a:t>less effective </a:t>
            </a:r>
            <a:r>
              <a:rPr lang="en-GB" sz="1350"/>
              <a:t>at stimulating the real economy</a:t>
            </a:r>
          </a:p>
          <a:p>
            <a:pPr>
              <a:lnSpc>
                <a:spcPct val="200000"/>
              </a:lnSpc>
            </a:pPr>
            <a:endParaRPr lang="en-GB" sz="1350">
              <a:ea typeface="+mn-lt"/>
              <a:cs typeface="Segoe UI"/>
            </a:endParaRP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6093E5B7-34DE-7423-2E6E-62FA07C79B0F}"/>
              </a:ext>
            </a:extLst>
          </p:cNvPr>
          <p:cNvSpPr txBox="1"/>
          <p:nvPr/>
        </p:nvSpPr>
        <p:spPr>
          <a:xfrm>
            <a:off x="863599" y="3238148"/>
            <a:ext cx="7453313" cy="728276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i="1">
                <a:solidFill>
                  <a:schemeClr val="tx2"/>
                </a:solidFill>
              </a:rPr>
              <a:t>Key Takeaway:</a:t>
            </a:r>
            <a:endParaRPr lang="en-GB" sz="1600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400"/>
              <a:t>Rising wedges explain the "Missing Investment" and falling labour share since 2002</a:t>
            </a:r>
          </a:p>
        </p:txBody>
      </p:sp>
    </p:spTree>
    <p:extLst>
      <p:ext uri="{BB962C8B-B14F-4D97-AF65-F5344CB8AC3E}">
        <p14:creationId xmlns:p14="http://schemas.microsoft.com/office/powerpoint/2010/main" val="19850776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74C1894-C401-3E0B-B90C-1266E347C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A200BD7F-BD70-3A7D-EE4C-D760C9FFC5CD}"/>
              </a:ext>
            </a:extLst>
          </p:cNvPr>
          <p:cNvSpPr txBox="1"/>
          <p:nvPr/>
        </p:nvSpPr>
        <p:spPr>
          <a:xfrm>
            <a:off x="863600" y="1459737"/>
            <a:ext cx="7453314" cy="7696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de-DE" sz="1600">
                <a:ea typeface="+mn-lt"/>
                <a:cs typeface="Segoe UI"/>
              </a:rPr>
              <a:t>W</a:t>
            </a:r>
            <a:r>
              <a:rPr lang="en-GB" sz="1600">
                <a:ea typeface="+mn-lt"/>
                <a:cs typeface="Segoe UI"/>
              </a:rPr>
              <a:t>hy did the authors choose manual data entry over an automated algorithm for the 74,000 paragraphs?</a:t>
            </a:r>
            <a:endParaRPr lang="en-GB" sz="1600">
              <a:ea typeface="Calibri"/>
              <a:cs typeface="Segoe UI"/>
            </a:endParaRP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9C559CAE-5BAD-9D32-BE55-9500C963E7EF}"/>
              </a:ext>
            </a:extLst>
          </p:cNvPr>
          <p:cNvCxnSpPr>
            <a:cxnSpLocks/>
          </p:cNvCxnSpPr>
          <p:nvPr/>
        </p:nvCxnSpPr>
        <p:spPr>
          <a:xfrm>
            <a:off x="357692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5EE43B3A-D5ED-EE18-A47D-7CE8CCB30C8D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1" err="1">
                <a:solidFill>
                  <a:schemeClr val="tx2"/>
                </a:solidFill>
                <a:ea typeface="Calibri"/>
                <a:cs typeface="Calibri"/>
              </a:rPr>
              <a:t>Audience</a:t>
            </a:r>
            <a:r>
              <a:rPr lang="de-DE" sz="2000" b="1">
                <a:solidFill>
                  <a:schemeClr val="tx2"/>
                </a:solidFill>
                <a:ea typeface="Calibri"/>
                <a:cs typeface="Calibri"/>
              </a:rPr>
              <a:t> Check</a:t>
            </a:r>
            <a:endParaRPr lang="en-GB" sz="2000" b="1">
              <a:solidFill>
                <a:schemeClr val="tx2"/>
              </a:solidFill>
              <a:ea typeface="Calibri"/>
              <a:cs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A97CC70-FC77-6BC1-444A-B75142CA6A8B}"/>
              </a:ext>
            </a:extLst>
          </p:cNvPr>
          <p:cNvGrpSpPr/>
          <p:nvPr/>
        </p:nvGrpSpPr>
        <p:grpSpPr>
          <a:xfrm>
            <a:off x="1222773" y="2969899"/>
            <a:ext cx="5956049" cy="300082"/>
            <a:chOff x="1227533" y="3050866"/>
            <a:chExt cx="5956049" cy="30008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125061-E00F-2EA4-B2DE-5E4CA9B34390}"/>
                </a:ext>
              </a:extLst>
            </p:cNvPr>
            <p:cNvSpPr txBox="1"/>
            <p:nvPr/>
          </p:nvSpPr>
          <p:spPr>
            <a:xfrm>
              <a:off x="1509333" y="3050866"/>
              <a:ext cx="5674249" cy="30008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GB" sz="1350">
                  <a:solidFill>
                    <a:srgbClr val="44546A"/>
                  </a:solidFill>
                  <a:ea typeface="+mn-lt"/>
                  <a:cs typeface="+mn-lt"/>
                </a:rPr>
                <a:t>It was faster to complete within the 2.5 year timeframe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B235F49-EA3C-3711-5524-10893ABB1217}"/>
                </a:ext>
              </a:extLst>
            </p:cNvPr>
            <p:cNvSpPr/>
            <p:nvPr/>
          </p:nvSpPr>
          <p:spPr>
            <a:xfrm>
              <a:off x="1227533" y="3098513"/>
              <a:ext cx="200025" cy="2047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4454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C244508-6FF5-CEC1-7D37-DF72B9D4ED48}"/>
              </a:ext>
            </a:extLst>
          </p:cNvPr>
          <p:cNvGrpSpPr/>
          <p:nvPr/>
        </p:nvGrpSpPr>
        <p:grpSpPr>
          <a:xfrm>
            <a:off x="1222773" y="3498155"/>
            <a:ext cx="6690917" cy="300082"/>
            <a:chOff x="1227533" y="3050866"/>
            <a:chExt cx="6690917" cy="30008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B6FBBFB-81D5-AFF7-0E5A-941F4849821C}"/>
                </a:ext>
              </a:extLst>
            </p:cNvPr>
            <p:cNvSpPr txBox="1"/>
            <p:nvPr/>
          </p:nvSpPr>
          <p:spPr>
            <a:xfrm>
              <a:off x="1509333" y="3050866"/>
              <a:ext cx="6409117" cy="30008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GB" sz="1350">
                  <a:solidFill>
                    <a:srgbClr val="44546A"/>
                  </a:solidFill>
                  <a:ea typeface="+mn-lt"/>
                  <a:cs typeface="+mn-lt"/>
                </a:rPr>
                <a:t>Context and background are essential for identifying discount rates in transcript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8FCD169-6755-F641-80CE-A3B9ABDCE7F8}"/>
                </a:ext>
              </a:extLst>
            </p:cNvPr>
            <p:cNvSpPr/>
            <p:nvPr/>
          </p:nvSpPr>
          <p:spPr>
            <a:xfrm>
              <a:off x="1227533" y="3098513"/>
              <a:ext cx="200025" cy="2047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4454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7ACB53-DA7D-56E1-D2CC-4A7B85B81F0F}"/>
              </a:ext>
            </a:extLst>
          </p:cNvPr>
          <p:cNvGrpSpPr/>
          <p:nvPr/>
        </p:nvGrpSpPr>
        <p:grpSpPr>
          <a:xfrm>
            <a:off x="1222773" y="4026411"/>
            <a:ext cx="5956049" cy="300082"/>
            <a:chOff x="1227533" y="3050866"/>
            <a:chExt cx="5956049" cy="30008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F02538-655A-0A39-7AF4-EC714AADBCC4}"/>
                </a:ext>
              </a:extLst>
            </p:cNvPr>
            <p:cNvSpPr txBox="1"/>
            <p:nvPr/>
          </p:nvSpPr>
          <p:spPr>
            <a:xfrm>
              <a:off x="1509333" y="3050866"/>
              <a:ext cx="5674249" cy="30008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GB" sz="1350">
                  <a:solidFill>
                    <a:srgbClr val="44546A"/>
                  </a:solidFill>
                  <a:ea typeface="+mn-lt"/>
                  <a:cs typeface="+mn-lt"/>
                </a:rPr>
                <a:t>Thomson One database does not allow for algorithmic searching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92AC92C-F3D8-4EAD-68C6-8FB2497C9165}"/>
                </a:ext>
              </a:extLst>
            </p:cNvPr>
            <p:cNvSpPr/>
            <p:nvPr/>
          </p:nvSpPr>
          <p:spPr>
            <a:xfrm>
              <a:off x="1227533" y="3098513"/>
              <a:ext cx="200025" cy="2047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4454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8826939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5FD993A-DEC7-EB5A-20BC-99E12EE8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D4BA20DE-C67A-8F59-1BC2-B05D8D89478C}"/>
              </a:ext>
            </a:extLst>
          </p:cNvPr>
          <p:cNvSpPr txBox="1"/>
          <p:nvPr/>
        </p:nvSpPr>
        <p:spPr>
          <a:xfrm>
            <a:off x="863600" y="1459737"/>
            <a:ext cx="7453314" cy="7696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de-DE" sz="1600">
                <a:ea typeface="+mn-lt"/>
                <a:cs typeface="Segoe UI"/>
              </a:rPr>
              <a:t>W</a:t>
            </a:r>
            <a:r>
              <a:rPr lang="en-GB" sz="1600">
                <a:ea typeface="+mn-lt"/>
                <a:cs typeface="Segoe UI"/>
              </a:rPr>
              <a:t>hy did the authors choose manual data entry over an automated algorithm for the 74,000 paragraphs?</a:t>
            </a:r>
            <a:endParaRPr lang="en-GB" sz="1600">
              <a:ea typeface="Calibri"/>
              <a:cs typeface="Segoe UI"/>
            </a:endParaRP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33BD9294-16B4-AA6E-967F-A6E492904EBB}"/>
              </a:ext>
            </a:extLst>
          </p:cNvPr>
          <p:cNvCxnSpPr>
            <a:cxnSpLocks/>
          </p:cNvCxnSpPr>
          <p:nvPr/>
        </p:nvCxnSpPr>
        <p:spPr>
          <a:xfrm>
            <a:off x="357692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807AA02B-64C1-76D3-87E0-ED3037DBCCB1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1" err="1">
                <a:solidFill>
                  <a:schemeClr val="tx2"/>
                </a:solidFill>
                <a:ea typeface="Calibri"/>
                <a:cs typeface="Calibri"/>
              </a:rPr>
              <a:t>Audience</a:t>
            </a:r>
            <a:r>
              <a:rPr lang="de-DE" sz="2000" b="1">
                <a:solidFill>
                  <a:schemeClr val="tx2"/>
                </a:solidFill>
                <a:ea typeface="Calibri"/>
                <a:cs typeface="Calibri"/>
              </a:rPr>
              <a:t> Check</a:t>
            </a:r>
            <a:endParaRPr lang="en-GB" sz="2000" b="1">
              <a:solidFill>
                <a:schemeClr val="tx2"/>
              </a:solidFill>
              <a:ea typeface="Calibri"/>
              <a:cs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7EF975E-678A-83EF-FB2B-4E76E9413071}"/>
              </a:ext>
            </a:extLst>
          </p:cNvPr>
          <p:cNvGrpSpPr/>
          <p:nvPr/>
        </p:nvGrpSpPr>
        <p:grpSpPr>
          <a:xfrm>
            <a:off x="1222773" y="2969899"/>
            <a:ext cx="5956049" cy="300082"/>
            <a:chOff x="1227533" y="3050866"/>
            <a:chExt cx="5956049" cy="30008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88CF398-5144-7F36-93BA-704388F34C1B}"/>
                </a:ext>
              </a:extLst>
            </p:cNvPr>
            <p:cNvSpPr txBox="1"/>
            <p:nvPr/>
          </p:nvSpPr>
          <p:spPr>
            <a:xfrm>
              <a:off x="1509333" y="3050866"/>
              <a:ext cx="5674249" cy="30008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GB" sz="1350">
                  <a:solidFill>
                    <a:schemeClr val="bg2">
                      <a:lumMod val="75000"/>
                    </a:schemeClr>
                  </a:solidFill>
                  <a:ea typeface="+mn-lt"/>
                  <a:cs typeface="+mn-lt"/>
                </a:rPr>
                <a:t>It was faster to complete within the 2.5 year timeframe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AF4AC69-5D2E-26A2-5EE5-167E66B739E8}"/>
                </a:ext>
              </a:extLst>
            </p:cNvPr>
            <p:cNvSpPr/>
            <p:nvPr/>
          </p:nvSpPr>
          <p:spPr>
            <a:xfrm>
              <a:off x="1227533" y="3098513"/>
              <a:ext cx="200025" cy="2047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6538462-E566-EE1F-D921-EB5DE6540D65}"/>
              </a:ext>
            </a:extLst>
          </p:cNvPr>
          <p:cNvGrpSpPr/>
          <p:nvPr/>
        </p:nvGrpSpPr>
        <p:grpSpPr>
          <a:xfrm>
            <a:off x="1222773" y="3498155"/>
            <a:ext cx="6690917" cy="300082"/>
            <a:chOff x="1227533" y="3050866"/>
            <a:chExt cx="6690917" cy="30008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405B400-2CAF-E548-665C-12A9B8323252}"/>
                </a:ext>
              </a:extLst>
            </p:cNvPr>
            <p:cNvSpPr txBox="1"/>
            <p:nvPr/>
          </p:nvSpPr>
          <p:spPr>
            <a:xfrm>
              <a:off x="1509333" y="3050866"/>
              <a:ext cx="6409117" cy="30008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GB" sz="1350" b="1">
                  <a:solidFill>
                    <a:srgbClr val="44546A"/>
                  </a:solidFill>
                  <a:ea typeface="+mn-lt"/>
                  <a:cs typeface="+mn-lt"/>
                </a:rPr>
                <a:t>Context and background are essential for identifying discount rates in transcript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C1C904-BA48-FA90-C8DE-0E22C251A429}"/>
                </a:ext>
              </a:extLst>
            </p:cNvPr>
            <p:cNvSpPr/>
            <p:nvPr/>
          </p:nvSpPr>
          <p:spPr>
            <a:xfrm>
              <a:off x="1227533" y="3098513"/>
              <a:ext cx="200025" cy="2047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44546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2C3F3E9-D7DF-972B-4391-85C0791D2411}"/>
              </a:ext>
            </a:extLst>
          </p:cNvPr>
          <p:cNvGrpSpPr/>
          <p:nvPr/>
        </p:nvGrpSpPr>
        <p:grpSpPr>
          <a:xfrm>
            <a:off x="1222773" y="4026411"/>
            <a:ext cx="5956049" cy="300082"/>
            <a:chOff x="1227533" y="3050866"/>
            <a:chExt cx="5956049" cy="30008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81BF5AD-8034-5F45-F232-3A87B438D946}"/>
                </a:ext>
              </a:extLst>
            </p:cNvPr>
            <p:cNvSpPr txBox="1"/>
            <p:nvPr/>
          </p:nvSpPr>
          <p:spPr>
            <a:xfrm>
              <a:off x="1509333" y="3050866"/>
              <a:ext cx="5674249" cy="30008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GB" sz="1350">
                  <a:solidFill>
                    <a:schemeClr val="bg2">
                      <a:lumMod val="75000"/>
                    </a:schemeClr>
                  </a:solidFill>
                  <a:ea typeface="+mn-lt"/>
                  <a:cs typeface="+mn-lt"/>
                </a:rPr>
                <a:t>Thomson One database does not allow for algorithmic searching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FE0DB8-AB9C-64F1-520E-8AA7325CCFA3}"/>
                </a:ext>
              </a:extLst>
            </p:cNvPr>
            <p:cNvSpPr/>
            <p:nvPr/>
          </p:nvSpPr>
          <p:spPr>
            <a:xfrm>
              <a:off x="1227533" y="3098513"/>
              <a:ext cx="200025" cy="20478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3" name="Graphic 12" descr="Tick with solid fill">
            <a:extLst>
              <a:ext uri="{FF2B5EF4-FFF2-40B4-BE49-F238E27FC236}">
                <a16:creationId xmlns:a16="http://schemas.microsoft.com/office/drawing/2014/main" id="{70E91A3C-7C02-2AA1-964A-A3361EB67D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4676" y="3558406"/>
            <a:ext cx="179785" cy="17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094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B32417E-7B35-B3F4-63C4-81FCE5ED0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D8A5E787-8178-768A-70F4-4ADB1670CDA0}"/>
              </a:ext>
            </a:extLst>
          </p:cNvPr>
          <p:cNvSpPr txBox="1"/>
          <p:nvPr/>
        </p:nvSpPr>
        <p:spPr>
          <a:xfrm>
            <a:off x="797096" y="1447718"/>
            <a:ext cx="3687355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>
                <a:solidFill>
                  <a:srgbClr val="44546A"/>
                </a:solidFill>
                <a:ea typeface="+mn-lt"/>
                <a:cs typeface="+mn-lt"/>
              </a:rPr>
              <a:t>Source</a:t>
            </a:r>
          </a:p>
          <a:p>
            <a:r>
              <a:rPr lang="en-GB" sz="1350">
                <a:ea typeface="+mn-lt"/>
                <a:cs typeface="+mn-lt"/>
              </a:rPr>
              <a:t>Corporate conference call transcripts from the Thomson One database (2002-2021)</a:t>
            </a: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68B54451-6CDA-26FC-5321-0CA814E627FE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64525DD9-EF9B-B778-F225-26184910AA14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Data Acquisition from Corporate Conference Calls</a:t>
            </a:r>
          </a:p>
        </p:txBody>
      </p:sp>
      <p:pic>
        <p:nvPicPr>
          <p:cNvPr id="3" name="Picture 2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E526837C-42A7-80E1-4D31-4A7FA7516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817819"/>
            <a:ext cx="3744913" cy="21607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16AF92-388C-DA98-8831-AE28B15C9593}"/>
              </a:ext>
            </a:extLst>
          </p:cNvPr>
          <p:cNvSpPr txBox="1"/>
          <p:nvPr/>
        </p:nvSpPr>
        <p:spPr>
          <a:xfrm>
            <a:off x="797096" y="2261072"/>
            <a:ext cx="3394309" cy="9002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>
                <a:solidFill>
                  <a:srgbClr val="44546A"/>
                </a:solidFill>
                <a:ea typeface="+mn-lt"/>
                <a:cs typeface="+mn-lt"/>
              </a:rPr>
              <a:t>Manual Data entry</a:t>
            </a:r>
          </a:p>
          <a:p>
            <a:r>
              <a:rPr lang="en-GB" sz="1350">
                <a:ea typeface="+mn-lt"/>
                <a:cs typeface="+mn-lt"/>
              </a:rPr>
              <a:t>Read 74,000 distinct paragraphs over 2.5 years to ensure context and background were correctly interpreted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42A004-CFAD-436A-1639-39A6CE508183}"/>
              </a:ext>
            </a:extLst>
          </p:cNvPr>
          <p:cNvSpPr txBox="1"/>
          <p:nvPr/>
        </p:nvSpPr>
        <p:spPr>
          <a:xfrm>
            <a:off x="797096" y="3282175"/>
            <a:ext cx="3687355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>
                <a:solidFill>
                  <a:srgbClr val="44546A"/>
                </a:solidFill>
                <a:ea typeface="+mn-lt"/>
                <a:cs typeface="+mn-lt"/>
              </a:rPr>
              <a:t>Search Criteria</a:t>
            </a:r>
          </a:p>
          <a:p>
            <a:r>
              <a:rPr lang="en-GB" sz="1350">
                <a:ea typeface="+mn-lt"/>
                <a:cs typeface="+mn-lt"/>
              </a:rPr>
              <a:t>Identification using keywords combined with percentage terms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0011D-A4DD-F875-F366-8DD8020E4094}"/>
              </a:ext>
            </a:extLst>
          </p:cNvPr>
          <p:cNvSpPr txBox="1"/>
          <p:nvPr/>
        </p:nvSpPr>
        <p:spPr>
          <a:xfrm>
            <a:off x="797096" y="4095528"/>
            <a:ext cx="3687355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>
                <a:solidFill>
                  <a:srgbClr val="44546A"/>
                </a:solidFill>
                <a:ea typeface="+mn-lt"/>
                <a:cs typeface="+mn-lt"/>
              </a:rPr>
              <a:t>Sample Scope</a:t>
            </a:r>
          </a:p>
          <a:p>
            <a:r>
              <a:rPr lang="en-GB" sz="1350">
                <a:ea typeface="+mn-lt"/>
                <a:cs typeface="+mn-lt"/>
              </a:rPr>
              <a:t>2,500 large firms from 20 Countries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A4F864A-8559-4501-FF8A-ACA443E58ADE}"/>
              </a:ext>
            </a:extLst>
          </p:cNvPr>
          <p:cNvSpPr/>
          <p:nvPr/>
        </p:nvSpPr>
        <p:spPr>
          <a:xfrm>
            <a:off x="7688262" y="91085"/>
            <a:ext cx="1257300" cy="670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Check Keanu</a:t>
            </a:r>
          </a:p>
        </p:txBody>
      </p:sp>
    </p:spTree>
    <p:extLst>
      <p:ext uri="{BB962C8B-B14F-4D97-AF65-F5344CB8AC3E}">
        <p14:creationId xmlns:p14="http://schemas.microsoft.com/office/powerpoint/2010/main" val="22888500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4E1E5D2-BC2F-EE90-E37E-535B3FCD6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7CB3C042-09B0-10DC-F72D-A60135716B3D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036F3C3E-69EB-366C-3A6A-05407BFD2A39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Defining Key Variable and the “Wedge”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9403EC-6C1E-483D-DEFC-9ED267A72961}"/>
              </a:ext>
            </a:extLst>
          </p:cNvPr>
          <p:cNvSpPr txBox="1"/>
          <p:nvPr/>
        </p:nvSpPr>
        <p:spPr>
          <a:xfrm>
            <a:off x="790913" y="2012985"/>
            <a:ext cx="3687355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>
                <a:solidFill>
                  <a:srgbClr val="44546A"/>
                </a:solidFill>
                <a:ea typeface="+mn-lt"/>
                <a:cs typeface="+mn-lt"/>
              </a:rPr>
              <a:t>Discount Rate </a:t>
            </a:r>
            <a:r>
              <a:rPr lang="el-GR" sz="1350" b="1">
                <a:solidFill>
                  <a:srgbClr val="44546A"/>
                </a:solidFill>
                <a:ea typeface="+mn-lt"/>
                <a:cs typeface="+mn-lt"/>
              </a:rPr>
              <a:t>σ</a:t>
            </a:r>
            <a:endParaRPr lang="en-GB" sz="1350" b="1">
              <a:solidFill>
                <a:srgbClr val="44546A"/>
              </a:solidFill>
              <a:ea typeface="+mn-lt"/>
              <a:cs typeface="+mn-lt"/>
            </a:endParaRPr>
          </a:p>
          <a:p>
            <a:r>
              <a:rPr lang="en-GB" sz="1350">
                <a:ea typeface="+mn-lt"/>
                <a:cs typeface="+mn-lt"/>
              </a:rPr>
              <a:t>Minimum required IRR for new projects , “hurdle rate”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E9C6AB-4AC0-E3FF-CE88-775025C4F5AE}"/>
                  </a:ext>
                </a:extLst>
              </p:cNvPr>
              <p:cNvSpPr txBox="1"/>
              <p:nvPr/>
            </p:nvSpPr>
            <p:spPr>
              <a:xfrm>
                <a:off x="790913" y="2790592"/>
                <a:ext cx="3687355" cy="48474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GB" sz="1350" b="1">
                    <a:solidFill>
                      <a:srgbClr val="44546A"/>
                    </a:solidFill>
                    <a:ea typeface="+mn-lt"/>
                    <a:cs typeface="+mn-lt"/>
                  </a:rPr>
                  <a:t>Perceived Cost of Capital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350" b="1" i="1" smtClean="0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pPr>
                      <m:e>
                        <m:r>
                          <a:rPr lang="de-DE" sz="1350" b="1" i="1" smtClean="0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𝒓</m:t>
                        </m:r>
                      </m:e>
                      <m:sup>
                        <m:r>
                          <a:rPr lang="de-DE" sz="1350" b="1" i="1" smtClean="0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𝒑𝒆𝒓</m:t>
                        </m:r>
                      </m:sup>
                    </m:sSup>
                  </m:oMath>
                </a14:m>
                <a:endParaRPr lang="en-GB" sz="1350" b="1">
                  <a:solidFill>
                    <a:srgbClr val="44546A"/>
                  </a:solidFill>
                  <a:ea typeface="+mn-lt"/>
                  <a:cs typeface="+mn-lt"/>
                </a:endParaRPr>
              </a:p>
              <a:p>
                <a:r>
                  <a:rPr lang="en-GB" sz="1350">
                    <a:ea typeface="+mn-lt"/>
                    <a:cs typeface="+mn-lt"/>
                  </a:rPr>
                  <a:t>Firms internal estimate of own WACC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E9C6AB-4AC0-E3FF-CE88-775025C4F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13" y="2790592"/>
                <a:ext cx="3687355" cy="484748"/>
              </a:xfrm>
              <a:prstGeom prst="rect">
                <a:avLst/>
              </a:prstGeom>
              <a:blipFill>
                <a:blip r:embed="rId4"/>
                <a:stretch>
                  <a:fillRect l="-1157" t="-5063" b="-15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0E7624-19EE-3514-B22E-2710975402FC}"/>
                  </a:ext>
                </a:extLst>
              </p:cNvPr>
              <p:cNvSpPr txBox="1"/>
              <p:nvPr/>
            </p:nvSpPr>
            <p:spPr>
              <a:xfrm>
                <a:off x="790913" y="3360450"/>
                <a:ext cx="3687355" cy="70064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de-DE" sz="1350" b="1">
                    <a:solidFill>
                      <a:srgbClr val="44546A"/>
                    </a:solidFill>
                    <a:ea typeface="+mn-lt"/>
                    <a:cs typeface="+mn-lt"/>
                  </a:rPr>
                  <a:t>Financial </a:t>
                </a:r>
                <a:r>
                  <a:rPr lang="de-DE" sz="1350" b="1" err="1">
                    <a:solidFill>
                      <a:srgbClr val="44546A"/>
                    </a:solidFill>
                    <a:ea typeface="+mn-lt"/>
                    <a:cs typeface="+mn-lt"/>
                  </a:rPr>
                  <a:t>Cost</a:t>
                </a:r>
                <a:r>
                  <a:rPr lang="de-DE" sz="1350" b="1">
                    <a:solidFill>
                      <a:srgbClr val="44546A"/>
                    </a:solidFill>
                    <a:ea typeface="+mn-lt"/>
                    <a:cs typeface="+mn-lt"/>
                  </a:rPr>
                  <a:t> </a:t>
                </a:r>
                <a:r>
                  <a:rPr lang="de-DE" sz="1350" b="1" err="1">
                    <a:solidFill>
                      <a:srgbClr val="44546A"/>
                    </a:solidFill>
                    <a:ea typeface="+mn-lt"/>
                    <a:cs typeface="+mn-lt"/>
                  </a:rPr>
                  <a:t>of</a:t>
                </a:r>
                <a:r>
                  <a:rPr lang="de-DE" sz="1350" b="1">
                    <a:solidFill>
                      <a:srgbClr val="44546A"/>
                    </a:solidFill>
                    <a:ea typeface="+mn-lt"/>
                    <a:cs typeface="+mn-lt"/>
                  </a:rPr>
                  <a:t> Capital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1350" b="1" i="1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</m:ctrlPr>
                      </m:sSupPr>
                      <m:e>
                        <m:r>
                          <a:rPr lang="de-DE" sz="1350" b="1" i="1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𝒓</m:t>
                        </m:r>
                      </m:e>
                      <m:sup>
                        <m:r>
                          <a:rPr lang="de-DE" sz="1350" b="1" i="1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𝒇𝒊𝒏</m:t>
                        </m:r>
                      </m:sup>
                    </m:sSup>
                  </m:oMath>
                </a14:m>
                <a:endParaRPr lang="en-GB" sz="1350" b="1">
                  <a:solidFill>
                    <a:srgbClr val="44546A"/>
                  </a:solidFill>
                  <a:ea typeface="+mn-lt"/>
                  <a:cs typeface="+mn-lt"/>
                </a:endParaRPr>
              </a:p>
              <a:p>
                <a:r>
                  <a:rPr lang="en-GB" sz="1350">
                    <a:ea typeface="+mn-lt"/>
                    <a:cs typeface="+mn-lt"/>
                  </a:rPr>
                  <a:t>Stylized market measures calculated using CAPM and government bond yields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0E7624-19EE-3514-B22E-271097540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13" y="3360450"/>
                <a:ext cx="3687355" cy="700641"/>
              </a:xfrm>
              <a:prstGeom prst="rect">
                <a:avLst/>
              </a:prstGeom>
              <a:blipFill>
                <a:blip r:embed="rId5"/>
                <a:stretch>
                  <a:fillRect l="-1157" t="-870" b="-9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73259CF8-9D2D-A55D-77CF-CABDEE241ED9}"/>
              </a:ext>
            </a:extLst>
          </p:cNvPr>
          <p:cNvGrpSpPr/>
          <p:nvPr/>
        </p:nvGrpSpPr>
        <p:grpSpPr>
          <a:xfrm>
            <a:off x="4568013" y="1914645"/>
            <a:ext cx="3748900" cy="768463"/>
            <a:chOff x="4568013" y="1465744"/>
            <a:chExt cx="3748900" cy="7684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713D59D-500D-EBCA-ADA2-9787415F8ADE}"/>
                </a:ext>
              </a:extLst>
            </p:cNvPr>
            <p:cNvSpPr/>
            <p:nvPr/>
          </p:nvSpPr>
          <p:spPr>
            <a:xfrm>
              <a:off x="4572000" y="1465744"/>
              <a:ext cx="3744913" cy="768463"/>
            </a:xfrm>
            <a:prstGeom prst="rect">
              <a:avLst/>
            </a:prstGeom>
            <a:noFill/>
            <a:ln>
              <a:solidFill>
                <a:srgbClr val="323F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EA9740D-1330-D3F5-72B1-F119B0B0F167}"/>
                    </a:ext>
                  </a:extLst>
                </p:cNvPr>
                <p:cNvSpPr txBox="1"/>
                <p:nvPr/>
              </p:nvSpPr>
              <p:spPr>
                <a:xfrm>
                  <a:off x="4568013" y="1469260"/>
                  <a:ext cx="1373852" cy="302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350" b="1">
                      <a:solidFill>
                        <a:srgbClr val="44546A"/>
                      </a:solidFill>
                      <a:ea typeface="+mn-lt"/>
                      <a:cs typeface="+mn-lt"/>
                    </a:rPr>
                    <a:t>The Wedge </a:t>
                  </a:r>
                  <a14:m>
                    <m:oMath xmlns:m="http://schemas.openxmlformats.org/officeDocument/2006/math">
                      <m:r>
                        <a:rPr lang="el-GR" sz="1400" b="1" i="0" dirty="0">
                          <a:solidFill>
                            <a:srgbClr val="44546A"/>
                          </a:solidFill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𝛋</m:t>
                      </m:r>
                    </m:oMath>
                  </a14:m>
                  <a:r>
                    <a:rPr lang="de-DE" sz="1350" b="1">
                      <a:solidFill>
                        <a:srgbClr val="44546A"/>
                      </a:solidFill>
                      <a:ea typeface="+mn-lt"/>
                      <a:cs typeface="+mn-lt"/>
                    </a:rPr>
                    <a:t> </a:t>
                  </a:r>
                  <a:endParaRPr lang="en-GB" sz="1350" b="1">
                    <a:solidFill>
                      <a:srgbClr val="44546A"/>
                    </a:solidFill>
                    <a:ea typeface="+mn-lt"/>
                    <a:cs typeface="+mn-lt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EA9740D-1330-D3F5-72B1-F119B0B0F1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8013" y="1469260"/>
                  <a:ext cx="1373852" cy="302840"/>
                </a:xfrm>
                <a:prstGeom prst="rect">
                  <a:avLst/>
                </a:prstGeom>
                <a:blipFill>
                  <a:blip r:embed="rId6"/>
                  <a:stretch>
                    <a:fillRect l="-885" t="-2041" b="-224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404982B-3DBD-8798-5669-9FFB0305E84B}"/>
                    </a:ext>
                  </a:extLst>
                </p:cNvPr>
                <p:cNvSpPr txBox="1"/>
                <p:nvPr/>
              </p:nvSpPr>
              <p:spPr>
                <a:xfrm>
                  <a:off x="4682968" y="1738720"/>
                  <a:ext cx="35229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b="1" i="0" dirty="0" smtClean="0">
                            <a:solidFill>
                              <a:srgbClr val="44546A"/>
                            </a:solidFill>
                            <a:latin typeface="Cambria Math" panose="02040503050406030204" pitchFamily="18" charset="0"/>
                            <a:ea typeface="+mn-lt"/>
                            <a:cs typeface="+mn-lt"/>
                          </a:rPr>
                          <m:t>𝛋</m:t>
                        </m:r>
                        <m:r>
                          <m:rPr>
                            <m:nor/>
                          </m:rPr>
                          <a:rPr lang="de-DE" b="1" i="1" dirty="0" smtClean="0">
                            <a:solidFill>
                              <a:srgbClr val="44546A"/>
                            </a:solidFill>
                            <a:ea typeface="+mn-lt"/>
                            <a:cs typeface="+mn-lt"/>
                          </a:rPr>
                          <m:t> =</m:t>
                        </m:r>
                        <m:r>
                          <m:rPr>
                            <m:nor/>
                          </m:rPr>
                          <a:rPr lang="de-DE" b="1" i="0" dirty="0" smtClean="0">
                            <a:solidFill>
                              <a:srgbClr val="44546A"/>
                            </a:solidFill>
                            <a:ea typeface="+mn-lt"/>
                            <a:cs typeface="+mn-lt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l-GR" b="1" dirty="0" smtClean="0">
                            <a:solidFill>
                              <a:srgbClr val="44546A"/>
                            </a:solidFill>
                            <a:ea typeface="+mn-lt"/>
                            <a:cs typeface="+mn-lt"/>
                          </a:rPr>
                          <m:t>σ</m:t>
                        </m:r>
                        <m:r>
                          <m:rPr>
                            <m:nor/>
                          </m:rPr>
                          <a:rPr lang="de-DE" b="1" i="0" dirty="0" smtClean="0">
                            <a:solidFill>
                              <a:srgbClr val="44546A"/>
                            </a:solidFill>
                            <a:ea typeface="+mn-lt"/>
                            <a:cs typeface="+mn-lt"/>
                          </a:rPr>
                          <m:t> −</m:t>
                        </m:r>
                        <m:sSup>
                          <m:sSupPr>
                            <m:ctrlPr>
                              <a:rPr lang="de-DE" b="1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</m:ctrlPr>
                          </m:sSupPr>
                          <m:e>
                            <m:r>
                              <a:rPr lang="de-DE" b="1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 </m:t>
                            </m:r>
                            <m:r>
                              <a:rPr lang="de-DE" b="1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𝒓</m:t>
                            </m:r>
                          </m:e>
                          <m:sup>
                            <m:r>
                              <a:rPr lang="de-DE" b="1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  <a:ea typeface="+mn-lt"/>
                                <a:cs typeface="+mn-lt"/>
                              </a:rPr>
                              <m:t>𝒑𝒆𝒓</m:t>
                            </m:r>
                          </m:sup>
                        </m:sSup>
                      </m:oMath>
                    </m:oMathPara>
                  </a14:m>
                  <a:endParaRPr lang="en-GB" b="1">
                    <a:solidFill>
                      <a:srgbClr val="44546A"/>
                    </a:solidFill>
                    <a:ea typeface="+mn-lt"/>
                    <a:cs typeface="+mn-lt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8404982B-3DBD-8798-5669-9FFB0305E8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2968" y="1738720"/>
                  <a:ext cx="352297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1B9BD2AD-DE0A-C60B-ED89-12157ECFD6D2}"/>
              </a:ext>
            </a:extLst>
          </p:cNvPr>
          <p:cNvGrpSpPr/>
          <p:nvPr/>
        </p:nvGrpSpPr>
        <p:grpSpPr>
          <a:xfrm>
            <a:off x="4557237" y="2762949"/>
            <a:ext cx="3759675" cy="1489340"/>
            <a:chOff x="4557237" y="2571750"/>
            <a:chExt cx="3759675" cy="148934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B5789F8-E42C-5DD7-AC9E-2252E698E655}"/>
                </a:ext>
              </a:extLst>
            </p:cNvPr>
            <p:cNvSpPr/>
            <p:nvPr/>
          </p:nvSpPr>
          <p:spPr>
            <a:xfrm>
              <a:off x="4571999" y="2571750"/>
              <a:ext cx="3744913" cy="14893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86E9EB-DCDE-8C26-4DC5-D4D487B80847}"/>
                </a:ext>
              </a:extLst>
            </p:cNvPr>
            <p:cNvSpPr txBox="1"/>
            <p:nvPr/>
          </p:nvSpPr>
          <p:spPr>
            <a:xfrm>
              <a:off x="4557237" y="2589093"/>
              <a:ext cx="1519245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350" b="1" err="1">
                  <a:solidFill>
                    <a:srgbClr val="44546A"/>
                  </a:solidFill>
                  <a:ea typeface="+mn-lt"/>
                  <a:cs typeface="+mn-lt"/>
                </a:rPr>
                <a:t>Practial</a:t>
              </a:r>
              <a:r>
                <a:rPr lang="de-DE" sz="1350" b="1">
                  <a:solidFill>
                    <a:srgbClr val="44546A"/>
                  </a:solidFill>
                  <a:ea typeface="+mn-lt"/>
                  <a:cs typeface="+mn-lt"/>
                </a:rPr>
                <a:t> </a:t>
              </a:r>
              <a:r>
                <a:rPr lang="de-DE" sz="1350" b="1" err="1">
                  <a:solidFill>
                    <a:srgbClr val="44546A"/>
                  </a:solidFill>
                  <a:ea typeface="+mn-lt"/>
                  <a:cs typeface="+mn-lt"/>
                </a:rPr>
                <a:t>Example</a:t>
              </a:r>
              <a:r>
                <a:rPr lang="de-DE" sz="1350" b="1">
                  <a:solidFill>
                    <a:srgbClr val="44546A"/>
                  </a:solidFill>
                  <a:ea typeface="+mn-lt"/>
                  <a:cs typeface="+mn-lt"/>
                </a:rPr>
                <a:t>:</a:t>
              </a:r>
              <a:endParaRPr lang="en-GB" sz="1350" b="1">
                <a:solidFill>
                  <a:srgbClr val="44546A"/>
                </a:solidFill>
                <a:ea typeface="+mn-lt"/>
                <a:cs typeface="+mn-lt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041B2C-1518-83BA-B401-7CEAFDEF1982}"/>
                </a:ext>
              </a:extLst>
            </p:cNvPr>
            <p:cNvSpPr txBox="1"/>
            <p:nvPr/>
          </p:nvSpPr>
          <p:spPr>
            <a:xfrm>
              <a:off x="4575772" y="2886270"/>
              <a:ext cx="3704628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350"/>
                <a:t>Nasdaq 100 firm </a:t>
              </a:r>
              <a:r>
                <a:rPr lang="de-DE" sz="1350" b="1" err="1"/>
                <a:t>Intuit</a:t>
              </a:r>
              <a:r>
                <a:rPr lang="de-DE" sz="1350"/>
                <a:t> (2014) </a:t>
              </a:r>
              <a:r>
                <a:rPr lang="de-DE" sz="1350" err="1"/>
                <a:t>reported</a:t>
              </a:r>
              <a:r>
                <a:rPr lang="de-DE" sz="1350"/>
                <a:t> </a:t>
              </a:r>
              <a:r>
                <a:rPr lang="de-DE" sz="1350" b="1"/>
                <a:t>WACC </a:t>
              </a:r>
              <a:r>
                <a:rPr lang="de-DE" sz="1350" b="1" err="1"/>
                <a:t>of</a:t>
              </a:r>
              <a:r>
                <a:rPr lang="de-DE" sz="1350" b="1"/>
                <a:t> 9.25 %</a:t>
              </a:r>
              <a:r>
                <a:rPr lang="de-DE" sz="1350"/>
                <a:t> but </a:t>
              </a:r>
              <a:r>
                <a:rPr lang="de-DE" sz="1350" err="1"/>
                <a:t>used</a:t>
              </a:r>
              <a:r>
                <a:rPr lang="de-DE" sz="1350"/>
                <a:t> and </a:t>
              </a:r>
              <a:r>
                <a:rPr lang="de-DE" sz="1350" b="1"/>
                <a:t>IRR </a:t>
              </a:r>
              <a:r>
                <a:rPr lang="de-DE" sz="1350"/>
                <a:t> </a:t>
              </a:r>
              <a:r>
                <a:rPr lang="de-DE" sz="1350" err="1"/>
                <a:t>hurdle</a:t>
              </a:r>
              <a:r>
                <a:rPr lang="de-DE" sz="1350"/>
                <a:t> </a:t>
              </a:r>
              <a:r>
                <a:rPr lang="de-DE" sz="1350" err="1"/>
                <a:t>of</a:t>
              </a:r>
              <a:r>
                <a:rPr lang="de-DE" sz="1350"/>
                <a:t> </a:t>
              </a:r>
              <a:r>
                <a:rPr lang="de-DE" sz="1350" b="1"/>
                <a:t>15%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9132B86-C65A-AEBF-1596-7A6F709E74F3}"/>
                </a:ext>
              </a:extLst>
            </p:cNvPr>
            <p:cNvGrpSpPr/>
            <p:nvPr/>
          </p:nvGrpSpPr>
          <p:grpSpPr>
            <a:xfrm>
              <a:off x="5838306" y="3675594"/>
              <a:ext cx="1468454" cy="300082"/>
              <a:chOff x="3089532" y="4218019"/>
              <a:chExt cx="1468454" cy="300082"/>
            </a:xfrm>
          </p:grpSpPr>
          <p:sp>
            <p:nvSpPr>
              <p:cNvPr id="16" name="Arrow: Right 15">
                <a:extLst>
                  <a:ext uri="{FF2B5EF4-FFF2-40B4-BE49-F238E27FC236}">
                    <a16:creationId xmlns:a16="http://schemas.microsoft.com/office/drawing/2014/main" id="{9EE65706-ECD6-0E95-06FF-4E4894DCCC6C}"/>
                  </a:ext>
                </a:extLst>
              </p:cNvPr>
              <p:cNvSpPr/>
              <p:nvPr/>
            </p:nvSpPr>
            <p:spPr>
              <a:xfrm>
                <a:off x="3089532" y="4314541"/>
                <a:ext cx="355850" cy="107039"/>
              </a:xfrm>
              <a:prstGeom prst="rightArrow">
                <a:avLst/>
              </a:prstGeom>
              <a:solidFill>
                <a:srgbClr val="323F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E1F9D5-1D17-B50A-03A0-B1B222AE1F55}"/>
                  </a:ext>
                </a:extLst>
              </p:cNvPr>
              <p:cNvSpPr txBox="1"/>
              <p:nvPr/>
            </p:nvSpPr>
            <p:spPr>
              <a:xfrm>
                <a:off x="3467913" y="4218019"/>
                <a:ext cx="1090073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350">
                    <a:solidFill>
                      <a:srgbClr val="323F50"/>
                    </a:solidFill>
                  </a:rPr>
                  <a:t>Clear </a:t>
                </a:r>
                <a:r>
                  <a:rPr lang="de-DE" sz="1350" b="1">
                    <a:solidFill>
                      <a:srgbClr val="323F50"/>
                    </a:solidFill>
                  </a:rPr>
                  <a:t>Wedge</a:t>
                </a:r>
                <a:endParaRPr lang="en-GB" sz="1350" b="1">
                  <a:solidFill>
                    <a:srgbClr val="323F50"/>
                  </a:solidFill>
                </a:endParaRPr>
              </a:p>
            </p:txBody>
          </p:sp>
        </p:grpSp>
      </p:grpSp>
      <p:sp>
        <p:nvSpPr>
          <p:cNvPr id="20" name="Rechteck 19">
            <a:extLst>
              <a:ext uri="{FF2B5EF4-FFF2-40B4-BE49-F238E27FC236}">
                <a16:creationId xmlns:a16="http://schemas.microsoft.com/office/drawing/2014/main" id="{24D35344-0BD5-AC4B-6CBD-FAD3A933276D}"/>
              </a:ext>
            </a:extLst>
          </p:cNvPr>
          <p:cNvSpPr/>
          <p:nvPr/>
        </p:nvSpPr>
        <p:spPr>
          <a:xfrm>
            <a:off x="7688262" y="91085"/>
            <a:ext cx="1257300" cy="670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Check Keanu</a:t>
            </a:r>
          </a:p>
        </p:txBody>
      </p:sp>
    </p:spTree>
    <p:extLst>
      <p:ext uri="{BB962C8B-B14F-4D97-AF65-F5344CB8AC3E}">
        <p14:creationId xmlns:p14="http://schemas.microsoft.com/office/powerpoint/2010/main" val="7944168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97A5CF-4075-15F3-442D-EDAA049F3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DE235B05-F8D8-A8BA-7169-2C174CD3F4BF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E782FE52-2B0D-C37C-25BF-A4949CCF82A9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b="1">
                <a:solidFill>
                  <a:schemeClr val="tx2"/>
                </a:solidFill>
                <a:ea typeface="Calibri"/>
                <a:cs typeface="Calibri"/>
              </a:rPr>
              <a:t>E</a:t>
            </a:r>
            <a:r>
              <a:rPr lang="en-GB" sz="2000" b="1" err="1">
                <a:solidFill>
                  <a:schemeClr val="tx2"/>
                </a:solidFill>
                <a:ea typeface="Calibri"/>
                <a:cs typeface="Calibri"/>
              </a:rPr>
              <a:t>mpirical</a:t>
            </a:r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 Methodology and Identification</a:t>
            </a: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ABEF003B-2ACB-3537-1635-F1AFA0819733}"/>
              </a:ext>
            </a:extLst>
          </p:cNvPr>
          <p:cNvSpPr txBox="1"/>
          <p:nvPr/>
        </p:nvSpPr>
        <p:spPr>
          <a:xfrm>
            <a:off x="788783" y="1447718"/>
            <a:ext cx="7528130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>
                <a:solidFill>
                  <a:srgbClr val="44546A"/>
                </a:solidFill>
                <a:ea typeface="+mn-lt"/>
                <a:cs typeface="+mn-lt"/>
              </a:rPr>
              <a:t>Firm Panel</a:t>
            </a:r>
          </a:p>
          <a:p>
            <a:r>
              <a:rPr lang="en-GB" sz="1350">
                <a:ea typeface="+mn-lt"/>
                <a:cs typeface="+mn-lt"/>
              </a:rPr>
              <a:t>Study focuses on within-firm variation, controlling for firm fixed effects to see how a specific firm changes its rates over 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6D3644-E325-EDDF-A5A9-B66F1ABC8C85}"/>
              </a:ext>
            </a:extLst>
          </p:cNvPr>
          <p:cNvSpPr txBox="1"/>
          <p:nvPr/>
        </p:nvSpPr>
        <p:spPr>
          <a:xfrm>
            <a:off x="788782" y="2330321"/>
            <a:ext cx="7528129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>
                <a:solidFill>
                  <a:srgbClr val="44546A"/>
                </a:solidFill>
                <a:ea typeface="+mn-lt"/>
                <a:cs typeface="+mn-lt"/>
              </a:rPr>
              <a:t>Measurement Error</a:t>
            </a:r>
          </a:p>
          <a:p>
            <a:r>
              <a:rPr lang="en-GB" sz="1350">
                <a:ea typeface="+mn-lt"/>
                <a:cs typeface="+mn-lt"/>
              </a:rPr>
              <a:t>Predicted Perceived Cost of Capital constructed via a Lasso procedure is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46A707-CAF0-1538-724A-D4AC6C708C3A}"/>
              </a:ext>
            </a:extLst>
          </p:cNvPr>
          <p:cNvSpPr txBox="1"/>
          <p:nvPr/>
        </p:nvSpPr>
        <p:spPr>
          <a:xfrm>
            <a:off x="788783" y="3005175"/>
            <a:ext cx="7528130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>
                <a:solidFill>
                  <a:srgbClr val="44546A"/>
                </a:solidFill>
                <a:ea typeface="+mn-lt"/>
                <a:cs typeface="+mn-lt"/>
              </a:rPr>
              <a:t>Transmission Horizons</a:t>
            </a:r>
          </a:p>
          <a:p>
            <a:r>
              <a:rPr lang="en-GB" sz="1350">
                <a:ea typeface="+mn-lt"/>
                <a:cs typeface="+mn-lt"/>
              </a:rPr>
              <a:t>Transmission of market shocks to internal rates over different time horizons, ranging from 1 year to over 12 years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FEAECB-021E-A8AA-54AA-78456B38AF00}"/>
              </a:ext>
            </a:extLst>
          </p:cNvPr>
          <p:cNvSpPr txBox="1"/>
          <p:nvPr/>
        </p:nvSpPr>
        <p:spPr>
          <a:xfrm>
            <a:off x="788783" y="3887779"/>
            <a:ext cx="7528130" cy="6924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350" b="1">
                <a:solidFill>
                  <a:srgbClr val="44546A"/>
                </a:solidFill>
                <a:ea typeface="+mn-lt"/>
                <a:cs typeface="+mn-lt"/>
              </a:rPr>
              <a:t>Quality Control</a:t>
            </a:r>
          </a:p>
          <a:p>
            <a:r>
              <a:rPr lang="en-GB" sz="1350">
                <a:ea typeface="+mn-lt"/>
                <a:cs typeface="+mn-lt"/>
              </a:rPr>
              <a:t>Relevant paragraphs were read by at least two assistants and outliers were checked by hand by the authors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A8382B5-31E4-EFCE-D1F9-BE3592A8D118}"/>
              </a:ext>
            </a:extLst>
          </p:cNvPr>
          <p:cNvSpPr/>
          <p:nvPr/>
        </p:nvSpPr>
        <p:spPr>
          <a:xfrm>
            <a:off x="7688262" y="91085"/>
            <a:ext cx="1257300" cy="670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/>
              <a:t>Check Keanu</a:t>
            </a:r>
          </a:p>
        </p:txBody>
      </p:sp>
    </p:spTree>
    <p:extLst>
      <p:ext uri="{BB962C8B-B14F-4D97-AF65-F5344CB8AC3E}">
        <p14:creationId xmlns:p14="http://schemas.microsoft.com/office/powerpoint/2010/main" val="34085316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480EEE-2E2D-EBB2-EF8E-79175D806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C07E72D9-873C-E0F7-8063-EAA17B3062B6}"/>
              </a:ext>
            </a:extLst>
          </p:cNvPr>
          <p:cNvSpPr txBox="1"/>
          <p:nvPr/>
        </p:nvSpPr>
        <p:spPr>
          <a:xfrm>
            <a:off x="781050" y="1219329"/>
            <a:ext cx="8033039" cy="16730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+mn-lt"/>
                <a:cs typeface="Segoe UI"/>
              </a:rPr>
              <a:t>Financing conditions for firms improved over past decades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+mn-lt"/>
                <a:cs typeface="Segoe UI"/>
              </a:rPr>
              <a:t>Interest rates declined and asset prices increased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+mn-lt"/>
                <a:cs typeface="Segoe UI"/>
              </a:rPr>
              <a:t>Standard economic theory predicts a strong investment response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+mn-lt"/>
                <a:cs typeface="Segoe UI"/>
              </a:rPr>
              <a:t>Corporate investment remained weak</a:t>
            </a:r>
            <a:endParaRPr lang="en-GB" sz="1350">
              <a:ea typeface="Calibri"/>
              <a:cs typeface="Segoe UI"/>
            </a:endParaRP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A89043D9-9AE1-3113-DC53-89F879888911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50139549-E5DB-52FE-522D-AF4EEABD55A1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Cheaper capital has not led to more investment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C8C9A15E-0FC4-6237-C53D-0FF2FB921C91}"/>
              </a:ext>
            </a:extLst>
          </p:cNvPr>
          <p:cNvSpPr txBox="1"/>
          <p:nvPr/>
        </p:nvSpPr>
        <p:spPr>
          <a:xfrm>
            <a:off x="863600" y="3462272"/>
            <a:ext cx="7805604" cy="728276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i="1">
                <a:solidFill>
                  <a:schemeClr val="tx2"/>
                </a:solidFill>
              </a:rPr>
              <a:t>Key Takeaway:</a:t>
            </a:r>
            <a:endParaRPr lang="en-GB" sz="1600">
              <a:solidFill>
                <a:schemeClr val="tx2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1400"/>
              <a:t>Cheaper capital alone cannot explain firms’ investment </a:t>
            </a:r>
            <a:r>
              <a:rPr lang="en-GB" sz="1400" err="1"/>
              <a:t>behavior</a:t>
            </a:r>
            <a:endParaRPr lang="en-GB" sz="135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75629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909CA39-914C-6EE1-5118-F54AABE32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69FC84F1-A032-2A4F-B24F-3C0C7C9F3321}"/>
              </a:ext>
            </a:extLst>
          </p:cNvPr>
          <p:cNvSpPr txBox="1"/>
          <p:nvPr/>
        </p:nvSpPr>
        <p:spPr>
          <a:xfrm>
            <a:off x="781050" y="1219329"/>
            <a:ext cx="8033039" cy="16730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Calibri"/>
                <a:cs typeface="Segoe UI"/>
              </a:rPr>
              <a:t>Firms aim to maximize firm value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Calibri"/>
                <a:cs typeface="Segoe UI"/>
              </a:rPr>
              <a:t>Investment decisions compare expected returns to the cost of capital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Calibri"/>
                <a:cs typeface="Segoe UI"/>
              </a:rPr>
              <a:t>Lower cost of capital lowers the required return on projects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Calibri"/>
                <a:cs typeface="Segoe UI"/>
              </a:rPr>
              <a:t>More projects become profitable, so investment should increase</a:t>
            </a: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32FF2C50-FF3B-72A7-6695-24E97686BC13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43A58037-DBD6-7D35-FF46-98BBD30C3B64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How investment should respond to cheaper capital</a:t>
            </a:r>
          </a:p>
        </p:txBody>
      </p:sp>
    </p:spTree>
    <p:extLst>
      <p:ext uri="{BB962C8B-B14F-4D97-AF65-F5344CB8AC3E}">
        <p14:creationId xmlns:p14="http://schemas.microsoft.com/office/powerpoint/2010/main" val="25505199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F9185E8-B771-BA18-0F61-6ED0BF351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8DB81FE9-7AA5-B2FC-1F66-9B4516B69954}"/>
              </a:ext>
            </a:extLst>
          </p:cNvPr>
          <p:cNvSpPr txBox="1"/>
          <p:nvPr/>
        </p:nvSpPr>
        <p:spPr>
          <a:xfrm>
            <a:off x="781050" y="1219329"/>
            <a:ext cx="8033039" cy="16730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+mn-lt"/>
                <a:cs typeface="Segoe UI"/>
              </a:rPr>
              <a:t>The benchmark assumes firms adjust discount rates with financing conditions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+mn-lt"/>
                <a:cs typeface="Segoe UI"/>
              </a:rPr>
              <a:t>In practice, changing internal hurdle rates may be costly or infrequent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+mn-lt"/>
                <a:cs typeface="Segoe UI"/>
              </a:rPr>
              <a:t>Whether firms follow this rule is ultimately an empirical question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GB" sz="1350">
                <a:ea typeface="+mn-lt"/>
                <a:cs typeface="Segoe UI"/>
              </a:rPr>
              <a:t>Answering it requires observing firms’ internal discount rates</a:t>
            </a:r>
            <a:endParaRPr lang="en-GB" sz="1350">
              <a:ea typeface="Calibri"/>
              <a:cs typeface="Segoe UI"/>
            </a:endParaRP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F818484A-AF45-1853-131E-999BB7A44117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30D127AF-49F6-6BCF-C2A7-9E93EA3E8CA4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Do firms actually follow this rule?</a:t>
            </a:r>
          </a:p>
        </p:txBody>
      </p:sp>
    </p:spTree>
    <p:extLst>
      <p:ext uri="{BB962C8B-B14F-4D97-AF65-F5344CB8AC3E}">
        <p14:creationId xmlns:p14="http://schemas.microsoft.com/office/powerpoint/2010/main" val="42706992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05C394F-61E0-B58D-3737-5F64E0F90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9D9C2C27-DB3C-DD13-8426-C4D584B5FC63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CDFCF396-54C3-4620-48BB-9F6E8E05702D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Connections to Important Debates</a:t>
            </a: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868D9B32-0152-5576-95D2-4749EB632A57}"/>
              </a:ext>
            </a:extLst>
          </p:cNvPr>
          <p:cNvGrpSpPr/>
          <p:nvPr/>
        </p:nvGrpSpPr>
        <p:grpSpPr>
          <a:xfrm>
            <a:off x="862139" y="1471699"/>
            <a:ext cx="3575420" cy="1452881"/>
            <a:chOff x="862139" y="1471699"/>
            <a:chExt cx="3575420" cy="1526230"/>
          </a:xfrm>
        </p:grpSpPr>
        <p:sp>
          <p:nvSpPr>
            <p:cNvPr id="3" name="Rechteck: abgerundete Ecken 5">
              <a:extLst>
                <a:ext uri="{FF2B5EF4-FFF2-40B4-BE49-F238E27FC236}">
                  <a16:creationId xmlns:a16="http://schemas.microsoft.com/office/drawing/2014/main" id="{EC8D9FC9-2D5B-4650-41B1-47055CC9F3E4}"/>
                </a:ext>
              </a:extLst>
            </p:cNvPr>
            <p:cNvSpPr/>
            <p:nvPr/>
          </p:nvSpPr>
          <p:spPr>
            <a:xfrm>
              <a:off x="862139" y="1471699"/>
              <a:ext cx="3575420" cy="1526230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11D99F2C-D09F-90B5-0CDB-A175F2FF2ED3}"/>
                </a:ext>
              </a:extLst>
            </p:cNvPr>
            <p:cNvSpPr/>
            <p:nvPr/>
          </p:nvSpPr>
          <p:spPr>
            <a:xfrm>
              <a:off x="982858" y="1557359"/>
              <a:ext cx="3454701" cy="14405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350" b="1">
                  <a:solidFill>
                    <a:schemeClr val="tx2"/>
                  </a:solidFill>
                </a:rPr>
                <a:t>Monetary Policy Transmission​</a:t>
              </a:r>
            </a:p>
            <a:p>
              <a:endParaRPr lang="en-GB" sz="1350" b="1" u="sng">
                <a:solidFill>
                  <a:sysClr val="windowText" lastClr="000000"/>
                </a:solidFill>
              </a:endParaRPr>
            </a:p>
            <a:p>
              <a:r>
                <a:rPr lang="en-US" sz="1100">
                  <a:solidFill>
                    <a:sysClr val="windowText" lastClr="000000"/>
                  </a:solidFill>
                </a:rPr>
                <a:t>If discount rates are sticky, rate cuts are less effective at stimulating investment → implications for central bank policy design</a:t>
              </a:r>
              <a:endParaRPr lang="en-GB" sz="110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162D1D3D-E9C4-0AD8-57B2-884BE0DFD618}"/>
              </a:ext>
            </a:extLst>
          </p:cNvPr>
          <p:cNvGrpSpPr/>
          <p:nvPr/>
        </p:nvGrpSpPr>
        <p:grpSpPr>
          <a:xfrm>
            <a:off x="4699585" y="1471699"/>
            <a:ext cx="3624632" cy="1452881"/>
            <a:chOff x="4699585" y="1471699"/>
            <a:chExt cx="3624632" cy="1526230"/>
          </a:xfrm>
        </p:grpSpPr>
        <p:sp>
          <p:nvSpPr>
            <p:cNvPr id="15" name="Rechteck: abgerundete Ecken 5">
              <a:extLst>
                <a:ext uri="{FF2B5EF4-FFF2-40B4-BE49-F238E27FC236}">
                  <a16:creationId xmlns:a16="http://schemas.microsoft.com/office/drawing/2014/main" id="{4A7C84AF-86FF-F573-0F84-345C7B44DDDA}"/>
                </a:ext>
              </a:extLst>
            </p:cNvPr>
            <p:cNvSpPr/>
            <p:nvPr/>
          </p:nvSpPr>
          <p:spPr>
            <a:xfrm>
              <a:off x="4699585" y="1471699"/>
              <a:ext cx="3624632" cy="1526230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6692D2A5-2B82-2EBC-5E32-B92DFEE66651}"/>
                </a:ext>
              </a:extLst>
            </p:cNvPr>
            <p:cNvSpPr/>
            <p:nvPr/>
          </p:nvSpPr>
          <p:spPr>
            <a:xfrm>
              <a:off x="4816492" y="1557359"/>
              <a:ext cx="3500422" cy="14405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50" b="1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Secular Stagnation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1" i="0" u="sng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Rising wedges reduce investment even as cost of capital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declines → contributes to secular decline in investment rates and low growth</a:t>
              </a: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1340B127-7F72-6510-02DF-2EE66A7DED16}"/>
              </a:ext>
            </a:extLst>
          </p:cNvPr>
          <p:cNvGrpSpPr/>
          <p:nvPr/>
        </p:nvGrpSpPr>
        <p:grpSpPr>
          <a:xfrm>
            <a:off x="862139" y="3065330"/>
            <a:ext cx="3575420" cy="1452881"/>
            <a:chOff x="862139" y="3065330"/>
            <a:chExt cx="3575420" cy="1526230"/>
          </a:xfrm>
        </p:grpSpPr>
        <p:sp>
          <p:nvSpPr>
            <p:cNvPr id="24" name="Rechteck: abgerundete Ecken 5">
              <a:extLst>
                <a:ext uri="{FF2B5EF4-FFF2-40B4-BE49-F238E27FC236}">
                  <a16:creationId xmlns:a16="http://schemas.microsoft.com/office/drawing/2014/main" id="{0DEBDEF6-126C-0BC7-E7F4-80B1C12F7237}"/>
                </a:ext>
              </a:extLst>
            </p:cNvPr>
            <p:cNvSpPr/>
            <p:nvPr/>
          </p:nvSpPr>
          <p:spPr>
            <a:xfrm>
              <a:off x="862139" y="3065330"/>
              <a:ext cx="3575420" cy="1526230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931A5A7D-C45C-FC28-2E98-CFFB25C616A6}"/>
                </a:ext>
              </a:extLst>
            </p:cNvPr>
            <p:cNvSpPr/>
            <p:nvPr/>
          </p:nvSpPr>
          <p:spPr>
            <a:xfrm>
              <a:off x="982858" y="3150990"/>
              <a:ext cx="3454701" cy="14405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50" b="1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Market Power &amp; Competition​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1" i="0" u="sng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Market power as a driver of high discount rates connects to debate on rising markups and declining business dynamism (De Loecker et al. 2020)</a:t>
              </a: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F15E6C04-066E-D8B9-40F5-BD43F4137687}"/>
              </a:ext>
            </a:extLst>
          </p:cNvPr>
          <p:cNvGrpSpPr/>
          <p:nvPr/>
        </p:nvGrpSpPr>
        <p:grpSpPr>
          <a:xfrm>
            <a:off x="4699585" y="3065330"/>
            <a:ext cx="3624632" cy="1452881"/>
            <a:chOff x="4699585" y="3065330"/>
            <a:chExt cx="3624632" cy="1526230"/>
          </a:xfrm>
        </p:grpSpPr>
        <p:sp>
          <p:nvSpPr>
            <p:cNvPr id="27" name="Rechteck: abgerundete Ecken 5">
              <a:extLst>
                <a:ext uri="{FF2B5EF4-FFF2-40B4-BE49-F238E27FC236}">
                  <a16:creationId xmlns:a16="http://schemas.microsoft.com/office/drawing/2014/main" id="{EB79B089-D2AF-9462-F666-124DB9674C03}"/>
                </a:ext>
              </a:extLst>
            </p:cNvPr>
            <p:cNvSpPr/>
            <p:nvPr/>
          </p:nvSpPr>
          <p:spPr>
            <a:xfrm>
              <a:off x="4699585" y="3065330"/>
              <a:ext cx="3624632" cy="1526230"/>
            </a:xfrm>
            <a:prstGeom prst="roundRect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/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352B50CF-6B23-3475-AF25-5DCC49F96909}"/>
                </a:ext>
              </a:extLst>
            </p:cNvPr>
            <p:cNvSpPr/>
            <p:nvPr/>
          </p:nvSpPr>
          <p:spPr>
            <a:xfrm>
              <a:off x="4816491" y="3150990"/>
              <a:ext cx="3507725" cy="14405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50" b="1" i="0" u="none" strike="noStrike" kern="1200" cap="none" spc="0" normalizeH="0" baseline="0" noProof="0">
                  <a:ln>
                    <a:noFill/>
                  </a:ln>
                  <a:solidFill>
                    <a:srgbClr val="44546A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Climate &amp; Green Investment​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350" b="1" i="0" u="sng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If firms over-discount long-term projects, green investments with long payback periods are disproportionately penalized → policy implications for energy transition</a:t>
              </a:r>
              <a:endParaRPr kumimoji="0" lang="en-GB" sz="11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Rechteck 1">
            <a:extLst>
              <a:ext uri="{FF2B5EF4-FFF2-40B4-BE49-F238E27FC236}">
                <a16:creationId xmlns:a16="http://schemas.microsoft.com/office/drawing/2014/main" id="{1EA6EC31-C8B2-9E54-B971-15429F3279F3}"/>
              </a:ext>
            </a:extLst>
          </p:cNvPr>
          <p:cNvSpPr/>
          <p:nvPr/>
        </p:nvSpPr>
        <p:spPr>
          <a:xfrm>
            <a:off x="5016500" y="91085"/>
            <a:ext cx="3975100" cy="670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Unnötig da schon in </a:t>
            </a:r>
            <a:r>
              <a:rPr lang="de-DE" sz="1600" err="1"/>
              <a:t>Findings</a:t>
            </a:r>
            <a:r>
              <a:rPr lang="de-DE" sz="1600"/>
              <a:t> erklärt und in den anderen zwei Slides angeschnitten</a:t>
            </a:r>
          </a:p>
        </p:txBody>
      </p:sp>
    </p:spTree>
    <p:extLst>
      <p:ext uri="{BB962C8B-B14F-4D97-AF65-F5344CB8AC3E}">
        <p14:creationId xmlns:p14="http://schemas.microsoft.com/office/powerpoint/2010/main" val="33394435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098146-FC6F-B5F5-57C6-1848417F3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>
            <a:extLst>
              <a:ext uri="{FF2B5EF4-FFF2-40B4-BE49-F238E27FC236}">
                <a16:creationId xmlns:a16="http://schemas.microsoft.com/office/drawing/2014/main" id="{5F8E642E-D9AF-F85B-0EAE-DF70671EAB8D}"/>
              </a:ext>
            </a:extLst>
          </p:cNvPr>
          <p:cNvSpPr txBox="1"/>
          <p:nvPr/>
        </p:nvSpPr>
        <p:spPr>
          <a:xfrm>
            <a:off x="781050" y="1219329"/>
            <a:ext cx="8033039" cy="30008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US" sz="1350" b="1">
                <a:solidFill>
                  <a:srgbClr val="44546A"/>
                </a:solidFill>
                <a:ea typeface="+mn-lt"/>
                <a:cs typeface="Segoe UI"/>
              </a:rPr>
              <a:t>1. Measurement Concerns​</a:t>
            </a:r>
          </a:p>
          <a:p>
            <a:pPr fontAlgn="base"/>
            <a:r>
              <a:rPr lang="en-US" sz="1200"/>
              <a:t>Conference call statements may not reflect actual internal discount rates; managers may strategically misrepresent </a:t>
            </a:r>
            <a:r>
              <a:rPr lang="en-US" sz="1200" err="1"/>
              <a:t>hurdlerates</a:t>
            </a:r>
            <a:r>
              <a:rPr lang="en-US" sz="1200"/>
              <a:t> to analysts</a:t>
            </a:r>
          </a:p>
          <a:p>
            <a:endParaRPr lang="en-US" sz="1350"/>
          </a:p>
          <a:p>
            <a:pPr fontAlgn="base"/>
            <a:r>
              <a:rPr lang="en-US" sz="1350" b="1">
                <a:solidFill>
                  <a:srgbClr val="44546A"/>
                </a:solidFill>
                <a:ea typeface="+mn-lt"/>
                <a:cs typeface="Segoe UI"/>
              </a:rPr>
              <a:t>2. Selection Bias</a:t>
            </a:r>
          </a:p>
          <a:p>
            <a:pPr fontAlgn="base"/>
            <a:r>
              <a:rPr lang="en-US" sz="1200"/>
              <a:t>Firms that disclose discount rates may differ systematically from those that do not; results may not generalize to the full</a:t>
            </a:r>
          </a:p>
          <a:p>
            <a:pPr fontAlgn="base"/>
            <a:r>
              <a:rPr lang="en-US" sz="1200"/>
              <a:t>cross-section</a:t>
            </a:r>
          </a:p>
          <a:p>
            <a:pPr fontAlgn="base"/>
            <a:endParaRPr lang="en-US" sz="1350"/>
          </a:p>
          <a:p>
            <a:pPr fontAlgn="base"/>
            <a:r>
              <a:rPr lang="en-US" sz="1350" b="1">
                <a:solidFill>
                  <a:srgbClr val="44546A"/>
                </a:solidFill>
                <a:ea typeface="+mn-lt"/>
                <a:cs typeface="Segoe UI"/>
              </a:rPr>
              <a:t>3. Causality vs. Correlation</a:t>
            </a:r>
          </a:p>
          <a:p>
            <a:pPr fontAlgn="base"/>
            <a:r>
              <a:rPr lang="en-US" sz="1200"/>
              <a:t>While the authors use monetary policy shocks as instruments, the IV approach relies on assumptions about exclusion that</a:t>
            </a:r>
          </a:p>
          <a:p>
            <a:pPr fontAlgn="base"/>
            <a:r>
              <a:rPr lang="en-US" sz="1200"/>
              <a:t>are difficult to fully verify</a:t>
            </a:r>
          </a:p>
          <a:p>
            <a:pPr fontAlgn="base"/>
            <a:endParaRPr lang="en-US" sz="1350"/>
          </a:p>
          <a:p>
            <a:pPr fontAlgn="base"/>
            <a:r>
              <a:rPr lang="en-US" sz="1350" b="1">
                <a:solidFill>
                  <a:srgbClr val="44546A"/>
                </a:solidFill>
                <a:ea typeface="+mn-lt"/>
                <a:cs typeface="Segoe UI"/>
              </a:rPr>
              <a:t>4. Rational vs. Behavioral Interpretation</a:t>
            </a:r>
          </a:p>
          <a:p>
            <a:pPr fontAlgn="base"/>
            <a:r>
              <a:rPr lang="en-US" sz="1200"/>
              <a:t>Sticky discount rates could be rational (real options, financial constraints) or behavioral (anchoring, inattention), difficult to fully distinguish</a:t>
            </a:r>
          </a:p>
        </p:txBody>
      </p:sp>
      <p:cxnSp>
        <p:nvCxnSpPr>
          <p:cNvPr id="5" name="Gerade Verbindung 4">
            <a:extLst>
              <a:ext uri="{FF2B5EF4-FFF2-40B4-BE49-F238E27FC236}">
                <a16:creationId xmlns:a16="http://schemas.microsoft.com/office/drawing/2014/main" id="{910E9066-348A-C137-6449-8E09C5617E2E}"/>
              </a:ext>
            </a:extLst>
          </p:cNvPr>
          <p:cNvCxnSpPr>
            <a:cxnSpLocks/>
          </p:cNvCxnSpPr>
          <p:nvPr/>
        </p:nvCxnSpPr>
        <p:spPr>
          <a:xfrm>
            <a:off x="348961" y="4739420"/>
            <a:ext cx="8465129" cy="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4D28F78E-F695-BC0A-7ADF-C3D2485C2957}"/>
              </a:ext>
            </a:extLst>
          </p:cNvPr>
          <p:cNvSpPr txBox="1">
            <a:spLocks/>
          </p:cNvSpPr>
          <p:nvPr/>
        </p:nvSpPr>
        <p:spPr>
          <a:xfrm>
            <a:off x="781050" y="4262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solidFill>
                  <a:schemeClr val="tx2"/>
                </a:solidFill>
                <a:ea typeface="Calibri"/>
                <a:cs typeface="Calibri"/>
              </a:rPr>
              <a:t>Challenges to Authors' Interpretation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73B9582-412A-6A23-B499-30D041700324}"/>
              </a:ext>
            </a:extLst>
          </p:cNvPr>
          <p:cNvSpPr/>
          <p:nvPr/>
        </p:nvSpPr>
        <p:spPr>
          <a:xfrm>
            <a:off x="4991100" y="91085"/>
            <a:ext cx="4000500" cy="6703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/>
              <a:t>Checke was </a:t>
            </a:r>
            <a:r>
              <a:rPr lang="de-DE" sz="1600" err="1"/>
              <a:t>claude</a:t>
            </a:r>
            <a:r>
              <a:rPr lang="de-DE" sz="1600"/>
              <a:t> da gemacht hat finde ich aber etwas generisch und nicht zeigenswert</a:t>
            </a:r>
          </a:p>
        </p:txBody>
      </p:sp>
    </p:spTree>
    <p:extLst>
      <p:ext uri="{BB962C8B-B14F-4D97-AF65-F5344CB8AC3E}">
        <p14:creationId xmlns:p14="http://schemas.microsoft.com/office/powerpoint/2010/main" val="40246900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-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5B52A4BACF2FA4FA5234731F5AE70A5" ma:contentTypeVersion="3" ma:contentTypeDescription="Ein neues Dokument erstellen." ma:contentTypeScope="" ma:versionID="5be805b37158567c8a8c5ea61b388509">
  <xsd:schema xmlns:xsd="http://www.w3.org/2001/XMLSchema" xmlns:xs="http://www.w3.org/2001/XMLSchema" xmlns:p="http://schemas.microsoft.com/office/2006/metadata/properties" xmlns:ns2="ec6fb6ee-9b3d-4433-9d27-14ea77be27ae" targetNamespace="http://schemas.microsoft.com/office/2006/metadata/properties" ma:root="true" ma:fieldsID="488d4465658168f8fd1e57fa84404a8f" ns2:_="">
    <xsd:import namespace="ec6fb6ee-9b3d-4433-9d27-14ea77be27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6fb6ee-9b3d-4433-9d27-14ea77be27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1F7DA86-1DAF-4270-B4AB-35BB0D0A510A}">
  <ds:schemaRefs>
    <ds:schemaRef ds:uri="ec6fb6ee-9b3d-4433-9d27-14ea77be27a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3C1D7F1-6B2C-42EE-B51D-884B1C2875D1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ec6fb6ee-9b3d-4433-9d27-14ea77be27ae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572D077-C9AA-4805-8C88-F1390F86412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6260</Words>
  <Application>Microsoft Office PowerPoint</Application>
  <PresentationFormat>On-screen Show (16:9)</PresentationFormat>
  <Paragraphs>832</Paragraphs>
  <Slides>54</Slides>
  <Notes>52</Notes>
  <HiddenSlides>13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Calibri</vt:lpstr>
      <vt:lpstr>Calibri Light</vt:lpstr>
      <vt:lpstr>Cambria Math</vt:lpstr>
      <vt:lpstr>Segoe UI</vt:lpstr>
      <vt:lpstr>Wingdings</vt:lpstr>
      <vt:lpstr>Office-Design</vt:lpstr>
      <vt:lpstr>think-cell Slide</vt:lpstr>
      <vt:lpstr>VaR calculation and evolution</vt:lpstr>
      <vt:lpstr>PowerPoint Presentation</vt:lpstr>
      <vt:lpstr>Methodology</vt:lpstr>
      <vt:lpstr>PowerPoint Presentation</vt:lpstr>
      <vt:lpstr>PowerPoint Presentation</vt:lpstr>
      <vt:lpstr>VaR Methods</vt:lpstr>
      <vt:lpstr>PowerPoint Presentation</vt:lpstr>
      <vt:lpstr>PowerPoint Presentation</vt:lpstr>
      <vt:lpstr>PowerPoint Presentation</vt:lpstr>
      <vt:lpstr>PowerPoint Presentation</vt:lpstr>
      <vt:lpstr>Assumption validation</vt:lpstr>
      <vt:lpstr>Comparison &amp; conclusion</vt:lpstr>
      <vt:lpstr>Motivation</vt:lpstr>
      <vt:lpstr>PowerPoint Presentation</vt:lpstr>
      <vt:lpstr>PowerPoint Presentation</vt:lpstr>
      <vt:lpstr>PowerPoint Presentation</vt:lpstr>
      <vt:lpstr>CONTRIBUTION TO LITERATURE</vt:lpstr>
      <vt:lpstr>PowerPoint Presentation</vt:lpstr>
      <vt:lpstr>PowerPoint Presentation</vt:lpstr>
      <vt:lpstr>Data and Methodology</vt:lpstr>
      <vt:lpstr>PowerPoint Presentation</vt:lpstr>
      <vt:lpstr>PowerPoint Presentation</vt:lpstr>
      <vt:lpstr>PowerPoint Presentation</vt:lpstr>
      <vt:lpstr>PowerPoint Presentation</vt:lpstr>
      <vt:lpstr>FINDINGS</vt:lpstr>
      <vt:lpstr>PowerPoint Presentation</vt:lpstr>
      <vt:lpstr>PowerPoint Presentation</vt:lpstr>
      <vt:lpstr>PowerPoint Presentation</vt:lpstr>
      <vt:lpstr>PowerPoint Presentation</vt:lpstr>
      <vt:lpstr>EXTENSIONS &amp; RESEARCH IDEAS</vt:lpstr>
      <vt:lpstr>PowerPoint Presentation</vt:lpstr>
      <vt:lpstr>PowerPoint Presentation</vt:lpstr>
      <vt:lpstr>PowerPoint Presentation</vt:lpstr>
      <vt:lpstr>THANKS FOR  YOUR ATTENTION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V1 ARCHIV</vt:lpstr>
      <vt:lpstr>Podcast notes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Office-Anwender</dc:creator>
  <cp:lastModifiedBy>Keanu Bernard Stanislaw Kilka</cp:lastModifiedBy>
  <cp:revision>15</cp:revision>
  <cp:lastPrinted>2026-01-30T12:56:04Z</cp:lastPrinted>
  <dcterms:created xsi:type="dcterms:W3CDTF">2019-02-15T13:15:02Z</dcterms:created>
  <dcterms:modified xsi:type="dcterms:W3CDTF">2026-05-05T16:28:16Z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0x01010085B52A4BACF2FA4FA5234731F5AE70A5</vt:lpwstr>
  </property>
  <property fmtid="{D5CDD505-2E9C-101B-9397-08002B2CF9AE}" pid="3" name="Order">
    <vt:r8>2500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</Properties>
</file>