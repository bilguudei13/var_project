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CCFF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Monte Carlo VaR — Mathematical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Gaussian MC  ·  t-Copula MC  ·  GARCH-t-Copula 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Backtesting  ·  Instrument Pricing  ·  Diagnostics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F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A.  VaR Framework</a:t>
            </a:r>
          </a:p>
          <a:p>
            <a:pPr algn="l"/>
            <a:r>
              <a:rPr sz="1600">
                <a:solidFill>
                  <a:srgbClr val="CCDDFF"/>
                </a:solidFill>
                <a:latin typeface="Calibri"/>
              </a:rPr>
              <a:t>Definition  ·  Expected Shortfall  ·  Backtesting Principles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A1   Value at Risk — Formal Definition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The single-number loss threshold exceeded with probability (1−α)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303520" cy="182880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VaR Definition (99% confidence)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P( ΔV &lt; −VaRₜ ) = 1 − α     where α = 0.99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Equivalently:  VaRₜ = −Q_{1−α}( ΔV 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Q_{1%}(ΔV) = 1st percentile of the simulated P&amp;L distribution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VaR is reported as a POSITIVE number (a loss amount)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97280"/>
            <a:ext cx="5486400" cy="182880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Expected Shortfall (ES / CVaR)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ES_{α} = −E[ ΔV  |  ΔV &lt; −VaRₜ ]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= average loss in the worst (1−α)% of scenarios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ES is always ≥ VaR and is sub-additive (VaR is not).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108960"/>
            <a:ext cx="11247120" cy="192024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Simulation-Based Estimation (M scenarios)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Sort simulated P&amp;Ls:  p₁ ≤ p₂ ≤ … ≤ p_M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VaR  = −p_{ ⌊(1−α)M⌋ }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ES   = −(1/k) Σᵢ₌₁ᵏ  pᵢ     where k = ⌊(1−α)M⌋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With M=10,000 and α=99%: the 1% tail = 100 scenarios → stable estimate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663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Key insight: VaR answers "On a bad day (1-in-100), how much do I lose?"</a:t>
            </a:r>
          </a:p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It does NOT tell you how bad things get beyond that threshold — that is what ES captures.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A2   Backtesting — Kupiec &amp; Christoffersen Tests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Statistical tests for whether observed breach frequency matches the model's confidence level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246888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Kupiec Proportion of Failures (POF) Test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H₀: p = 1 − α = 0.01   (true breach probability equals model assumption)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Under H₀:  N ~ Binomial(T, 0.01)     E[N] = T × 0.01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LR_UC = 2 [ N·ln(p̂/p₀) + (T−N)·ln((1−p̂)/(1−p₀)) ]    ~ χ²(1)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where  p̂ = N/T  (empirical breach rate),  p₀ = 0.01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Reject H₀ at 95% if  LR_UC &gt; 3.84    (i.e. N ≈ 54 for T=4019)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749039"/>
            <a:ext cx="11247120" cy="246888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Christoffersen Independence Test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Tests whether breaches cluster (are NOT independent) — a separate failure mode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Transition counts:  n₀₀ = calm→calm,  n₀₁ = calm→breach,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                  n₁₀ = breach→calm,  n₁₁ = breach→breach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π₀₁ = n₀₁/(n₀₀+n₀₁)   π₁₁ = n₁₁/(n₁₀+n₁₁)   π = (n₀₁+n₁₁)/T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LR_IND = 2 ln[ L(π₀₁,π₁₁) / L(π,π) ]    ~ χ²(1)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Reject independence at 95% if  LR_IND &gt; 3.84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2020"/>
                </a:solidFill>
                <a:latin typeface="Calibri"/>
              </a:rPr>
              <a:t>Our results:  Gaussian N=248, t-Copula N=25, GARCH-t-Copula N=69.</a:t>
            </a:r>
          </a:p>
          <a:p>
            <a:pPr algn="l"/>
            <a:r>
              <a:rPr sz="1100" b="0">
                <a:solidFill>
                  <a:srgbClr val="C02020"/>
                </a:solidFill>
                <a:latin typeface="Calibri"/>
              </a:rPr>
              <a:t>Gaussian and GARCH rejected (too many breaches).  t-Copula rejected (too few — over-conservative after implementation fixes).</a:t>
            </a:r>
          </a:p>
          <a:p>
            <a:pPr algn="l"/>
            <a:r>
              <a:rPr sz="1100" b="0">
                <a:solidFill>
                  <a:srgbClr val="C02020"/>
                </a:solidFill>
                <a:latin typeface="Calibri"/>
              </a:rPr>
              <a:t>GARCH-t-Copula is the only model that passes the Christoffersen independence 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F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B.  Portfolio &amp; Data</a:t>
            </a:r>
          </a:p>
          <a:p>
            <a:pPr algn="l"/>
            <a:r>
              <a:rPr sz="1600">
                <a:solidFill>
                  <a:srgbClr val="CCDDFF"/>
                </a:solidFill>
                <a:latin typeface="Calibri"/>
              </a:rPr>
              <a:t>Six instruments  ·  10-year walk-forward backtest  ·  2006–2024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B1   Portfolio Composition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V₀ = $1,000,000  |  Backtest: Jan 2009 – Dec 2024  (T = 4,019 days)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463040" cy="457200"/>
          </a:xfrm>
          <a:prstGeom prst="rect">
            <a:avLst/>
          </a:prstGeom>
          <a:solidFill>
            <a:srgbClr val="1A2B4A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Instrument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1051560"/>
            <a:ext cx="1828800" cy="457200"/>
          </a:xfrm>
          <a:prstGeom prst="rect">
            <a:avLst/>
          </a:prstGeom>
          <a:solidFill>
            <a:srgbClr val="1A2B4A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749039" y="1051560"/>
            <a:ext cx="1005840" cy="457200"/>
          </a:xfrm>
          <a:prstGeom prst="rect">
            <a:avLst/>
          </a:prstGeom>
          <a:solidFill>
            <a:srgbClr val="1A2B4A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Weight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4800600" y="1051560"/>
            <a:ext cx="1920240" cy="457200"/>
          </a:xfrm>
          <a:prstGeom prst="rect">
            <a:avLst/>
          </a:prstGeom>
          <a:solidFill>
            <a:srgbClr val="1A2B4A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Exposure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051560"/>
            <a:ext cx="4572000" cy="457200"/>
          </a:xfrm>
          <a:prstGeom prst="rect">
            <a:avLst/>
          </a:prstGeom>
          <a:solidFill>
            <a:srgbClr val="1A2B4A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Risk Factor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27048"/>
            <a:ext cx="14630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SPY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19" y="1527048"/>
            <a:ext cx="18288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US Equity ETF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1527048"/>
            <a:ext cx="10058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25%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1527048"/>
            <a:ext cx="19202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$250,000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1527048"/>
            <a:ext cx="457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SPY log return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02536"/>
            <a:ext cx="1463040" cy="45720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GLD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19" y="2002536"/>
            <a:ext cx="1828800" cy="45720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Gold ETF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2002536"/>
            <a:ext cx="1005840" cy="45720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25%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2002536"/>
            <a:ext cx="1920240" cy="45720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$250,000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002536"/>
            <a:ext cx="4572000" cy="45720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GLD log return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478024"/>
            <a:ext cx="14630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IEF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19" y="2478024"/>
            <a:ext cx="18288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7-10Y Treasury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2478024"/>
            <a:ext cx="10058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25%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2478024"/>
            <a:ext cx="19202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$250,000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2478024"/>
            <a:ext cx="457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IEF log return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953512"/>
            <a:ext cx="1463040" cy="45720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EURUSD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2953512"/>
            <a:ext cx="1828800" cy="45720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FX spot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2953512"/>
            <a:ext cx="1005840" cy="45720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25%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2953512"/>
            <a:ext cx="1920240" cy="45720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$250,000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2953512"/>
            <a:ext cx="4572000" cy="45720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EURUSD log return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429000"/>
            <a:ext cx="14630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IRS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74519" y="3429000"/>
            <a:ext cx="18288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Interest Rate Swap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39" y="3429000"/>
            <a:ext cx="10058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3429000"/>
            <a:ext cx="19202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$1,000,000 notional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3429000"/>
            <a:ext cx="4572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DGS10 yield change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904487"/>
            <a:ext cx="1463040" cy="45720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Straddle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74519" y="3904487"/>
            <a:ext cx="1828800" cy="45720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ATM SPY options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39" y="3904487"/>
            <a:ext cx="1005840" cy="45720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0600" y="3904487"/>
            <a:ext cx="1920240" cy="45720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2,000 shares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66560" y="3904487"/>
            <a:ext cx="4572000" cy="45720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SPY price + VIX level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44348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Linear positions: static inception shares (shares = V₀ × wⱼ / P₀ⱼ), never rebalanced.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IRS: fixed payer at 3% on $1M notional, 10-year maturity.  Straddle: 30-day rolling ATM reset, 2,000 shares.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Six risk factors modelled in copula: EURUSD, GLD, IEF, SPY (log returns), VIX_ret (log), DGS10_chg (absolute).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F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C.  Gaussian Monte Carlo</a:t>
            </a:r>
          </a:p>
          <a:p>
            <a:pPr algn="l"/>
            <a:r>
              <a:rPr sz="1600">
                <a:solidFill>
                  <a:srgbClr val="CCDDFF"/>
                </a:solidFill>
                <a:latin typeface="Calibri"/>
              </a:rPr>
              <a:t>Multivariate normal simulation via Cholesky decomposition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C1   Gaussian MC — Algorithm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Rolling 750-day window  |  M = 10,000 scenarios  |  Full revaluation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23444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Step 1 — Estimate parameters from rolling window W = [t−750, t)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μ  = (1/750) Σ rₜ                    (6-vector of mean returns)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Σ  = (1/749) Σ (rₜ−μ)(rₜ−μ)ᵀ        (6×6 covariance matrix)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Σ  += 1e-8 · I                        (regularise for Cholesky)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377440"/>
            <a:ext cx="11247120" cy="155448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Step 2 — Cholesky simulation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L  = chol(Σ)                          s.t.  L Lᵀ = Σ  (lower triangular)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Z  ~ N(0, I)                          (M × 6 independent standard normals)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sim = Z Lᵀ + μ                        (M × 6 correlated scenarios)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Proof:  Cov(L z) = L · Cov(z) · Lᵀ = L I Lᵀ = Σ   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023360"/>
            <a:ext cx="11247120" cy="150876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Step 3 — Full revaluation per scenario i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P&amp;L_linear  = Σⱼ shares_j · price_now_j · (exp(rᵢⱼ) − 1)     j ∈ {SPY, GLD, IEF, EURUSD}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P&amp;L_IRS     = IRS(rate_now + Δrᵢ) − IRS(rate_now)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P&amp;L_strad   = [BS(S·exp(rᵢ_SPY), K, T−1/252, rₜ, σ·exp(rᵢ_VIX)) − BS(S,K,T,rₜ,σ)] × shares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P&amp;L_total   = P&amp;L_linear + P&amp;L_IRS + P&amp;L_strad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5099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B4A"/>
                </a:solidFill>
                <a:latin typeface="Calibri"/>
              </a:rPr>
              <a:t>VaR_t = −Q₁%(P&amp;L_total)     [sign flip: VaR is a positive loss amount]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C2   Gaussian MC — Backtest Result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N = 248 breaches  |  Expected ≈ 40  |  Kupiec REJECTED  (p ≈ 0)</a:t>
            </a:r>
          </a:p>
        </p:txBody>
      </p:sp>
      <p:pic>
        <p:nvPicPr>
          <p:cNvPr id="3" name="Picture 2" descr="07_mc_gaussian_v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73478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126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2020"/>
                </a:solidFill>
                <a:latin typeface="Calibri"/>
              </a:rPr>
              <a:t>248 breaches (6.2% empirical breach rate vs 1% target).  The model systematically</a:t>
            </a:r>
          </a:p>
          <a:p>
            <a:pPr algn="l"/>
            <a:r>
              <a:rPr sz="1100" b="0">
                <a:solidFill>
                  <a:srgbClr val="C02020"/>
                </a:solidFill>
                <a:latin typeface="Calibri"/>
              </a:rPr>
              <a:t>underestimates tail risk because fat tails and volatility clustering are both absent.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C3   Why Gaussian Fails — Fat Tails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Real financial returns have far more extreme events than the normal distribution predicts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6400800" cy="347472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Probability of a k-sigma event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Normal:   P(|Z| &gt; k σ)   ↓ super-exponentially fast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Student-t: P(|Z| &gt; k σ) ~ C · k^{−ν}   (power-law tail)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For k = 5 (five-sigma event):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Normal   :  P ≈ 5.7 × 10⁻⁷   →  once every ~3.5 million days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t(ν = 5) :  P ≈ 5.8 × 10⁻⁵   →  once every ~17,000 days  (206× more likely)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t(ν = 3) :  P ≈ 5.0 × 10⁻⁴   →  once every ~2,000 days   (2,850× more likely)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Empirically: SPY has had several 5σ+ days within a 15-year period.</a:t>
            </a:r>
          </a:p>
        </p:txBody>
      </p:sp>
      <p:pic>
        <p:nvPicPr>
          <p:cNvPr id="4" name="Picture 3" descr="05_return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51560"/>
            <a:ext cx="4846320" cy="25847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4663440"/>
            <a:ext cx="6400800" cy="169164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Additional failure: no volatility clustering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Gaussian model uses fixed Σ estimated over 750 days.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After a crash, Σ barely changes for weeks → VaR stays low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even though the market is clearly in a high-vol regime.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GARCH directly addresses this by giving the model a memory.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F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D.  t-Copula Monte Carlo</a:t>
            </a:r>
          </a:p>
          <a:p>
            <a:pPr algn="l"/>
            <a:r>
              <a:rPr sz="1600">
                <a:solidFill>
                  <a:srgbClr val="CCDDFF"/>
                </a:solidFill>
                <a:latin typeface="Calibri"/>
              </a:rPr>
              <a:t>Student-t marginals  ·  Sklar decomposition  ·  Profile MLE for 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D1   Copula Theory — Sklar's Theorem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Any multivariate distribution can be decomposed into marginals + a copula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256032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Sklar's Theorem (1959)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For any joint CDF F(x₁,…,xₙ) with marginals F₁,…,Fₙ: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F(x₁,…,xₙ) = C( F₁(x₁), …, Fₙ(xₙ) 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where C: [0,1]ⁿ → [0,1] is the COPULA — a joint CDF with uniform marginals.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The copula captures the entire dependence structure, independently of the marginals.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Inversion (simulation use):  if U = (U₁,…,Uₙ) ~ C  then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Xⱼ = Fⱼ⁻¹(Uⱼ)  has marginal Fⱼ  and joint dependence C.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749039"/>
            <a:ext cx="11247120" cy="210312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t-Copula vs Gaussian Copula — Tail Dependence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Gaussian copula:  tail dependence λ_U = λ_L = 0  (assets become INDEPENDENT in extremes)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t-Copula:         λ_L = 2·t_{ν+1}( −√((ν+1)(1−ρ)/(1+ρ)) )  &gt; 0  for finite ν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Example (ν=5, ρ=0.7):  P(SPY&lt;1% AND GLD&lt;1%) under t-copula ≈ 0.52%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                      vs independence: 0.01%  and Gaussian copula: ≈ 0.11%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This is why Gaussian copula failed in 2008 — it had zero tail dependence.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D2   Student-t Marginals — Estimation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Each risk factor fitted independently by maximum likelihood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6858000" cy="256032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Student-t PDF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f(x; ν, μ, σ) = Γ((ν+1)/2) / [Γ(ν/2)·√(νπ)·σ] · (1 + (x−μ)²/(ν·σ²))^{−(ν+1)/2}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Parameters:  ν = degrees of freedom  (tail thickness; small ν = fatter tails)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           μ = location  (≈ mean for ν &gt; 1)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           σ = scale     (≈ std dev × √((ν−2)/ν) for ν &gt; 2)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As ν → ∞:  t → Normal.   For ν ≤ 4:  variance may be infinite.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051560"/>
            <a:ext cx="4206240" cy="256032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Fitted ν values (GARCH residuals, last refit)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EURUSD   :  ν ≈  7.4   (fat tails)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GLD      :  ν ≈  8.3   (fat tails)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IEF      :  ν ≈ 23.0   (near-Gaussian in calm periods)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SPY      :  ν ≈ 11.1   (moderate tails)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VIX_ret  :  ν ≈  5.0   (very fat tails + strong skew)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DGS10_chg:  ν ≈ 17.2   (near-Gaussian)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749039"/>
            <a:ext cx="11247120" cy="173736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Hazen Rank Transform → Pseudo-observations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For each factor column j, compute uniform pseudo-observations: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Uᵢⱼ = rank(xᵢⱼ) / (n + 1)     (Hazen formula; avoids 0 and 1)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These Uᵢⱼ ~ Uniform(0,1) marginally but retain the empirical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dependence structure.  They are fed into the copula likelihood.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577840"/>
            <a:ext cx="11247120" cy="100584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t-Copula Profile MLE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ν_copula = argmax_ν  Σₜ log c(U_t; R, ν)     over grid ν ∈ {2,3,…,20}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R estimated by Kendall's τ inversion:  ρᵢⱼ = sin(π/2 · τ̂ᵢⱼ)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D3   t-Copula Simulation Algorithm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Cholesky + chi-squared mixing → joint fat-tailed copula draws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56616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t-Copula Simulation (M scenarios, d=6 factors)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1.  L = chol(R)                     (6×6 Cholesky of correlation matrix R)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2.  Z ~ N(0, I_{d×d})              (M×6 independent standard normals)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3.  Y = Z Lᵀ                        (M×6 correlated normals with Cov = R)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4.  W ~ χ²(ν)                        (M independent chi-squared draws)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5.  T = Y · √(ν / W)               (M×6;  divide each row by √(W/ν))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  Interpretation:  W is a SHARED random scaling per scenario.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  When W is small (a rare event), ALL assets are scaled up together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  → simultaneous extreme moves (tail dependence).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6.  U = F_{t,ν}(T)                  (apply t-CDF column-by-column → uniform)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Invert Marginals → Simulated Returns (Sklar in reverse)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7.  rᵢⱼ = F_{t, νⱼ, μⱼ, σⱼ}⁻¹(Uᵢⱼ)    for j = 1…6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  Each column gets the correct marginal tail shape (factor-specific ν)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  while the joint dependence is governed by the t-copula above.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172200"/>
            <a:ext cx="11247120" cy="59436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Rolling refit schedule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Refit marginals + copula every 50 days on the most recent 750 observations.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Fresh M=10,000 copula draws every day (rng NOT reset between days → stochastic VaR series).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D4   t-Copula MC — Backtest Result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N = 25 breaches  |  Expected ≈ 40  |  Kupiec REJECTED  (too conservative)</a:t>
            </a:r>
          </a:p>
        </p:txBody>
      </p:sp>
      <p:pic>
        <p:nvPicPr>
          <p:cNvPr id="3" name="Picture 2" descr="mc_t_copula_var_bac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73658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126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2020"/>
                </a:solidFill>
                <a:latin typeface="Calibri"/>
              </a:rPr>
              <a:t>25 breaches — VaR is too conservative after implementation fixes (static inception shares + correct IRS/straddle pricing).</a:t>
            </a:r>
          </a:p>
          <a:p>
            <a:pPr algn="l"/>
            <a:r>
              <a:rPr sz="1100" b="0">
                <a:solidFill>
                  <a:srgbClr val="C02020"/>
                </a:solidFill>
                <a:latin typeface="Calibri"/>
              </a:rPr>
              <a:t>Fat-tailed marginals (ν≈2–3) with no vol conditioning overstate risk once the portfolio's grown 3–4× since inception.</a:t>
            </a:r>
          </a:p>
          <a:p>
            <a:pPr algn="l"/>
            <a:r>
              <a:rPr sz="1100" b="0">
                <a:solidFill>
                  <a:srgbClr val="C02020"/>
                </a:solidFill>
                <a:latin typeface="Calibri"/>
              </a:rPr>
              <a:t>Opposite failure mode to GARCH: too few breaches, not too many.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F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E.  GARCH-t-Copula Monte Carlo</a:t>
            </a:r>
          </a:p>
          <a:p>
            <a:pPr algn="l"/>
            <a:r>
              <a:rPr sz="1600">
                <a:solidFill>
                  <a:srgbClr val="CCDDFF"/>
                </a:solidFill>
                <a:latin typeface="Calibri"/>
              </a:rPr>
              <a:t>GARCH(1,1) volatility forecasting  ·  EWMA dynamic correlation  ·  Full pipeline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E1   GARCH(1,1) Specification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Gives the model a memory of recent volatility — the key upgrade over the t-Copula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7132320" cy="448056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GARCH(1,1) conditional variance equation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σ²_{t+1} = ω  +  α · ε²_t  +  β · σ²_t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ω  (omega)  :  long-run variance floor.  Ensures σ²&gt;0 at all times.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               Unconditional variance:  σ²_∞ = ω / (1 − α − β)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α  (alpha)  :  ARCH coefficient.  Size of yesterday's shock → today's vol.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               Large α = fast reaction to new information.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β  (beta)   :  GARCH coefficient.  Persistence of the vol regime.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               Large β = vol decays slowly (clustering).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α + β &lt; 1   :  stationarity condition.  Typical empirical values: 0.97–0.99.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ν  (nu)     :  degrees of freedom of t-distributed innovations.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               Controls tail thickness of the residual distribution.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0" y="1051560"/>
            <a:ext cx="3840480" cy="173736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GARCH returns model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rₜ = μ + σₜ · zₜ     where  zₜ ~ t(ν) standardised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Standardised t: Var(zₜ) = 1  (not ν/(ν−2))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Requires std_scale = √((ν−2)/ν) correction when using scipy.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0" y="2971800"/>
            <a:ext cx="3840480" cy="182880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One-step-ahead forecast (used in simulation)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Given today's state (x_t, σ_t):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σ²_{t+1} = ω  +  α · x²_t  +  β · σ²_t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r_sim = μ + σ_{t+1} · z     z drawn from t-copula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4937760"/>
            <a:ext cx="3840480" cy="146304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Numerical implementation note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Returns are scaled ×100 before GARCH fitting (GARCH_SCALE=100).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Optimizer works in percentage-point units (e.g. 0.8% → 0.8).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After fitting: ω is divided back by 100² to restore decimal units.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E2   EWMA Dynamic Correlation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Correlation updated daily using exponentially weighted standardised residuals  (λ = 0.94)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20040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EWMA Correlation Update (JP Morgan RiskMetrics)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Each day, after observing the new GARCH residual  z_t = x_t / σ_t: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Q_{t+1}  =  λ · Q_t  +  (1−λ) · z_t · z_tᵀ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R_{t+1}  =  diag(Q_{t+1})^{−1/2} · Q_{t+1} · diag(Q_{t+1})^{−1/2}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where:  Q_t  = quasi-correlation matrix (not unit diagonal)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        R_t  = correlation matrix  (unit diagonal enforced by normalisation)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        λ=0.94  = decay factor  (half-life ≈ 12 trading days)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Why standardise by σ_t first?  We want pure correlation (not covariance).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Using raw returns would mix correlation changes with volatility changes.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389120"/>
            <a:ext cx="11247120" cy="155448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Warm-up loop (prevents discontinuity at each GARCH refit)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At each refit: GARCH params (ω, α, β) change → σ_t series changes → z_t series changes.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To prevent a jump in Q when params change, the EWMA is replayed from scratch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by running the update equation through the full 750-day window of new residuals.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This ensures R_dynamic is continuous even after a refit.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Calibri"/>
              </a:rPr>
              <a:t>Empirical correlations at last refit (Dec 2024):  ρ(SPY,IEF)=+0.12  (was −0.40 pre-2022)</a:t>
            </a:r>
          </a:p>
          <a:p>
            <a:pPr algn="l"/>
            <a:r>
              <a:rPr sz="1100" b="0">
                <a:solidFill>
                  <a:srgbClr val="444444"/>
                </a:solidFill>
                <a:latin typeface="Calibri"/>
              </a:rPr>
              <a:t>ρ(SPY,VIX)=−0.75  |  ρ(IEF,DGS10)=−0.96  |  ρ(GLD,IEF)=+0.43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E3   GARCH-t-Copula — Complete 8-Step Pipeline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Every step listed with inputs/outputs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51560"/>
            <a:ext cx="548640" cy="43891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51560"/>
            <a:ext cx="1600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2B4A"/>
                </a:solidFill>
                <a:latin typeface="Calibri"/>
              </a:rPr>
              <a:t>Fit GARCH(1,1)-t per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05156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Calibri"/>
              </a:rPr>
              <a:t>Input: 750-day rolling window returns. Output: (ω,α,β,μ,ν) per factor.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36776"/>
            <a:ext cx="548640" cy="43891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36776"/>
            <a:ext cx="1600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2B4A"/>
                </a:solidFill>
                <a:latin typeface="Calibri"/>
              </a:rPr>
              <a:t>Compute GARCH residuals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636776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Calibri"/>
              </a:rPr>
              <a:t>zₜ = (rₜ − μ) / σₜ   →  standardised residuals, roughly t(ν)-distributed.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21992"/>
            <a:ext cx="548640" cy="43891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21992"/>
            <a:ext cx="1600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2B4A"/>
                </a:solidFill>
                <a:latin typeface="Calibri"/>
              </a:rPr>
              <a:t>Rank pseudo-observations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221992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Calibri"/>
              </a:rPr>
              <a:t>Uᵢⱼ = rank(zᵢⱼ)/(n+1).  Fed to copula likelihood for R and ν_copula estimation.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07208"/>
            <a:ext cx="548640" cy="43891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Step 3b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07208"/>
            <a:ext cx="1600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2B4A"/>
                </a:solidFill>
                <a:latin typeface="Calibri"/>
              </a:rPr>
              <a:t>Initialise EWMA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807208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Calibri"/>
              </a:rPr>
              <a:t>Q₀ = sample cov of GARCH residuals.  Warm-up replay over 750 days.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392424"/>
            <a:ext cx="548640" cy="43891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392424"/>
            <a:ext cx="1600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2B4A"/>
                </a:solidFill>
                <a:latin typeface="Calibri"/>
              </a:rPr>
              <a:t>Update R_dynamic daily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392424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Calibri"/>
              </a:rPr>
              <a:t>Q_{t+1} = λQ_t + (1−λ)z_t z_tᵀ  →  R_{t+1} (normalise diagonal to 1).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977640"/>
            <a:ext cx="548640" cy="43891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77640"/>
            <a:ext cx="1600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2B4A"/>
                </a:solidFill>
                <a:latin typeface="Calibri"/>
              </a:rPr>
              <a:t>Simulate M t-copula draws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9776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Calibri"/>
              </a:rPr>
              <a:t>U ~ t-Copula(R_dynamic, ν_copula).  M=10,000 uniform scenarios.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562856"/>
            <a:ext cx="548640" cy="43891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Step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562856"/>
            <a:ext cx="1600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2B4A"/>
                </a:solidFill>
                <a:latin typeface="Calibri"/>
              </a:rPr>
              <a:t>Invert &amp; reconstruct returns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562856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Calibri"/>
              </a:rPr>
              <a:t>z_sim = t_ppf(U, ν) × std_scale.   r_sim = μ + σ_forecast × z_sim.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148072"/>
            <a:ext cx="548640" cy="43891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Step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148072"/>
            <a:ext cx="1600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2B4A"/>
                </a:solidFill>
                <a:latin typeface="Calibri"/>
              </a:rPr>
              <a:t>Full revaluation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148072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Calibri"/>
              </a:rPr>
              <a:t>P&amp;L = linear (static shares) + IRS (annuity) + straddle (Black-Scholes).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733288"/>
            <a:ext cx="548640" cy="43891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Step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733288"/>
            <a:ext cx="1600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2B4A"/>
                </a:solidFill>
                <a:latin typeface="Calibri"/>
              </a:rPr>
              <a:t>Extract VaR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733288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Calibri"/>
              </a:rPr>
              <a:t>VaR_t = −Q₁%(P&amp;L_sim).   Store and advance one day.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E4   std_scale Correction — Unit-Variance t Draws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Critical detail: scipy's t.ppf has variance ν/(ν−2), not 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228600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The problem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scipy.stats.t.ppf(u, df=ν) returns X ~ t(ν) with Var(X) = ν/(ν−2).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But GARCH is calibrated under the convention Var(z_t) = 1.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If we use raw ppf draws: r_sim = σ_forecast × ppf(u)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then  Var(r_sim) = σ²_forecast × ν/(ν−2)  ≠  σ²_forecast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For ν=8:  ν/(ν−2) = 1.333  →  volatility overstated by 15%.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474720"/>
            <a:ext cx="11247120" cy="228600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The fix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std_scale_j = √( (νⱼ − 2) / νⱼ 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z_std = t.ppf(U, df=ν) × std_scale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Verification:  Var(z_std) = [ν/(ν−2)] × [(ν−2)/ν] = 1   ✓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r_sim = μ + σ_forecast × z_std    →  Var(r_sim) = σ²_forecast   ✓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Applied element-wise across all 6 factors with their own νⱼ.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97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This correction is NOT applied in the t-Copula model (mc_t_copula.py uses direct scipy t.ppf with loc/scale parameters).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Only the GARCH model needs it because it constructs z_std explicitly and multiplies by σ_forecast separately.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E5   GARCH-t-Copula MC — Backtest Result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N = 69 breaches  |  Expected ≈ 40  |  Kupiec REJECTED  |  Independence: RETAINED</a:t>
            </a:r>
          </a:p>
        </p:txBody>
      </p:sp>
      <p:pic>
        <p:nvPicPr>
          <p:cNvPr id="3" name="Picture 2" descr="11_exceptions_timeline_MC-GARCH-t-Cop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7772400" cy="2661616"/>
          </a:xfrm>
          <a:prstGeom prst="rect">
            <a:avLst/>
          </a:prstGeom>
        </p:spPr>
      </p:pic>
      <p:pic>
        <p:nvPicPr>
          <p:cNvPr id="4" name="Picture 3" descr="13_transition_matrix_MC-GARCH-t-Cop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005840"/>
            <a:ext cx="3566160" cy="2954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035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Calibri"/>
              </a:rPr>
              <a:t>69 breaches — a 72% reduction from Gaussian (248). All 10 worst days are in 2022 (rate-hike regime).</a:t>
            </a:r>
          </a:p>
          <a:p>
            <a:pPr algn="l"/>
            <a:r>
              <a:rPr sz="1100" b="0">
                <a:solidFill>
                  <a:srgbClr val="444444"/>
                </a:solidFill>
                <a:latin typeface="Calibri"/>
              </a:rPr>
              <a:t>Independence test RETAINED: breaches are not clustered, meaning the model tracks vol regimes correctly.</a:t>
            </a:r>
          </a:p>
          <a:p>
            <a:pPr algn="l"/>
            <a:r>
              <a:rPr sz="1100" b="0">
                <a:solidFill>
                  <a:srgbClr val="444444"/>
                </a:solidFill>
                <a:latin typeface="Calibri"/>
              </a:rPr>
              <a:t>Kupiec still rejected because 2022 was a structural regime break the rolling-window model could not anticipate.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E6   GARCH Parameter Stability Over Time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How ω, α, β, ν evolve across the 15-year backtest window</a:t>
            </a:r>
          </a:p>
        </p:txBody>
      </p:sp>
      <p:pic>
        <p:nvPicPr>
          <p:cNvPr id="3" name="Picture 2" descr="validate_mc_garch_t_copula_07_garch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7144914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E7   Copula Tail Dependence — Model vs Empirical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Simulated joint tail frequencies vs actual co-crash rates in historical data</a:t>
            </a:r>
          </a:p>
        </p:txBody>
      </p:sp>
      <p:pic>
        <p:nvPicPr>
          <p:cNvPr id="3" name="Picture 2" descr="validate_mc_garch_t_copula_05_copula_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649544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E8   GARCH Residual Q-Q Plots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Standardised residuals should lie on the t(ν) theoretical line if GARCH is correctly specified</a:t>
            </a:r>
          </a:p>
        </p:txBody>
      </p:sp>
      <p:pic>
        <p:nvPicPr>
          <p:cNvPr id="3" name="Picture 2" descr="validate_mc_garch_t_copula_02_garch_q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86780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E9   Component P&amp;L Breakdown — Simulated vs Actual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Linear, IRS, and straddle contributions to total P&amp;L across the backtest period</a:t>
            </a:r>
          </a:p>
        </p:txBody>
      </p:sp>
      <p:pic>
        <p:nvPicPr>
          <p:cNvPr id="3" name="Picture 2" descr="validate_mc_garch_t_copula_09_component_pn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7720364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E10   Top 10 Loss Days — 2022 Regime Break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All 10 worst portfolio days occurred in 2022 — the Fed rate-hiking 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51560"/>
            <a:ext cx="502920" cy="443484"/>
          </a:xfrm>
          <a:prstGeom prst="rect">
            <a:avLst/>
          </a:prstGeom>
          <a:solidFill>
            <a:srgbClr val="1A2B4A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Rank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1188720" cy="443484"/>
          </a:xfrm>
          <a:prstGeom prst="rect">
            <a:avLst/>
          </a:prstGeom>
          <a:solidFill>
            <a:srgbClr val="1A2B4A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7400" y="1051560"/>
            <a:ext cx="1554480" cy="443484"/>
          </a:xfrm>
          <a:prstGeom prst="rect">
            <a:avLst/>
          </a:prstGeom>
          <a:solidFill>
            <a:srgbClr val="1A2B4A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Total P&amp;L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051560"/>
            <a:ext cx="1645920" cy="443484"/>
          </a:xfrm>
          <a:prstGeom prst="rect">
            <a:avLst/>
          </a:prstGeom>
          <a:solidFill>
            <a:srgbClr val="1A2B4A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Linear P&amp;L</a:t>
            </a:r>
          </a:p>
        </p:txBody>
      </p:sp>
      <p:sp>
        <p:nvSpPr>
          <p:cNvPr id="7" name="Rectangle 6"/>
          <p:cNvSpPr/>
          <p:nvPr/>
        </p:nvSpPr>
        <p:spPr>
          <a:xfrm>
            <a:off x="5349240" y="1051560"/>
            <a:ext cx="1371600" cy="443484"/>
          </a:xfrm>
          <a:prstGeom prst="rect">
            <a:avLst/>
          </a:prstGeom>
          <a:solidFill>
            <a:srgbClr val="1A2B4A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IRS P&amp;L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051560"/>
            <a:ext cx="1645920" cy="443484"/>
          </a:xfrm>
          <a:prstGeom prst="rect">
            <a:avLst/>
          </a:prstGeom>
          <a:solidFill>
            <a:srgbClr val="1A2B4A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Straddle P&amp;L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95044"/>
            <a:ext cx="502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495044"/>
            <a:ext cx="11887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2022-09-13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1495044"/>
            <a:ext cx="155448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C02020"/>
                </a:solidFill>
                <a:latin typeface="Calibri"/>
              </a:rPr>
              <a:t>−$69,012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495044"/>
            <a:ext cx="1645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C02020"/>
                </a:solidFill>
                <a:latin typeface="Calibri"/>
              </a:rPr>
              <a:t>−$87,874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1495044"/>
            <a:ext cx="137160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1A7A3C"/>
                </a:solidFill>
                <a:latin typeface="Calibri"/>
              </a:rPr>
              <a:t>+$3,637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495044"/>
            <a:ext cx="1645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1A7A3C"/>
                </a:solidFill>
                <a:latin typeface="Calibri"/>
              </a:rPr>
              <a:t>+$15,225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938528"/>
            <a:ext cx="502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1938528"/>
            <a:ext cx="11887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2022-06-13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400" y="1938528"/>
            <a:ext cx="155448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C02020"/>
                </a:solidFill>
                <a:latin typeface="Calibri"/>
              </a:rPr>
              <a:t>−$66,402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1938528"/>
            <a:ext cx="1645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C02020"/>
                </a:solidFill>
                <a:latin typeface="Calibri"/>
              </a:rPr>
              <a:t>−$103,156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49240" y="1938528"/>
            <a:ext cx="137160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1A7A3C"/>
                </a:solidFill>
                <a:latin typeface="Calibri"/>
              </a:rPr>
              <a:t>+$20,135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1938528"/>
            <a:ext cx="1645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1A7A3C"/>
                </a:solidFill>
                <a:latin typeface="Calibri"/>
              </a:rPr>
              <a:t>+$16,618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382012"/>
            <a:ext cx="502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2382012"/>
            <a:ext cx="11887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2022-05-09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2382012"/>
            <a:ext cx="155448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C02020"/>
                </a:solidFill>
                <a:latin typeface="Calibri"/>
              </a:rPr>
              <a:t>−$60,256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2382012"/>
            <a:ext cx="1645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C02020"/>
                </a:solidFill>
                <a:latin typeface="Calibri"/>
              </a:rPr>
              <a:t>−$66,143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49240" y="2382012"/>
            <a:ext cx="137160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C02020"/>
                </a:solidFill>
                <a:latin typeface="Calibri"/>
              </a:rPr>
              <a:t>−$5,123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382012"/>
            <a:ext cx="1645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1A7A3C"/>
                </a:solidFill>
                <a:latin typeface="Calibri"/>
              </a:rPr>
              <a:t>+$11,010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825496"/>
            <a:ext cx="502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2825496"/>
            <a:ext cx="11887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2022-08-26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57400" y="2825496"/>
            <a:ext cx="155448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C02020"/>
                </a:solidFill>
                <a:latin typeface="Calibri"/>
              </a:rPr>
              <a:t>−$56,744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2825496"/>
            <a:ext cx="1645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C02020"/>
                </a:solidFill>
                <a:latin typeface="Calibri"/>
              </a:rPr>
              <a:t>−$70,179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49240" y="2825496"/>
            <a:ext cx="137160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1A7A3C"/>
                </a:solidFill>
                <a:latin typeface="Calibri"/>
              </a:rPr>
              <a:t>+$729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2825496"/>
            <a:ext cx="1645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1A7A3C"/>
                </a:solidFill>
                <a:latin typeface="Calibri"/>
              </a:rPr>
              <a:t>+$12,706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268980"/>
            <a:ext cx="502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3268980"/>
            <a:ext cx="11887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2022-10-07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7400" y="3268980"/>
            <a:ext cx="155448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C02020"/>
                </a:solidFill>
                <a:latin typeface="Calibri"/>
              </a:rPr>
              <a:t>−$55,510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0" y="3268980"/>
            <a:ext cx="1645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C02020"/>
                </a:solidFill>
                <a:latin typeface="Calibri"/>
              </a:rPr>
              <a:t>−$63,349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49240" y="3268980"/>
            <a:ext cx="137160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1A7A3C"/>
                </a:solidFill>
                <a:latin typeface="Calibri"/>
              </a:rPr>
              <a:t>+$4,362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3268980"/>
            <a:ext cx="1645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1A7A3C"/>
                </a:solidFill>
                <a:latin typeface="Calibri"/>
              </a:rPr>
              <a:t>+$3,477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712464"/>
            <a:ext cx="502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3712464"/>
            <a:ext cx="11887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2022-12-15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57400" y="3712464"/>
            <a:ext cx="155448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C02020"/>
                </a:solidFill>
                <a:latin typeface="Calibri"/>
              </a:rPr>
              <a:t>−$55,502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3712464"/>
            <a:ext cx="1645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C02020"/>
                </a:solidFill>
                <a:latin typeface="Calibri"/>
              </a:rPr>
              <a:t>−$57,049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49240" y="3712464"/>
            <a:ext cx="137160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C02020"/>
                </a:solidFill>
                <a:latin typeface="Calibri"/>
              </a:rPr>
              <a:t>−$3,655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3712464"/>
            <a:ext cx="1645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1A7A3C"/>
                </a:solidFill>
                <a:latin typeface="Calibri"/>
              </a:rPr>
              <a:t>+$5,202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155948"/>
            <a:ext cx="502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" y="4155948"/>
            <a:ext cx="11887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2022-05-18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57400" y="4155948"/>
            <a:ext cx="155448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C02020"/>
                </a:solidFill>
                <a:latin typeface="Calibri"/>
              </a:rPr>
              <a:t>−$51,364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0" y="4155948"/>
            <a:ext cx="1645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C02020"/>
                </a:solidFill>
                <a:latin typeface="Calibri"/>
              </a:rPr>
              <a:t>−$60,645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49240" y="4155948"/>
            <a:ext cx="137160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C02020"/>
                </a:solidFill>
                <a:latin typeface="Calibri"/>
              </a:rPr>
              <a:t>−$6,593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66560" y="4155948"/>
            <a:ext cx="1645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1A7A3C"/>
                </a:solidFill>
                <a:latin typeface="Calibri"/>
              </a:rPr>
              <a:t>+$15,873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599432"/>
            <a:ext cx="502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" y="4599432"/>
            <a:ext cx="11887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2022-04-29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57400" y="4599432"/>
            <a:ext cx="155448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C02020"/>
                </a:solidFill>
                <a:latin typeface="Calibri"/>
              </a:rPr>
              <a:t>−$50,765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0" y="4599432"/>
            <a:ext cx="1645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C02020"/>
                </a:solidFill>
                <a:latin typeface="Calibri"/>
              </a:rPr>
              <a:t>−$64,664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49240" y="4599432"/>
            <a:ext cx="137160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1A7A3C"/>
                </a:solidFill>
                <a:latin typeface="Calibri"/>
              </a:rPr>
              <a:t>+$2,911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66560" y="4599432"/>
            <a:ext cx="1645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1A7A3C"/>
                </a:solidFill>
                <a:latin typeface="Calibri"/>
              </a:rPr>
              <a:t>+$10,987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5042916"/>
            <a:ext cx="502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60" y="5042916"/>
            <a:ext cx="11887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2022-10-14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57400" y="5042916"/>
            <a:ext cx="155448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C02020"/>
                </a:solidFill>
                <a:latin typeface="Calibri"/>
              </a:rPr>
              <a:t>−$50,323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0" y="5042916"/>
            <a:ext cx="1645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C02020"/>
                </a:solidFill>
                <a:latin typeface="Calibri"/>
              </a:rPr>
              <a:t>−$53,286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49240" y="5042916"/>
            <a:ext cx="137160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1A7A3C"/>
                </a:solidFill>
                <a:latin typeface="Calibri"/>
              </a:rPr>
              <a:t>+$2,184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66560" y="5042916"/>
            <a:ext cx="1645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1A7A3C"/>
                </a:solidFill>
                <a:latin typeface="Calibri"/>
              </a:rPr>
              <a:t>+$779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5486400"/>
            <a:ext cx="502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2960" y="5486400"/>
            <a:ext cx="11887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2022-11-02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5486400"/>
            <a:ext cx="155448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C02020"/>
                </a:solidFill>
                <a:latin typeface="Calibri"/>
              </a:rPr>
              <a:t>−$46,773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0" y="5486400"/>
            <a:ext cx="1645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C02020"/>
                </a:solidFill>
                <a:latin typeface="Calibri"/>
              </a:rPr>
              <a:t>−$50,319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49240" y="5486400"/>
            <a:ext cx="137160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1A7A3C"/>
                </a:solidFill>
                <a:latin typeface="Calibri"/>
              </a:rPr>
              <a:t>+$2,184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66560" y="5486400"/>
            <a:ext cx="1645920" cy="44348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73152"/>
          <a:lstStyle/>
          <a:p>
            <a:pPr algn="ctr"/>
            <a:r>
              <a:rPr sz="1100" b="0">
                <a:solidFill>
                  <a:srgbClr val="1A7A3C"/>
                </a:solidFill>
                <a:latin typeface="Calibri"/>
              </a:rPr>
              <a:t>+$1,362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4320" y="5989320"/>
            <a:ext cx="8321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Calibri"/>
              </a:rPr>
              <a:t>Key insight: linear equity positions drove the losses (stocks + bonds falling together).</a:t>
            </a:r>
          </a:p>
          <a:p>
            <a:pPr algn="l"/>
            <a:r>
              <a:rPr sz="1000" b="0">
                <a:solidFill>
                  <a:srgbClr val="444444"/>
                </a:solidFill>
                <a:latin typeface="Calibri"/>
              </a:rPr>
              <a:t>The straddle partially hedged through vol spikes but could not offset the scale of equity drawdowns.</a:t>
            </a:r>
          </a:p>
          <a:p>
            <a:pPr algn="l"/>
            <a:r>
              <a:rPr sz="1000" b="0">
                <a:solidFill>
                  <a:srgbClr val="444444"/>
                </a:solidFill>
                <a:latin typeface="Calibri"/>
              </a:rPr>
              <a:t>The IRS was a mixed hedge: rising rates hurt the fixed-payer position on some days but not others.</a:t>
            </a:r>
          </a:p>
        </p:txBody>
      </p:sp>
      <p:pic>
        <p:nvPicPr>
          <p:cNvPr id="70" name="Picture 69" descr="validate_mc_garch_t_copula_10_stress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051560"/>
            <a:ext cx="3200400" cy="114037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F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F.  Instrument Pricing</a:t>
            </a:r>
          </a:p>
          <a:p>
            <a:pPr algn="l"/>
            <a:r>
              <a:rPr sz="1600">
                <a:solidFill>
                  <a:srgbClr val="CCDDFF"/>
                </a:solidFill>
                <a:latin typeface="Calibri"/>
              </a:rPr>
              <a:t>Black-Scholes straddle  ·  IRS discrete annuity  ·  Consistency across models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F1   Black-Scholes ATM Straddle Pricing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Full revaluation per scenario: straddle = call + put at the same strike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5486400" cy="256032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Black-Scholes Call &amp; Put Formulas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d₁ = [ ln(S/K) + (r + σ²/2)·T ] / (σ√T)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d₂ = d₁ − σ√T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Call  =  S·N(d₁)  −  K·e^{−rT}·N(d₂)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Put   =  K·e^{−rT}·N(−d₂)  −  S·N(−d₁)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Straddle  =  Call + 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51560"/>
            <a:ext cx="5486400" cy="256032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Variables in simulation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S      = S_now · exp(r_SPY)       (simulated next-day SPY price)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σ      = σ_now · exp(r_VIX)       (simulated next-day implied vol)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r      = r_now + Δr_DGS10         (simulated next-day yield)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K      = strike (ATM at last 30-day reset)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T      = T_now − 1/252             (one trading day of time decay)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P&amp;L_straddle = [Straddle(S_sim,K,T_next,r_sim,σ_sim)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              − Straddle(S_now,K,T_now,r_now,σ_now)] × shares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749039"/>
            <a:ext cx="11247120" cy="219456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Straddle Greeks (why it profits from crises)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Vega  = ∂(Straddle)/∂σ = S·√T·φ(d₁) &gt; 0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 → gains value when implied volatility spikes (VIX surge in a crash)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Delta = ∂(Straddle)/∂S = N(d₁) − N(−d₁)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 → near zero ATM; small directional exposure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Theta = time decay &lt; 0  (costs money every day without a large move)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Net effect in a crisis:  large Vega gains &gt;&gt; Theta cost + small Delta loss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Net effect in calm markets:  Theta bleeds value slowly each day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F2   Interest Rate Swap — Discrete Annuity Pricing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Fixed payer: receives floating (LIBOR/OIS), pays fixed 3%  |  Notional $1M, 10-year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256032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Correct Formula: Discrete Annuity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V_IRS(r_float) = Notional × (r_float − r_fixed) × Σₖ₌₁ᴺ  1/(1 + r_float)ᵏ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For annual payments, N = maturity (years):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Annuity factor A(r, N) = Σₖ₌₁ᴺ  1/(1+r)ᵏ  =  [1 − (1+r)^{−N}] / r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V_IRS = Notional × (r_float − r_fixed) × A(r_float, N)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Positive when r_float &gt; r_fixed (rising rates benefit fixed payer).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749039"/>
            <a:ext cx="11247120" cy="192024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Simplified Formula (INCORRECT — used in earlier models)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V_IRS_simplified = Notional × (r_float − r_fixed) × N / (1 + r_float)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This applies a single discount factor to the entire undiscounted stream.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At r=4%, N=10:  A_correct ≈ 8.11   vs   N/(1+r) ≈ 9.62   →  ~18% overestimate.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Fixed in all three MC models: now all use portfolio_pricing.price_irs (discrete annuity).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06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IRS P&amp;L per scenario:  P&amp;L_IRS = V_IRS(rate_sim) − V_IRS(rate_now)</a:t>
            </a:r>
          </a:p>
          <a:p>
            <a:pPr algn="l"/>
            <a:r>
              <a:rPr sz="1100" b="0">
                <a:solidFill>
                  <a:srgbClr val="1A2B4A"/>
                </a:solidFill>
                <a:latin typeface="Calibri"/>
              </a:rPr>
              <a:t>where rate_sim = rate_now + Δr_DGS10_sim  (absolute yield change from simulation)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F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G.  Model Comparison &amp; Regime Break</a:t>
            </a:r>
          </a:p>
          <a:p>
            <a:pPr algn="l"/>
            <a:r>
              <a:rPr sz="1600">
                <a:solidFill>
                  <a:srgbClr val="CCDDFF"/>
                </a:solidFill>
                <a:latin typeface="Calibri"/>
              </a:rPr>
              <a:t>What improved and what didn't — and why the fixes backfired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G1   Model Comparison Summary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Three models, same portfolio, same 4,019-day backtest, same α=99%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51560"/>
            <a:ext cx="2011680" cy="512064"/>
          </a:xfrm>
          <a:prstGeom prst="rect">
            <a:avLst/>
          </a:prstGeom>
          <a:solidFill>
            <a:srgbClr val="1A2B4A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331720" y="1051560"/>
            <a:ext cx="1188720" cy="512064"/>
          </a:xfrm>
          <a:prstGeom prst="rect">
            <a:avLst/>
          </a:prstGeom>
          <a:solidFill>
            <a:srgbClr val="1A2B4A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Breaches N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051560"/>
            <a:ext cx="1005840" cy="512064"/>
          </a:xfrm>
          <a:prstGeom prst="rect">
            <a:avLst/>
          </a:prstGeom>
          <a:solidFill>
            <a:srgbClr val="1A2B4A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617720" y="1051560"/>
            <a:ext cx="1188720" cy="512064"/>
          </a:xfrm>
          <a:prstGeom prst="rect">
            <a:avLst/>
          </a:prstGeom>
          <a:solidFill>
            <a:srgbClr val="1A2B4A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Kupiec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1051560"/>
            <a:ext cx="1371600" cy="512064"/>
          </a:xfrm>
          <a:prstGeom prst="rect">
            <a:avLst/>
          </a:prstGeom>
          <a:solidFill>
            <a:srgbClr val="1A2B4A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Independence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269480" y="1051560"/>
            <a:ext cx="4937760" cy="512064"/>
          </a:xfrm>
          <a:prstGeom prst="rect">
            <a:avLst/>
          </a:prstGeom>
          <a:solidFill>
            <a:srgbClr val="1A2B4A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Key feature added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63624"/>
            <a:ext cx="20116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Gaussian MC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563624"/>
            <a:ext cx="11887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248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563624"/>
            <a:ext cx="1005840" cy="512064"/>
          </a:xfrm>
          <a:prstGeom prst="rect">
            <a:avLst/>
          </a:prstGeom>
          <a:solidFill>
            <a:srgbClr val="FFFF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≈ 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563624"/>
            <a:ext cx="1188720" cy="51206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0">
                <a:solidFill>
                  <a:srgbClr val="C02020"/>
                </a:solidFill>
                <a:latin typeface="Calibri"/>
              </a:rPr>
              <a:t>REJECTED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563624"/>
            <a:ext cx="13716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0">
                <a:solidFill>
                  <a:srgbClr val="C02020"/>
                </a:solidFill>
                <a:latin typeface="Calibri"/>
              </a:rPr>
              <a:t>REJECTED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1563624"/>
            <a:ext cx="49377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Cholesky of rolling Σ, normal draws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075688"/>
            <a:ext cx="2011680" cy="512064"/>
          </a:xfrm>
          <a:prstGeom prst="rect">
            <a:avLst/>
          </a:prstGeom>
          <a:solidFill>
            <a:srgbClr val="F5F5F5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t-Copula MC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2075688"/>
            <a:ext cx="1188720" cy="512064"/>
          </a:xfrm>
          <a:prstGeom prst="rect">
            <a:avLst/>
          </a:prstGeom>
          <a:solidFill>
            <a:srgbClr val="F5F5F5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 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2075688"/>
            <a:ext cx="1005840" cy="512064"/>
          </a:xfrm>
          <a:prstGeom prst="rect">
            <a:avLst/>
          </a:prstGeom>
          <a:solidFill>
            <a:srgbClr val="F5F5F5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≈ 40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2075688"/>
            <a:ext cx="1188720" cy="51206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0">
                <a:solidFill>
                  <a:srgbClr val="C02020"/>
                </a:solidFill>
                <a:latin typeface="Calibri"/>
              </a:rPr>
              <a:t>REJECTED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2075688"/>
            <a:ext cx="1371600" cy="512064"/>
          </a:xfrm>
          <a:prstGeom prst="rect">
            <a:avLst/>
          </a:prstGeom>
          <a:solidFill>
            <a:srgbClr val="F5F5F5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0">
                <a:solidFill>
                  <a:srgbClr val="C02020"/>
                </a:solidFill>
                <a:latin typeface="Calibri"/>
              </a:rPr>
              <a:t>REJECTED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2075688"/>
            <a:ext cx="4937760" cy="512064"/>
          </a:xfrm>
          <a:prstGeom prst="rect">
            <a:avLst/>
          </a:prstGeom>
          <a:solidFill>
            <a:srgbClr val="F5F5F5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+ fat-tailed marginals + tail dependence copula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587752"/>
            <a:ext cx="20116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GARCH-t-Copula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2587752"/>
            <a:ext cx="11887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 69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2587752"/>
            <a:ext cx="1005840" cy="512064"/>
          </a:xfrm>
          <a:prstGeom prst="rect">
            <a:avLst/>
          </a:prstGeom>
          <a:solidFill>
            <a:srgbClr val="FFFF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≈ 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2587752"/>
            <a:ext cx="1188720" cy="512064"/>
          </a:xfrm>
          <a:prstGeom prst="rect">
            <a:avLst/>
          </a:prstGeom>
          <a:solidFill>
            <a:srgbClr val="FFEEEE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0">
                <a:solidFill>
                  <a:srgbClr val="C02020"/>
                </a:solidFill>
                <a:latin typeface="Calibri"/>
              </a:rPr>
              <a:t>REJECTED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2587752"/>
            <a:ext cx="1371600" cy="512064"/>
          </a:xfrm>
          <a:prstGeom prst="rect">
            <a:avLst/>
          </a:prstGeom>
          <a:solidFill>
            <a:srgbClr val="DDFFDD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0">
                <a:solidFill>
                  <a:srgbClr val="1A7A3C"/>
                </a:solidFill>
                <a:latin typeface="Calibri"/>
              </a:rPr>
              <a:t>RETAINED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80" y="2587752"/>
            <a:ext cx="49377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+ GARCH vol memory + EWMA dynamic correlation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099816"/>
            <a:ext cx="2011680" cy="512064"/>
          </a:xfrm>
          <a:prstGeom prst="rect">
            <a:avLst/>
          </a:prstGeom>
          <a:solidFill>
            <a:srgbClr val="DDEE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1">
                <a:solidFill>
                  <a:srgbClr val="444444"/>
                </a:solidFill>
                <a:latin typeface="Calibri"/>
              </a:rPr>
              <a:t>Critical value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31720" y="3099816"/>
            <a:ext cx="1188720" cy="512064"/>
          </a:xfrm>
          <a:prstGeom prst="rect">
            <a:avLst/>
          </a:prstGeom>
          <a:solidFill>
            <a:srgbClr val="DDEE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1">
                <a:solidFill>
                  <a:srgbClr val="444444"/>
                </a:solidFill>
                <a:latin typeface="Calibri"/>
              </a:rPr>
              <a:t>≈ 54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3099816"/>
            <a:ext cx="1005840" cy="512064"/>
          </a:xfrm>
          <a:prstGeom prst="rect">
            <a:avLst/>
          </a:prstGeom>
          <a:solidFill>
            <a:srgbClr val="DDEE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1">
                <a:solidFill>
                  <a:srgbClr val="444444"/>
                </a:solidFill>
                <a:latin typeface="Calibri"/>
              </a:rPr>
              <a:t>≈ 40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720" y="3099816"/>
            <a:ext cx="1188720" cy="512064"/>
          </a:xfrm>
          <a:prstGeom prst="rect">
            <a:avLst/>
          </a:prstGeom>
          <a:solidFill>
            <a:srgbClr val="DDEE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1">
                <a:solidFill>
                  <a:srgbClr val="444444"/>
                </a:solidFill>
                <a:latin typeface="Calibri"/>
              </a:rPr>
              <a:t>3.84 (χ²)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3099816"/>
            <a:ext cx="1371600" cy="512064"/>
          </a:xfrm>
          <a:prstGeom prst="rect">
            <a:avLst/>
          </a:prstGeom>
          <a:solidFill>
            <a:srgbClr val="DDEE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1">
                <a:solidFill>
                  <a:srgbClr val="444444"/>
                </a:solidFill>
                <a:latin typeface="Calibri"/>
              </a:rPr>
              <a:t>3.84 (χ²)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9480" y="3099816"/>
            <a:ext cx="4937760" cy="512064"/>
          </a:xfrm>
          <a:prstGeom prst="rect">
            <a:avLst/>
          </a:prstGeom>
          <a:solidFill>
            <a:srgbClr val="DDEEFF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91440"/>
          <a:lstStyle/>
          <a:p>
            <a:pPr algn="l"/>
            <a:r>
              <a:rPr sz="1150" b="1">
                <a:solidFill>
                  <a:srgbClr val="444444"/>
                </a:solidFill>
                <a:latin typeface="Calibri"/>
              </a:rPr>
              <a:t>Kupiec 95% threshold for T=4,019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3749039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Calibri"/>
              </a:rPr>
              <a:t>GARCH is the only model with a passing independence test — it correctly tracks when the market is calm vs volatile.</a:t>
            </a:r>
          </a:p>
          <a:p>
            <a:pPr algn="l"/>
            <a:r>
              <a:rPr sz="1100" b="0">
                <a:solidFill>
                  <a:srgbClr val="444444"/>
                </a:solidFill>
                <a:latin typeface="Calibri"/>
              </a:rPr>
              <a:t>The remaining excess breaches (69 vs ~54 threshold) are concentrated in 2022 and cannot be eliminated by parameter tuning.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617720"/>
            <a:ext cx="11430000" cy="155448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Why the attempted fixes (ν-cap + skewed-t for VIX) made things WORSE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GARCH residuals → pseudo-observations → copula fit → joint simulation → straddle P&amp;L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Changing VIX distribution → reshuffles pseudo-obs → changes copula → more extreme upward VIX scenarios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More extreme VIX → long straddle makes more money in simulation → VaR goes DOWN → more real breaches.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The model had compensating effects around its own misspecifications.  N went 69 → 72.  Changes reverted.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G2   2022 Regime Break — Stocks and Bonds Fall Together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The root cause of residual Kupiec failure: a structural correlation regime shift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01752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Historical SPY–IEF correlation by regime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2009–2014  (post-GFC, ZIRP)  :  ρ(SPY, IEF) ≈ −0.40  to  −0.45   (bonds hedge stocks)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2015–2019  (normalisation)   :  ρ(SPY, IEF) ≈ −0.35  to  −0.40   (still negative)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2020–2021  (COVID / ZIRP 2)  :  ρ(SPY, IEF) ≈ −0.45               (flight-to-safety intact)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2022–2023  (rate-hike cycle) :  ρ(SPY, IEF) ≈ +0.10  to  +0.30   (BREAK: positive correlation!)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2024       (late cycle)      :  ρ(SPY, IEF) ≈ +0.12               (still elevated)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The Fed raised rates from 0.25% to 5.50% in 18 months — fastest hiking cycle since the 1980s.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Rising rates → bond prices fall (IEF down) AND equity valuations fall (SPY down) simultaneously.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The model, trained on 750 days of mostly-negative SPY-IEF correlation, treated IEF as a hedge.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206240"/>
            <a:ext cx="11247120" cy="2103120"/>
          </a:xfrm>
          <a:prstGeom prst="rect">
            <a:avLst/>
          </a:prstGeom>
          <a:solidFill>
            <a:srgbClr val="E8ECF4"/>
          </a:solidFill>
          <a:ln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Why no rolling-window model could have anticipated this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The regime break in correlation happened suddenly in early 2022.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A 750-day rolling window in late 2021 still showed ρ ≈ −0.40.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As 2022 data flowed in, the EWMA gradually updated R_dynamic — but by then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the damage to the backtest score had already accumulated.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Resolution:  Stressed VaR overlay (Basel 2.5) — take the maximum of: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  (a) rolling VaR (current regime),  (b) VaR from a fixed 2022 stress window.</a:t>
            </a:r>
          </a:p>
          <a:p>
            <a:pPr algn="l"/>
            <a:r>
              <a:rPr sz="1200">
                <a:solidFill>
                  <a:srgbClr val="111155"/>
                </a:solidFill>
                <a:latin typeface="Consolas"/>
              </a:rPr>
              <a:t>This does not eliminate the break but ensures the model is never less than the stress-period VaR.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F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H.  Additional Diagnostic Charts</a:t>
            </a:r>
          </a:p>
          <a:p>
            <a:pPr algn="l"/>
            <a:r>
              <a:rPr sz="1600">
                <a:solidFill>
                  <a:srgbClr val="CCDDFF"/>
                </a:solidFill>
                <a:latin typeface="Calibri"/>
              </a:rPr>
              <a:t>GARCH ACF  ·  Sign bias  ·  P&amp;L distribution  ·  Correlation matrix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H1   GARCH ACF — Squared Residuals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No remaining autocorrelation in squared residuals confirms GARCH correctly captures volatility clustering</a:t>
            </a:r>
          </a:p>
        </p:txBody>
      </p:sp>
      <p:pic>
        <p:nvPicPr>
          <p:cNvPr id="3" name="Picture 2" descr="validate_mc_garch_t_copula_03_garch_acf_s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882770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H2   Sign Bias Test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Tests whether positive vs negative shocks have asymmetric impact on volatility</a:t>
            </a:r>
          </a:p>
        </p:txBody>
      </p:sp>
      <p:pic>
        <p:nvPicPr>
          <p:cNvPr id="3" name="Picture 2" descr="validate_mc_garch_t_copula_08_sign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9510609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H3   Simulated P&amp;L Distribution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Left tail of the 10,000-scenario P&amp;L distribution — the VaR is the 1st percentile</a:t>
            </a:r>
          </a:p>
        </p:txBody>
      </p:sp>
      <p:pic>
        <p:nvPicPr>
          <p:cNvPr id="3" name="Picture 2" descr="validate_mc_garch_t_copula_01_pn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20233359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H4   Empirical Correlation Matrix</a:t>
            </a:r>
          </a:p>
          <a:p>
            <a:pPr algn="l"/>
            <a:r>
              <a:rPr sz="1200">
                <a:solidFill>
                  <a:srgbClr val="CCDDFF"/>
                </a:solidFill>
                <a:latin typeface="Calibri"/>
              </a:rPr>
              <a:t>Rolling-average pairwise correlations across the 6 risk factors</a:t>
            </a:r>
          </a:p>
        </p:txBody>
      </p:sp>
      <p:pic>
        <p:nvPicPr>
          <p:cNvPr id="3" name="Picture 2" descr="08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6294120" cy="5394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